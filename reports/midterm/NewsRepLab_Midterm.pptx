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85067aa292e43f7" /><Relationship Type="http://schemas.openxmlformats.org/officeDocument/2006/relationships/extended-properties" Target="/docProps/app.xml" Id="Rfe0a552937fe4d8d" /><Relationship Type="http://schemas.openxmlformats.org/officeDocument/2006/relationships/officeDocument" Target="/ppt/presentation.xml" Id="Rea386688e6544d95" /></Relationships>
</file>

<file path=ppt/presentation.xml><?xml version="1.0" encoding="utf-8"?>
<p:presentation xmlns:p="http://schemas.openxmlformats.org/presentationml/2006/main">
  <p:sldMasterIdLst>
    <p:sldMasterId xmlns:r="http://schemas.openxmlformats.org/officeDocument/2006/relationships" id="2147483648" r:id="Ra5be6d2d190242fd"/>
  </p:sldMasterIdLst>
  <p:notesMasterIdLst>
    <p:notesMasterId xmlns:r="http://schemas.openxmlformats.org/officeDocument/2006/relationships" r:id="R009a3a0c96b8442b"/>
  </p:notesMasterIdLst>
  <p:sldIdLst>
    <p:sldId xmlns:r="http://schemas.openxmlformats.org/officeDocument/2006/relationships" id="256" r:id="Rd539be346bc14f0d"/>
    <p:sldId xmlns:r="http://schemas.openxmlformats.org/officeDocument/2006/relationships" id="257" r:id="R1203bb736dd44817"/>
    <p:sldId xmlns:r="http://schemas.openxmlformats.org/officeDocument/2006/relationships" id="258" r:id="R9aa57e40730e4ad3"/>
    <p:sldId xmlns:r="http://schemas.openxmlformats.org/officeDocument/2006/relationships" id="259" r:id="R73390f0b57984789"/>
    <p:sldId xmlns:r="http://schemas.openxmlformats.org/officeDocument/2006/relationships" id="260" r:id="R00484eedd5ca4d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1c42e1764c4b9c" /><Relationship Type="http://schemas.openxmlformats.org/officeDocument/2006/relationships/slideMaster" Target="/ppt/slideMasters/slideMaster1.xml" Id="Ra5be6d2d190242fd" /><Relationship Type="http://schemas.openxmlformats.org/officeDocument/2006/relationships/notesMaster" Target="/ppt/notesMasters/notesMaster1.xml" Id="R009a3a0c96b8442b" /><Relationship Type="http://schemas.openxmlformats.org/officeDocument/2006/relationships/presProps" Target="/ppt/presProps.xml" Id="R9cbbd701b6594b2a" /><Relationship Type="http://schemas.openxmlformats.org/officeDocument/2006/relationships/tableStyles" Target="/ppt/tableStyles.xml" Id="Ra4a08de2520843cc" /><Relationship Type="http://schemas.openxmlformats.org/officeDocument/2006/relationships/slide" Target="/ppt/slides/slide1.xml" Id="Rd539be346bc14f0d" /><Relationship Type="http://schemas.openxmlformats.org/officeDocument/2006/relationships/slide" Target="/ppt/slides/slide2.xml" Id="R1203bb736dd44817" /><Relationship Type="http://schemas.openxmlformats.org/officeDocument/2006/relationships/slide" Target="/ppt/slides/slide3.xml" Id="R9aa57e40730e4ad3" /><Relationship Type="http://schemas.openxmlformats.org/officeDocument/2006/relationships/slide" Target="/ppt/slides/slide4.xml" Id="R73390f0b57984789" /><Relationship Type="http://schemas.openxmlformats.org/officeDocument/2006/relationships/slide" Target="/ppt/slides/slide5.xml" Id="R00484eedd5ca4d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8fda8d93a34a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e8b9732f804756" /><Relationship Type="http://schemas.openxmlformats.org/officeDocument/2006/relationships/notesMaster" Target="/ppt/notesMasters/notesMaster1.xml" Id="Ra605933eb25849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c952f22c1a4c22" /><Relationship Type="http://schemas.openxmlformats.org/officeDocument/2006/relationships/notesMaster" Target="/ppt/notesMasters/notesMaster1.xml" Id="R5e3176a7b30343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cce455ee454c57" /><Relationship Type="http://schemas.openxmlformats.org/officeDocument/2006/relationships/notesMaster" Target="/ppt/notesMasters/notesMaster1.xml" Id="R4fd4939a77d447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ce11d4e2544e1c" /><Relationship Type="http://schemas.openxmlformats.org/officeDocument/2006/relationships/notesMaster" Target="/ppt/notesMasters/notesMaster1.xml" Id="Rebbe1a24283c41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08e4ca04224e0a" /><Relationship Type="http://schemas.openxmlformats.org/officeDocument/2006/relationships/notesMaster" Target="/ppt/notesMasters/notesMaster1.xml" Id="R414677c2af694c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 Background and Research Motivation</a:t>
            </a:r>
          </a:p>
          <a:p xmlns:a="http://schemas.openxmlformats.org/drawingml/2006/main">
            <a:r>
              <a:t>**0:00–0:40 · approximately 40 seconds**</a:t>
            </a:r>
          </a:p>
          <a:p xmlns:a="http://schemas.openxmlformats.org/drawingml/2006/main">
            <a:r>
              <a:t/>
            </a:r>
          </a:p>
          <a:p xmlns:a="http://schemas.openxmlformats.org/drawingml/2006/main">
            <a:r>
              <a:t>Hello, we are Group Eight: Zeyu Pan, Jiayu Liao, and Yuhan Sun. Our project is NewsRepLab.</a:t>
            </a:r>
          </a:p>
          <a:p xmlns:a="http://schemas.openxmlformats.org/drawingml/2006/main">
            <a:r>
              <a:t/>
            </a:r>
          </a:p>
          <a:p xmlns:a="http://schemas.openxmlformats.org/drawingml/2006/main">
            <a:r>
              <a:t>We study news classification with limited labeled data. Labeling articles takes human effort, so we ask whether pretrained features can help us learn from fewer examples.</a:t>
            </a:r>
          </a:p>
          <a:p xmlns:a="http://schemas.openxmlformats.org/drawingml/2006/main">
            <a:r>
              <a:t/>
            </a:r>
          </a:p>
          <a:p xmlns:a="http://schemas.openxmlformats.org/drawingml/2006/main">
            <a:r>
              <a:t>We compare TF-IDF, which represents word and phrase usage, with MiniLM embeddings, which use information learned during pretraining. Our focus is the quality of these representations and how efficiently they use task labels.</a:t>
            </a:r>
          </a:p>
          <a:p xmlns:a="http://schemas.openxmlformats.org/drawingml/2006/main">
            <a:r>
              <a:t/>
            </a:r>
          </a:p>
          <a:p xmlns:a="http://schemas.openxmlformats.org/drawingml/2006/main">
            <a:r>
              <a:t>SOURCE / METHOD NOTES (not spoken)</a:t>
            </a:r>
          </a:p>
          <a:p xmlns:a="http://schemas.openxmlformats.org/drawingml/2006/main">
            <a:r>
              <a:t>Group 8: Zeyu Pan, Jiayu Liao, Yuhan Sun. Research objective, not a claim about all news domains.</a:t>
            </a:r>
          </a:p>
          <a:p xmlns:a="http://schemas.openxmlformats.org/drawingml/2006/main">
            <a:r>
              <a:t>AG News benchmark: Zhang, Zhao, and LeCun (2015), Character-level Convolutional Networks for Text Classification, https://arxiv.org/abs/1509.01626</a:t>
            </a:r>
          </a:p>
          <a:p xmlns:a="http://schemas.openxmlformats.org/drawingml/2006/main">
            <a:r>
              <a:t>MiniLM checkpoint attribution: Sentence Transformers, all-MiniLM-L6-v2 model card, https://huggingface.co/sentence-transformers/all-MiniLM-L6-v2 (accessed 2026-10-19).</a:t>
            </a:r>
          </a:p>
          <a:p xmlns:a="http://schemas.openxmlformats.org/drawingml/2006/main">
            <a:r>
              <a:t>pilot: results\pilot\20261019T223707_829532Z</a:t>
            </a:r>
          </a:p>
          <a:p xmlns:a="http://schemas.openxmlformats.org/drawingml/2006/main">
            <a:r>
              <a:t>repeated: results\repeated\20261019T225846_619676Z</a:t>
            </a:r>
          </a:p>
          <a:p xmlns:a="http://schemas.openxmlformats.org/drawingml/2006/main">
            <a:r>
              <a:t>regularization: results\regularization\20261019T232052_926893Z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 Research Question and Problem Setup</a:t>
            </a:r>
          </a:p>
          <a:p xmlns:a="http://schemas.openxmlformats.org/drawingml/2006/main">
            <a:r>
              <a:t>**0:40–1:20 · approximately 40 seconds**</a:t>
            </a:r>
          </a:p>
          <a:p xmlns:a="http://schemas.openxmlformats.org/drawingml/2006/main">
            <a:r>
              <a:t/>
            </a:r>
          </a:p>
          <a:p xmlns:a="http://schemas.openxmlformats.org/drawingml/2006/main">
            <a:r>
              <a:t>Our research question is: with the same limited labels, do frozen MiniLM features improve news classification compared with TF-IDF?</a:t>
            </a:r>
          </a:p>
          <a:p xmlns:a="http://schemas.openxmlformats.org/drawingml/2006/main">
            <a:r>
              <a:t/>
            </a:r>
          </a:p>
          <a:p xmlns:a="http://schemas.openxmlformats.org/drawingml/2006/main">
            <a:r>
              <a:t>We use AG News, with four categories: World, Sports, Business, and Science and Technology. Our training budgets are one hundred and four hundred articles.</a:t>
            </a:r>
          </a:p>
          <a:p xmlns:a="http://schemas.openxmlformats.org/drawingml/2006/main">
            <a:r>
              <a:t/>
            </a:r>
          </a:p>
          <a:p xmlns:a="http://schemas.openxmlformats.org/drawingml/2006/main">
            <a:r>
              <a:t>Both pipelines use multiclass Logistic Regression. This keeps the classifier type consistent while we change the features. We train the classifier's weights and biases, but keep MiniLM frozen. We do not train the Transformer on our task.</a:t>
            </a:r>
          </a:p>
          <a:p xmlns:a="http://schemas.openxmlformats.org/drawingml/2006/main">
            <a:r>
              <a:t/>
            </a:r>
          </a:p>
          <a:p xmlns:a="http://schemas.openxmlformats.org/drawingml/2006/main">
            <a:r>
              <a:t>SOURCE / METHOD NOTES (not spoken)</a:t>
            </a:r>
          </a:p>
          <a:p xmlns:a="http://schemas.openxmlformats.org/drawingml/2006/main">
            <a:r>
              <a:t>AG News has 120,000 original training examples and 7,600 official test examples. No test examples have been used for pilot evaluation or tuning. Both models use cross-entropy with softmax probabilities and L2 regularization. TF-IDF vocabulary and IDF are learned using training text only.</a:t>
            </a:r>
          </a:p>
          <a:p xmlns:a="http://schemas.openxmlformats.org/drawingml/2006/main">
            <a:r>
              <a:t>AG News benchmark: Zhang, Zhao, and LeCun (2015), Character-level Convolutional Networks for Text Classification, https://arxiv.org/abs/1509.01626</a:t>
            </a:r>
          </a:p>
          <a:p xmlns:a="http://schemas.openxmlformats.org/drawingml/2006/main">
            <a:r>
              <a:t>MiniLM checkpoint attribution: Sentence Transformers, all-MiniLM-L6-v2 model card, https://huggingface.co/sentence-transformers/all-MiniLM-L6-v2 (accessed 2026-10-19).</a:t>
            </a:r>
          </a:p>
          <a:p xmlns:a="http://schemas.openxmlformats.org/drawingml/2006/main">
            <a:r>
              <a:t>pilot: results\pilot\20261019T223707_829532Z</a:t>
            </a:r>
          </a:p>
          <a:p xmlns:a="http://schemas.openxmlformats.org/drawingml/2006/main">
            <a:r>
              <a:t>repeated: results\repeated\20261019T225846_619676Z</a:t>
            </a:r>
          </a:p>
          <a:p xmlns:a="http://schemas.openxmlformats.org/drawingml/2006/main">
            <a:r>
              <a:t>regularization: results\regularization\20261019T232052_926893Z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 Methodology and Experimental Design</a:t>
            </a:r>
          </a:p>
          <a:p xmlns:a="http://schemas.openxmlformats.org/drawingml/2006/main">
            <a:r>
              <a:t>**1:20–2:10 · approximately 50 seconds**</a:t>
            </a:r>
          </a:p>
          <a:p xmlns:a="http://schemas.openxmlformats.org/drawingml/2006/main">
            <a:r>
              <a:t/>
            </a:r>
          </a:p>
          <a:p xmlns:a="http://schemas.openxmlformats.org/drawingml/2006/main">
            <a:r>
              <a:t>We completed a pilot, repeated baselines with three sampling seeds, and an exploratory regularization sweep. The counts overlap: the repeated baselines include the pilot, and the sweep reproduces the original baseline setting. These are not independent experiments throughout.</a:t>
            </a:r>
          </a:p>
          <a:p xmlns:a="http://schemas.openxmlformats.org/drawingml/2006/main">
            <a:r>
              <a:t/>
            </a:r>
          </a:p>
          <a:p xmlns:a="http://schemas.openxmlformats.org/drawingml/2006/main">
            <a:r>
              <a:t>Both pipelines use identical examples. Training sets are balanced across classes, and each smaller set is contained in its larger set. We use one fixed validation set of eight hundred articles, separate from training. TF-IDF is fitted only on training text.</a:t>
            </a:r>
          </a:p>
          <a:p xmlns:a="http://schemas.openxmlformats.org/drawingml/2006/main">
            <a:r>
              <a:t/>
            </a:r>
          </a:p>
          <a:p xmlns:a="http://schemas.openxmlformats.org/drawingml/2006/main">
            <a:r>
              <a:t>We measure accuracy and macro-F1. The official test set remains untouched. Different seeds change the training samples, while validation stays fixed.</a:t>
            </a:r>
          </a:p>
          <a:p xmlns:a="http://schemas.openxmlformats.org/drawingml/2006/main">
            <a:r>
              <a:t/>
            </a:r>
          </a:p>
          <a:p xmlns:a="http://schemas.openxmlformats.org/drawingml/2006/main">
            <a:r>
              <a:t>SOURCE / METHOD NOTES (not spoken)</a:t>
            </a:r>
          </a:p>
          <a:p xmlns:a="http://schemas.openxmlformats.org/drawingml/2006/main">
            <a:r>
              <a:t>Sampling seeds change labeled training samples, not the validation set. Validation is 200 examples per class. L-BFGS; max_iter=2000; tol=1e-4; L2; intercept; fixed classifier random_state=42. TF-IDF: lowercase, ngram_range=(1,2), min_df=1, max_features=20000, sublinear_tf=True, norm=l2. MiniLM: normalized embeddings, max_sequence_length=256, frozen CUDA inference and cache reuse. C=1 baseline; same C need not provide equal effective regularization across feature spaces. Round 3 C=1 repeats Round 2 n=400, and Round 2 includes the pilot seed; do not sum counts as independent replications.</a:t>
            </a:r>
          </a:p>
          <a:p xmlns:a="http://schemas.openxmlformats.org/drawingml/2006/main">
            <a:r>
              <a:t>AG News benchmark: Zhang, Zhao, and LeCun (2015), Character-level Convolutional Networks for Text Classification, https://arxiv.org/abs/1509.01626</a:t>
            </a:r>
          </a:p>
          <a:p xmlns:a="http://schemas.openxmlformats.org/drawingml/2006/main">
            <a:r>
              <a:t>MiniLM checkpoint attribution: Sentence Transformers, all-MiniLM-L6-v2 model card, https://huggingface.co/sentence-transformers/all-MiniLM-L6-v2 (accessed 2026-10-19).</a:t>
            </a:r>
          </a:p>
          <a:p xmlns:a="http://schemas.openxmlformats.org/drawingml/2006/main">
            <a:r>
              <a:t>pilot: results\pilot\20261019T223707_829532Z</a:t>
            </a:r>
          </a:p>
          <a:p xmlns:a="http://schemas.openxmlformats.org/drawingml/2006/main">
            <a:r>
              <a:t>repeated: results\repeated\20261019T225846_619676Z</a:t>
            </a:r>
          </a:p>
          <a:p xmlns:a="http://schemas.openxmlformats.org/drawingml/2006/main">
            <a:r>
              <a:t>regularization: results\regularization\20261019T232052_926893Z</a:t>
            </a:r>
          </a:p>
          <a:p xmlns:a="http://schemas.openxmlformats.org/drawingml/2006/main">
            <a:r>
              <a:t>COUNT CLARIFICATION: Round 2 includes the original seed-42 pilot configurations. Round 3 includes C=1 baseline reproduction. Counts 4, 12, 18 must not be described as 34 independent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 Current Progress and Key Findings</a:t>
            </a:r>
          </a:p>
          <a:p xmlns:a="http://schemas.openxmlformats.org/drawingml/2006/main">
            <a:r>
              <a:t>**2:10–3:25 · approximately 75 seconds**</a:t>
            </a:r>
          </a:p>
          <a:p xmlns:a="http://schemas.openxmlformats.org/drawingml/2006/main">
            <a:r>
              <a:t/>
            </a:r>
          </a:p>
          <a:p xmlns:a="http://schemas.openxmlformats.org/drawingml/2006/main">
            <a:r>
              <a:t>[Point to the learning curve.]</a:t>
            </a:r>
          </a:p>
          <a:p xmlns:a="http://schemas.openxmlformats.org/drawingml/2006/main">
            <a:r>
              <a:t/>
            </a:r>
          </a:p>
          <a:p xmlns:a="http://schemas.openxmlformats.org/drawingml/2006/main">
            <a:r>
              <a:t>The chart shows mean validation accuracy across three seeds. At one hundred labels, TF-IDF reaches about sixty-six percent and MiniLM eighty-two percent. At four hundred labels, they reach about seventy-seven and eighty-five percent.</a:t>
            </a:r>
          </a:p>
          <a:p xmlns:a="http://schemas.openxmlformats.org/drawingml/2006/main">
            <a:r>
              <a:t/>
            </a:r>
          </a:p>
          <a:p xmlns:a="http://schemas.openxmlformats.org/drawingml/2006/main">
            <a:r>
              <a:t>MiniLM performs better for every matched seed and budget in these runs. With one hundred labels, MiniLM also exceeds TF-IDF's four-hundred-label mean in these runs. Both improve on average with more labels, but MiniLM's gain is smaller. Scores also vary with the sampled training examples. These observations suggest useful sample efficiency, but two budgets do not prove a plateau.</a:t>
            </a:r>
          </a:p>
          <a:p xmlns:a="http://schemas.openxmlformats.org/drawingml/2006/main">
            <a:r>
              <a:t/>
            </a:r>
          </a:p>
          <a:p xmlns:a="http://schemas.openxmlformats.org/drawingml/2006/main">
            <a:r>
              <a:t>[Point to the regularization table.]</a:t>
            </a:r>
          </a:p>
          <a:p xmlns:a="http://schemas.openxmlformats.org/drawingml/2006/main">
            <a:r>
              <a:t/>
            </a:r>
          </a:p>
          <a:p xmlns:a="http://schemas.openxmlformats.org/drawingml/2006/main">
            <a:r>
              <a:t>The separate sweep changes C, the inverse regularization strength. Increasing C from one to ten slightly improves TF-IDF but lowers MiniLM's mean validation accuracy. This suggests that selecting hyperparameters separately for each representation may be useful. That is an interpretation, not a completed tuning result. These findings remain exploratory and are not statistically conclusive.</a:t>
            </a:r>
          </a:p>
          <a:p xmlns:a="http://schemas.openxmlformats.org/drawingml/2006/main">
            <a:r>
              <a:t/>
            </a:r>
          </a:p>
          <a:p xmlns:a="http://schemas.openxmlformats.org/drawingml/2006/main">
            <a:r>
              <a:t>SOURCE / METHOD NOTES (not spoken)</a:t>
            </a:r>
          </a:p>
          <a:p xmlns:a="http://schemas.openxmlformats.org/drawingml/2006/main">
            <a:r>
              <a:t>Recomputed from individual_results.json; summary.csv matches to numerical precision. Chart data use mean percentages rounded to six decimal places for the embedded Excel workbook; labels use two decimals. Full computed precision is preserved in verified_results.json and source CSVs. SD values are sample standard deviations (ddof=1) across three training seeds, not confidence intervals. Round 2: MiniLM exceeds TF-IDF on accuracy and macro-F1 for all six matched seed/budget pairs. Mean accuracy gains from 100 to 400: TF-IDF 10.50 pp, MiniLM 2.1667 pp. MiniLM gain varies by seed; two budgets do not establish saturation. Round 3: C is inverse regularization strength. C=1 results exactly reproduce Round 2 at n=400; the shared validation set was used repeatedly. No significance test or final model selection is claimed.</a:t>
            </a:r>
          </a:p>
          <a:p xmlns:a="http://schemas.openxmlformats.org/drawingml/2006/main">
            <a:r>
              <a:t>AG News benchmark: Zhang, Zhao, and LeCun (2015), Character-level Convolutional Networks for Text Classification, https://arxiv.org/abs/1509.01626</a:t>
            </a:r>
          </a:p>
          <a:p xmlns:a="http://schemas.openxmlformats.org/drawingml/2006/main">
            <a:r>
              <a:t>MiniLM checkpoint attribution: Sentence Transformers, all-MiniLM-L6-v2 model card, https://huggingface.co/sentence-transformers/all-MiniLM-L6-v2 (accessed 2026-10-19).</a:t>
            </a:r>
          </a:p>
          <a:p xmlns:a="http://schemas.openxmlformats.org/drawingml/2006/main">
            <a:r>
              <a:t>pilot: results\pilot\20261019T223707_829532Z</a:t>
            </a:r>
          </a:p>
          <a:p xmlns:a="http://schemas.openxmlformats.org/drawingml/2006/main">
            <a:r>
              <a:t>repeated: results\repeated\20261019T225846_619676Z</a:t>
            </a:r>
          </a:p>
          <a:p xmlns:a="http://schemas.openxmlformats.org/drawingml/2006/main">
            <a:r>
              <a:t>regularization: results\regularization\20261019T232052_926893Z</a:t>
            </a:r>
          </a:p>
          <a:p xmlns:a="http://schemas.openxmlformats.org/drawingml/2006/main">
            <a:r>
              <a:t>OBSERVATIONS: MiniLM exceeds TF-IDF in all matched tested seed/budget pairs; performance varies with training budget and sampling seed. The C sweep affects the two representations differently. INTERPRETATION: representation-specific hyperparameter selection may be useful. LIMITATION: exploratory validation evidence, not statistically conclusive or fully optimized model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 Challenges and Future Work</a:t>
            </a:r>
          </a:p>
          <a:p xmlns:a="http://schemas.openxmlformats.org/drawingml/2006/main">
            <a:r>
              <a:t>**3:25–4:30 · approximately 65 seconds**</a:t>
            </a:r>
          </a:p>
          <a:p xmlns:a="http://schemas.openxmlformats.org/drawingml/2006/main">
            <a:r>
              <a:t/>
            </a:r>
          </a:p>
          <a:p xmlns:a="http://schemas.openxmlformats.org/drawingml/2006/main">
            <a:r>
              <a:t>Our main challenges are small training budgets, only three seeds, and repeated use of one validation set. Pretraining also brings outside information.</a:t>
            </a:r>
          </a:p>
          <a:p xmlns:a="http://schemas.openxmlformats.org/drawingml/2006/main">
            <a:r>
              <a:t/>
            </a:r>
          </a:p>
          <a:p xmlns:a="http://schemas.openxmlformats.org/drawingml/2006/main">
            <a:r>
              <a:t>We have three priorities. First, expand training budgets to study sample efficiency more systematically. Second, use stratified K-fold cross-validation within each permitted labeled budget to select hyperparameters, fitting TF-IDF separately inside each fold. This is future work.</a:t>
            </a:r>
          </a:p>
          <a:p xmlns:a="http://schemas.openxmlformats.org/drawingml/2006/main">
            <a:r>
              <a:t/>
            </a:r>
          </a:p>
          <a:p xmlns:a="http://schemas.openxmlformats.org/drawingml/2006/main">
            <a:r>
              <a:t>Third, examine errors more closely, especially Business versus Science and Technology. After fixing our protocol, we will evaluate on the untouched official test set. We will also compare representations more systematically and measure computational costs under controlled conditions.</a:t>
            </a:r>
          </a:p>
          <a:p xmlns:a="http://schemas.openxmlformats.org/drawingml/2006/main">
            <a:r>
              <a:t/>
            </a:r>
          </a:p>
          <a:p xmlns:a="http://schemas.openxmlformats.org/drawingml/2006/main">
            <a:r>
              <a:t>Our current conclusion is promising label efficiency, with further evaluation still needed.</a:t>
            </a:r>
          </a:p>
          <a:p xmlns:a="http://schemas.openxmlformats.org/drawingml/2006/main">
            <a:r>
              <a:t/>
            </a:r>
          </a:p>
          <a:p xmlns:a="http://schemas.openxmlformats.org/drawingml/2006/main">
            <a:r>
              <a:t>SOURCE / METHOD NOTES (not spoken)</a:t>
            </a:r>
          </a:p>
          <a:p xmlns:a="http://schemas.openxmlformats.org/drawingml/2006/main">
            <a:r>
              <a:t>No statistical significance or universal superiority is claimed. Expanded budgets and systematic representation comparisons are future work, not completed results. Cross-validation is for hyperparameter selection only inside each labeled training budget; TF-IDF vocabulary/IDF must be fit on each fold’s training portion. Preserve the external fixed validation set for development reporting, and reserve official test evaluation until the full protocol is frozen. Cost comparisons must distinguish model/setup downloads, cached reads, fresh extraction, and classifier fitting; no speed superiority is claimed here.</a:t>
            </a:r>
          </a:p>
          <a:p xmlns:a="http://schemas.openxmlformats.org/drawingml/2006/main">
            <a:r>
              <a:t>AG News benchmark: Zhang, Zhao, and LeCun (2015), Character-level Convolutional Networks for Text Classification, https://arxiv.org/abs/1509.01626</a:t>
            </a:r>
          </a:p>
          <a:p xmlns:a="http://schemas.openxmlformats.org/drawingml/2006/main">
            <a:r>
              <a:t>MiniLM checkpoint attribution: Sentence Transformers, all-MiniLM-L6-v2 model card, https://huggingface.co/sentence-transformers/all-MiniLM-L6-v2 (accessed 2026-10-19).</a:t>
            </a:r>
          </a:p>
          <a:p xmlns:a="http://schemas.openxmlformats.org/drawingml/2006/main">
            <a:r>
              <a:t>pilot: results\pilot\20261019T223707_829532Z</a:t>
            </a:r>
          </a:p>
          <a:p xmlns:a="http://schemas.openxmlformats.org/drawingml/2006/main">
            <a:r>
              <a:t>repeated: results\repeated\20261019T225846_619676Z</a:t>
            </a:r>
          </a:p>
          <a:p xmlns:a="http://schemas.openxmlformats.org/drawingml/2006/main">
            <a:r>
              <a:t>regularization: results\regularization\20261019T232052_926893Z</a:t>
            </a:r>
          </a:p>
          <a:p xmlns:a="http://schemas.openxmlformats.org/drawingml/2006/main">
            <a:r>
              <a:t>SPEAKING PRIORITIES: (1) expanded labeled budgets; (2) future stratified K-fold selection within the permitted labeled budget, fitting TF-IDF separately in folds; (3) deeper error analysis and eventual untouched-test evaluation. Briefly retain systematic representation comparisons and controlled cost analysis. K-fold has not been implemented and does not guarantee higher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f5631cd40849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505925fc0b4f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127cc68f7041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b6f8504f67492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847c6dc0bd46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d9f6b79e834a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AEEA7A-DD6C-4DED-8610-6A42AC6EA07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C3067B-9193-40D5-85C5-AF046DE623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E374D9-2A90-4BB2-B8D1-E238EE609D3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BA0BE5-F4A4-4E3F-9DF1-3ACEE64E15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B80B96-0AF8-4CB0-A664-0C0D8C9C08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ABEBE92-9F57-4147-A097-3D311B95B4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2042BF-0729-44FB-9B9D-8E348498AC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6C9E3B-5E43-418A-85BC-3CB72E4222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E5AC10-EDB4-4F23-9F1A-3D5BA910F2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FECBD0-E656-4C25-8762-38E1D37E8D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ead08a86aa426e" /><Relationship Type="http://schemas.openxmlformats.org/officeDocument/2006/relationships/slideLayout" Target="/ppt/slideLayouts/slideLayout1.xml" Id="R9e752ea754bb47fd" /><Relationship Type="http://schemas.openxmlformats.org/officeDocument/2006/relationships/slideLayout" Target="/ppt/slideLayouts/slideLayout2.xml" Id="Ra9fd1debedff4c2b" /><Relationship Type="http://schemas.openxmlformats.org/officeDocument/2006/relationships/slideLayout" Target="/ppt/slideLayouts/slideLayout3.xml" Id="Rf4d037a39c634df4" /><Relationship Type="http://schemas.openxmlformats.org/officeDocument/2006/relationships/slideLayout" Target="/ppt/slideLayouts/slideLayout4.xml" Id="R4abb8d6995e64d9a" /><Relationship Type="http://schemas.openxmlformats.org/officeDocument/2006/relationships/slideLayout" Target="/ppt/slideLayouts/slideLayout5.xml" Id="Re13bf8696ad74bf5" /><Relationship Type="http://schemas.openxmlformats.org/officeDocument/2006/relationships/slideLayout" Target="/ppt/slideLayouts/slideLayout6.xml" Id="R682b1011f1174f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752ea754bb47fd"/>
    <p:sldLayoutId xmlns:r="http://schemas.openxmlformats.org/officeDocument/2006/relationships" id="2147483650" r:id="Ra9fd1debedff4c2b"/>
    <p:sldLayoutId xmlns:r="http://schemas.openxmlformats.org/officeDocument/2006/relationships" id="2147483651" r:id="Rf4d037a39c634df4"/>
    <p:sldLayoutId xmlns:r="http://schemas.openxmlformats.org/officeDocument/2006/relationships" id="2147483652" r:id="R4abb8d6995e64d9a"/>
    <p:sldLayoutId xmlns:r="http://schemas.openxmlformats.org/officeDocument/2006/relationships" id="2147483653" r:id="Re13bf8696ad74bf5"/>
    <p:sldLayoutId xmlns:r="http://schemas.openxmlformats.org/officeDocument/2006/relationships" id="2147483654" r:id="R682b1011f1174f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7252c901e7142b3" /><Relationship Type="http://schemas.openxmlformats.org/officeDocument/2006/relationships/notesSlide" Target="/ppt/notesSlides/notesSlide1.xml" Id="R38535d2cb4bf4e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378bd8b5164569" /><Relationship Type="http://schemas.openxmlformats.org/officeDocument/2006/relationships/notesSlide" Target="/ppt/notesSlides/notesSlide2.xml" Id="R0abf4b8ae21741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42150eb8494407b" /><Relationship Type="http://schemas.openxmlformats.org/officeDocument/2006/relationships/notesSlide" Target="/ppt/notesSlides/notesSlide3.xml" Id="R8f50b60b0fcf46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fd67b72d4be4eff" /><Relationship Type="http://schemas.openxmlformats.org/officeDocument/2006/relationships/chart" Target="/ppt/slides/charts/chart1.xml" Id="R6d075029338a4cdc" /><Relationship Type="http://schemas.openxmlformats.org/officeDocument/2006/relationships/notesSlide" Target="/ppt/notesSlides/notesSlide4.xml" Id="R9608f97464aa47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e2577a50934c5e" /><Relationship Type="http://schemas.openxmlformats.org/officeDocument/2006/relationships/notesSlide" Target="/ppt/notesSlides/notesSlide5.xml" Id="Rea28c4dd358549e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TF-IDF</c:v>
          </c:tx>
          <c:spPr>
            <a:solidFill xmlns:a="http://schemas.openxmlformats.org/drawingml/2006/main">
              <a:srgbClr val="2563A6"/>
            </a:solidFill>
            <a:ln xmlns:a="http://schemas.openxmlformats.org/drawingml/2006/main" w="28575">
              <a:solidFill>
                <a:srgbClr val="2563A6"/>
              </a:solidFill>
              <a:prstDash val="solid"/>
            </a:ln>
          </c:spPr>
          <c:marker>
            <c:symbol val="square"/>
            <c:size val="9"/>
            <c:spPr>
              <a:solidFill xmlns:a="http://schemas.openxmlformats.org/drawingml/2006/main">
                <a:srgbClr val="2563A6"/>
              </a:solidFill>
            </c:spPr>
          </c:marker>
          <c:cat>
            <c:numRef>
              <c:f>'Chart Data'!$A$2:$A$3</c:f>
              <c:numCache>
                <c:formatCode>General</c:formatCode>
                <c:ptCount val="2"/>
                <c:pt idx="0">
                  <c:v>100</c:v>
                </c:pt>
                <c:pt idx="1">
                  <c:v>400</c:v>
                </c:pt>
              </c:numCache>
            </c:numRef>
          </c:cat>
          <c:val>
            <c:numRef>
              <c:f>'Chart Data'!$B$2:$B$3</c:f>
              <c:numCache>
                <c:formatCode>0"%"</c:formatCode>
                <c:ptCount val="2"/>
                <c:pt idx="0">
                  <c:v>66.208333</c:v>
                </c:pt>
                <c:pt idx="1">
                  <c:v>76.708333</c:v>
                </c:pt>
              </c:numCache>
            </c:numRef>
          </c:val>
          <c:smooth val="0"/>
        </c:ser>
        <c:ser>
          <c:idx val="1"/>
          <c:order val="1"/>
          <c:tx>
            <c:v>Frozen MiniLM</c:v>
          </c:tx>
          <c:spPr>
            <a:solidFill xmlns:a="http://schemas.openxmlformats.org/drawingml/2006/main">
              <a:srgbClr val="BB591B"/>
            </a:solidFill>
            <a:ln xmlns:a="http://schemas.openxmlformats.org/drawingml/2006/main" w="28575">
              <a:solidFill>
                <a:srgbClr val="BB591B"/>
              </a:solidFill>
              <a:prstDash val="solid"/>
            </a:ln>
          </c:spPr>
          <c:marker>
            <c:symbol val="circle"/>
            <c:size val="9"/>
            <c:spPr>
              <a:solidFill xmlns:a="http://schemas.openxmlformats.org/drawingml/2006/main">
                <a:srgbClr val="BB591B"/>
              </a:solidFill>
            </c:spPr>
          </c:marker>
          <c:cat>
            <c:numRef>
              <c:f>'Chart Data'!$C$2:$C$3</c:f>
              <c:numCache>
                <c:formatCode>General</c:formatCode>
                <c:ptCount val="2"/>
                <c:pt idx="0">
                  <c:v>100</c:v>
                </c:pt>
                <c:pt idx="1">
                  <c:v>400</c:v>
                </c:pt>
              </c:numCache>
            </c:numRef>
          </c:cat>
          <c:val>
            <c:numRef>
              <c:f>'Chart Data'!$D$2:$D$3</c:f>
              <c:numCache>
                <c:formatCode>0"%"</c:formatCode>
                <c:ptCount val="2"/>
                <c:pt idx="0">
                  <c:v>82.375</c:v>
                </c:pt>
                <c:pt idx="1">
                  <c:v>84.541667</c:v>
                </c:pt>
              </c:numCache>
            </c:numRef>
          </c:val>
          <c:smooth val="0"/>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72B3A"/>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526779"/>
                    </a:solidFill>
                    <a:latin typeface="Arial"/>
                    <a:ea typeface="Arial"/>
                    <a:cs typeface="Arial"/>
                  </a:rPr>
                  <a:t>Labeled training examples</a:t>
                </a:r>
              </a:p>
            </c:rich>
          </c:tx>
          <c:overlay val="0"/>
          <c:txPr>
            <a:bodyPr xmlns:a="http://schemas.openxmlformats.org/drawingml/2006/main" anchorCtr="1"/>
            <a:lstStyle xmlns:a="http://schemas.openxmlformats.org/drawingml/2006/main"/>
            <a:p xmlns:a="http://schemas.openxmlformats.org/drawingml/2006/main">
              <a:pPr>
                <a:defRPr sz="1500">
                  <a:solidFill>
                    <a:srgbClr val="526779"/>
                  </a:solidFill>
                  <a:latin typeface="Arial"/>
                  <a:ea typeface="Arial"/>
                  <a:cs typeface="Arial"/>
                </a:defRPr>
              </a:pPr>
            </a:p>
          </c:txPr>
        </c:title>
        <c:numFmt formatCode="General"/>
        <c:majorTickMark val="none"/>
        <c:minorTickMark val="none"/>
        <c:spPr>
          <a:ln xmlns:a="http://schemas.openxmlformats.org/drawingml/2006/main" w="9525">
            <a:solidFill>
              <a:srgbClr val="CED8E1"/>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catAx>
      <c:valAx>
        <c:axId val="48672768"/>
        <c:scaling>
          <c:orientation val="minMax"/>
          <c:max val="90"/>
          <c:min val="60"/>
        </c:scaling>
        <c:delete val="0"/>
        <c:axPos val="l"/>
        <c:majorGridlines>
          <c:spPr>
            <a:ln xmlns:a="http://schemas.openxmlformats.org/drawingml/2006/main" w="9525">
              <a:solidFill>
                <a:srgbClr val="CED8E1"/>
              </a:solidFill>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Arial"/>
                <a:ea typeface="Arial"/>
                <a:cs typeface="Arial"/>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9B3DDDC-591E-4FC9-927E-AB8A6B36F22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32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4DCD68-5D1A-4FE8-A472-74428EDA0502}"/>
              </a:ext>
            </a:extLst>
          </p:cNvPr>
          <p:cNvSpPr>
            <a:spLocks xmlns:a="http://schemas.openxmlformats.org/drawingml/2006/main" noGrp="1"/>
          </p:cNvSpPr>
          <p:nvPr/>
        </p:nvSpPr>
        <p:spPr>
          <a:xfrm xmlns:a="http://schemas.openxmlformats.org/drawingml/2006/main">
            <a:off x="609600" y="30480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526779"/>
                </a:solidFill>
                <a:latin typeface="Arial"/>
                <a:ea typeface="Arial"/>
                <a:cs typeface="Arial"/>
              </a:defRPr>
            </a:defPPr>
            <a:lvl1pPr>
              <a:buNone/>
              <a:defRPr sz="1350" b="1">
                <a:solidFill>
                  <a:srgbClr val="526779"/>
                </a:solidFill>
                <a:latin typeface="Arial"/>
                <a:ea typeface="Arial"/>
                <a:cs typeface="Arial"/>
              </a:defRPr>
            </a:lvl1pPr>
            <a:lvl2pPr>
              <a:buNone/>
              <a:defRPr sz="1350" b="1">
                <a:solidFill>
                  <a:srgbClr val="526779"/>
                </a:solidFill>
                <a:latin typeface="Arial"/>
                <a:ea typeface="Arial"/>
                <a:cs typeface="Arial"/>
              </a:defRPr>
            </a:lvl2pPr>
            <a:lvl3pPr>
              <a:buNone/>
              <a:defRPr sz="1350" b="1">
                <a:solidFill>
                  <a:srgbClr val="526779"/>
                </a:solidFill>
                <a:latin typeface="Arial"/>
                <a:ea typeface="Arial"/>
                <a:cs typeface="Arial"/>
              </a:defRPr>
            </a:lvl3pPr>
            <a:lvl4pPr>
              <a:buNone/>
              <a:defRPr sz="1350" b="1">
                <a:solidFill>
                  <a:srgbClr val="526779"/>
                </a:solidFill>
                <a:latin typeface="Arial"/>
                <a:ea typeface="Arial"/>
                <a:cs typeface="Arial"/>
              </a:defRPr>
            </a:lvl4pPr>
            <a:lvl5pPr>
              <a:buNone/>
              <a:defRPr sz="1350" b="1">
                <a:solidFill>
                  <a:srgbClr val="526779"/>
                </a:solidFill>
                <a:latin typeface="Arial"/>
                <a:ea typeface="Arial"/>
                <a:cs typeface="Arial"/>
              </a:defRPr>
            </a:lvl5pPr>
            <a:lvl6pPr>
              <a:buNone/>
              <a:defRPr sz="1350" b="1">
                <a:solidFill>
                  <a:srgbClr val="526779"/>
                </a:solidFill>
                <a:latin typeface="Arial"/>
                <a:ea typeface="Arial"/>
                <a:cs typeface="Arial"/>
              </a:defRPr>
            </a:lvl6pPr>
            <a:lvl7pPr>
              <a:buNone/>
              <a:defRPr sz="1350" b="1">
                <a:solidFill>
                  <a:srgbClr val="526779"/>
                </a:solidFill>
                <a:latin typeface="Arial"/>
                <a:ea typeface="Arial"/>
                <a:cs typeface="Arial"/>
              </a:defRPr>
            </a:lvl7pPr>
            <a:lvl8pPr>
              <a:buNone/>
              <a:defRPr sz="1350" b="1">
                <a:solidFill>
                  <a:srgbClr val="526779"/>
                </a:solidFill>
                <a:latin typeface="Arial"/>
                <a:ea typeface="Arial"/>
                <a:cs typeface="Arial"/>
              </a:defRPr>
            </a:lvl8pPr>
            <a:lvl9pPr>
              <a:buNone/>
              <a:defRPr sz="1350" b="1">
                <a:solidFill>
                  <a:srgbClr val="526779"/>
                </a:solidFill>
                <a:latin typeface="Arial"/>
                <a:ea typeface="Arial"/>
                <a:cs typeface="Arial"/>
              </a:defRPr>
            </a:lvl9pPr>
          </a:lstStyle>
          <a:p xmlns:a="http://schemas.openxmlformats.org/drawingml/2006/main">
            <a:pPr>
              <a:buNone/>
              <a:defRPr sz="1350" b="1">
                <a:solidFill>
                  <a:srgbClr val="526779"/>
                </a:solidFill>
                <a:latin typeface="Arial"/>
                <a:ea typeface="Arial"/>
                <a:cs typeface="Arial"/>
              </a:defRPr>
            </a:pPr>
            <a:r>
              <a:rPr sz="1350" b="1">
                <a:solidFill>
                  <a:srgbClr val="526779"/>
                </a:solidFill>
                <a:latin typeface="Arial"/>
                <a:ea typeface="Arial"/>
                <a:cs typeface="Arial"/>
              </a:rPr>
              <a:t>NEWSREPLAB  /  ICSI436 PROJECT P</a:t>
            </a:r>
          </a:p>
        </p:txBody>
      </p:sp>
      <p:sp>
        <p:nvSpPr>
          <p:cNvPr id="3" name="">
            <a:extLst xmlns:a="http://schemas.openxmlformats.org/drawingml/2006/main">
              <a:ext uri="{FF2B5EF4-FFF2-40B4-BE49-F238E27FC236}">
                <a16:creationId xmlns:a16="http://schemas.microsoft.com/office/drawing/2014/main" id="{54FC8B11-F185-4A3C-97B2-A667B57E890B}"/>
              </a:ext>
            </a:extLst>
          </p:cNvPr>
          <p:cNvSpPr>
            <a:spLocks xmlns:a="http://schemas.openxmlformats.org/drawingml/2006/main" noGrp="1"/>
          </p:cNvSpPr>
          <p:nvPr/>
        </p:nvSpPr>
        <p:spPr>
          <a:xfrm xmlns:a="http://schemas.openxmlformats.org/drawingml/2006/main">
            <a:off x="609600" y="76200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buNone/>
              <a:defRPr sz="3150" b="1">
                <a:solidFill>
                  <a:srgbClr val="16324F"/>
                </a:solidFill>
                <a:latin typeface="Arial"/>
                <a:ea typeface="Arial"/>
                <a:cs typeface="Arial"/>
              </a:defRPr>
            </a:lvl1pPr>
            <a:lvl2pPr>
              <a:buNone/>
              <a:defRPr sz="3150" b="1">
                <a:solidFill>
                  <a:srgbClr val="16324F"/>
                </a:solidFill>
                <a:latin typeface="Arial"/>
                <a:ea typeface="Arial"/>
                <a:cs typeface="Arial"/>
              </a:defRPr>
            </a:lvl2pPr>
            <a:lvl3pPr>
              <a:buNone/>
              <a:defRPr sz="3150" b="1">
                <a:solidFill>
                  <a:srgbClr val="16324F"/>
                </a:solidFill>
                <a:latin typeface="Arial"/>
                <a:ea typeface="Arial"/>
                <a:cs typeface="Arial"/>
              </a:defRPr>
            </a:lvl3pPr>
            <a:lvl4pPr>
              <a:buNone/>
              <a:defRPr sz="3150" b="1">
                <a:solidFill>
                  <a:srgbClr val="16324F"/>
                </a:solidFill>
                <a:latin typeface="Arial"/>
                <a:ea typeface="Arial"/>
                <a:cs typeface="Arial"/>
              </a:defRPr>
            </a:lvl4pPr>
            <a:lvl5pPr>
              <a:buNone/>
              <a:defRPr sz="3150" b="1">
                <a:solidFill>
                  <a:srgbClr val="16324F"/>
                </a:solidFill>
                <a:latin typeface="Arial"/>
                <a:ea typeface="Arial"/>
                <a:cs typeface="Arial"/>
              </a:defRPr>
            </a:lvl5pPr>
            <a:lvl6pPr>
              <a:buNone/>
              <a:defRPr sz="3150" b="1">
                <a:solidFill>
                  <a:srgbClr val="16324F"/>
                </a:solidFill>
                <a:latin typeface="Arial"/>
                <a:ea typeface="Arial"/>
                <a:cs typeface="Arial"/>
              </a:defRPr>
            </a:lvl6pPr>
            <a:lvl7pPr>
              <a:buNone/>
              <a:defRPr sz="3150" b="1">
                <a:solidFill>
                  <a:srgbClr val="16324F"/>
                </a:solidFill>
                <a:latin typeface="Arial"/>
                <a:ea typeface="Arial"/>
                <a:cs typeface="Arial"/>
              </a:defRPr>
            </a:lvl7pPr>
            <a:lvl8pPr>
              <a:buNone/>
              <a:defRPr sz="3150" b="1">
                <a:solidFill>
                  <a:srgbClr val="16324F"/>
                </a:solidFill>
                <a:latin typeface="Arial"/>
                <a:ea typeface="Arial"/>
                <a:cs typeface="Arial"/>
              </a:defRPr>
            </a:lvl8pPr>
            <a:lvl9pPr>
              <a:buNone/>
              <a:defRPr sz="3150" b="1">
                <a:solidFill>
                  <a:srgbClr val="16324F"/>
                </a:solidFill>
                <a:latin typeface="Arial"/>
                <a:ea typeface="Arial"/>
                <a:cs typeface="Arial"/>
              </a:defRPr>
            </a:lvl9pPr>
          </a:lstStyle>
          <a:p xmlns:a="http://schemas.openxmlformats.org/drawingml/2006/main">
            <a:pPr>
              <a:buNone/>
              <a:defRPr sz="3150" b="1">
                <a:solidFill>
                  <a:srgbClr val="16324F"/>
                </a:solidFill>
                <a:latin typeface="Arial"/>
                <a:ea typeface="Arial"/>
                <a:cs typeface="Arial"/>
              </a:defRPr>
            </a:pPr>
            <a:r>
              <a:rPr sz="3150" b="1">
                <a:solidFill>
                  <a:srgbClr val="16324F"/>
                </a:solidFill>
                <a:latin typeface="Arial"/>
                <a:ea typeface="Arial"/>
                <a:cs typeface="Arial"/>
              </a:rPr>
              <a:t>Background and Research Motivation</a:t>
            </a:r>
          </a:p>
        </p:txBody>
      </p:sp>
      <p:sp>
        <p:nvSpPr>
          <p:cNvPr id="4" name="">
            <a:extLst xmlns:a="http://schemas.openxmlformats.org/drawingml/2006/main">
              <a:ext uri="{FF2B5EF4-FFF2-40B4-BE49-F238E27FC236}">
                <a16:creationId xmlns:a16="http://schemas.microsoft.com/office/drawing/2014/main" id="{197DF234-D289-4624-8A4B-C1C2FB4F5837}"/>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CED8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B340EA-3B10-4843-A99F-ECC44F31A45E}"/>
              </a:ext>
            </a:extLst>
          </p:cNvPr>
          <p:cNvSpPr>
            <a:spLocks xmlns:a="http://schemas.openxmlformats.org/drawingml/2006/main" noGrp="1"/>
          </p:cNvSpPr>
          <p:nvPr/>
        </p:nvSpPr>
        <p:spPr>
          <a:xfrm xmlns:a="http://schemas.openxmlformats.org/drawingml/2006/main">
            <a:off x="609600" y="646747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9"/>
                </a:solidFill>
                <a:latin typeface="Arial"/>
                <a:ea typeface="Arial"/>
                <a:cs typeface="Arial"/>
              </a:defRPr>
            </a:defPPr>
            <a:lvl1pPr>
              <a:buNone/>
              <a:defRPr sz="1275" b="0">
                <a:solidFill>
                  <a:srgbClr val="526779"/>
                </a:solidFill>
                <a:latin typeface="Arial"/>
                <a:ea typeface="Arial"/>
                <a:cs typeface="Arial"/>
              </a:defRPr>
            </a:lvl1pPr>
            <a:lvl2pPr>
              <a:buNone/>
              <a:defRPr sz="1275" b="0">
                <a:solidFill>
                  <a:srgbClr val="526779"/>
                </a:solidFill>
                <a:latin typeface="Arial"/>
                <a:ea typeface="Arial"/>
                <a:cs typeface="Arial"/>
              </a:defRPr>
            </a:lvl2pPr>
            <a:lvl3pPr>
              <a:buNone/>
              <a:defRPr sz="1275" b="0">
                <a:solidFill>
                  <a:srgbClr val="526779"/>
                </a:solidFill>
                <a:latin typeface="Arial"/>
                <a:ea typeface="Arial"/>
                <a:cs typeface="Arial"/>
              </a:defRPr>
            </a:lvl3pPr>
            <a:lvl4pPr>
              <a:buNone/>
              <a:defRPr sz="1275" b="0">
                <a:solidFill>
                  <a:srgbClr val="526779"/>
                </a:solidFill>
                <a:latin typeface="Arial"/>
                <a:ea typeface="Arial"/>
                <a:cs typeface="Arial"/>
              </a:defRPr>
            </a:lvl4pPr>
            <a:lvl5pPr>
              <a:buNone/>
              <a:defRPr sz="1275" b="0">
                <a:solidFill>
                  <a:srgbClr val="526779"/>
                </a:solidFill>
                <a:latin typeface="Arial"/>
                <a:ea typeface="Arial"/>
                <a:cs typeface="Arial"/>
              </a:defRPr>
            </a:lvl5pPr>
            <a:lvl6pPr>
              <a:buNone/>
              <a:defRPr sz="1275" b="0">
                <a:solidFill>
                  <a:srgbClr val="526779"/>
                </a:solidFill>
                <a:latin typeface="Arial"/>
                <a:ea typeface="Arial"/>
                <a:cs typeface="Arial"/>
              </a:defRPr>
            </a:lvl6pPr>
            <a:lvl7pPr>
              <a:buNone/>
              <a:defRPr sz="1275" b="0">
                <a:solidFill>
                  <a:srgbClr val="526779"/>
                </a:solidFill>
                <a:latin typeface="Arial"/>
                <a:ea typeface="Arial"/>
                <a:cs typeface="Arial"/>
              </a:defRPr>
            </a:lvl7pPr>
            <a:lvl8pPr>
              <a:buNone/>
              <a:defRPr sz="1275" b="0">
                <a:solidFill>
                  <a:srgbClr val="526779"/>
                </a:solidFill>
                <a:latin typeface="Arial"/>
                <a:ea typeface="Arial"/>
                <a:cs typeface="Arial"/>
              </a:defRPr>
            </a:lvl8pPr>
            <a:lvl9pPr>
              <a:buNone/>
              <a:defRPr sz="1275" b="0">
                <a:solidFill>
                  <a:srgbClr val="526779"/>
                </a:solidFill>
                <a:latin typeface="Arial"/>
                <a:ea typeface="Arial"/>
                <a:cs typeface="Arial"/>
              </a:defRPr>
            </a:lvl9pPr>
          </a:lstStyle>
          <a:p xmlns:a="http://schemas.openxmlformats.org/drawingml/2006/main">
            <a:pPr>
              <a:buNone/>
              <a:defRPr sz="1275" b="0">
                <a:solidFill>
                  <a:srgbClr val="526779"/>
                </a:solidFill>
                <a:latin typeface="Arial"/>
                <a:ea typeface="Arial"/>
                <a:cs typeface="Arial"/>
              </a:defRPr>
            </a:pPr>
            <a:r>
              <a:rPr sz="1275" b="0">
                <a:solidFill>
                  <a:srgbClr val="526779"/>
                </a:solidFill>
                <a:latin typeface="Arial"/>
                <a:ea typeface="Arial"/>
                <a:cs typeface="Arial"/>
              </a:rPr>
              <a:t>Midterm progress  •  Validation results only</a:t>
            </a:r>
          </a:p>
        </p:txBody>
      </p:sp>
      <p:sp>
        <p:nvSpPr>
          <p:cNvPr id="6" name="">
            <a:extLst xmlns:a="http://schemas.openxmlformats.org/drawingml/2006/main">
              <a:ext uri="{FF2B5EF4-FFF2-40B4-BE49-F238E27FC236}">
                <a16:creationId xmlns:a16="http://schemas.microsoft.com/office/drawing/2014/main" id="{342D02B6-3D7B-4E82-B0B7-8FFBC0AB92AB}"/>
              </a:ext>
            </a:extLst>
          </p:cNvPr>
          <p:cNvSpPr>
            <a:spLocks xmlns:a="http://schemas.openxmlformats.org/drawingml/2006/main" noGrp="1"/>
          </p:cNvSpPr>
          <p:nvPr/>
        </p:nvSpPr>
        <p:spPr>
          <a:xfrm xmlns:a="http://schemas.openxmlformats.org/drawingml/2006/main">
            <a:off x="10858500" y="64674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9"/>
                </a:solidFill>
                <a:latin typeface="Arial"/>
                <a:ea typeface="Arial"/>
                <a:cs typeface="Arial"/>
              </a:defRPr>
            </a:defPPr>
            <a:lvl1pPr>
              <a:buNone/>
              <a:defRPr sz="1275" b="0">
                <a:solidFill>
                  <a:srgbClr val="526779"/>
                </a:solidFill>
                <a:latin typeface="Arial"/>
                <a:ea typeface="Arial"/>
                <a:cs typeface="Arial"/>
              </a:defRPr>
            </a:lvl1pPr>
            <a:lvl2pPr>
              <a:buNone/>
              <a:defRPr sz="1275" b="0">
                <a:solidFill>
                  <a:srgbClr val="526779"/>
                </a:solidFill>
                <a:latin typeface="Arial"/>
                <a:ea typeface="Arial"/>
                <a:cs typeface="Arial"/>
              </a:defRPr>
            </a:lvl2pPr>
            <a:lvl3pPr>
              <a:buNone/>
              <a:defRPr sz="1275" b="0">
                <a:solidFill>
                  <a:srgbClr val="526779"/>
                </a:solidFill>
                <a:latin typeface="Arial"/>
                <a:ea typeface="Arial"/>
                <a:cs typeface="Arial"/>
              </a:defRPr>
            </a:lvl3pPr>
            <a:lvl4pPr>
              <a:buNone/>
              <a:defRPr sz="1275" b="0">
                <a:solidFill>
                  <a:srgbClr val="526779"/>
                </a:solidFill>
                <a:latin typeface="Arial"/>
                <a:ea typeface="Arial"/>
                <a:cs typeface="Arial"/>
              </a:defRPr>
            </a:lvl4pPr>
            <a:lvl5pPr>
              <a:buNone/>
              <a:defRPr sz="1275" b="0">
                <a:solidFill>
                  <a:srgbClr val="526779"/>
                </a:solidFill>
                <a:latin typeface="Arial"/>
                <a:ea typeface="Arial"/>
                <a:cs typeface="Arial"/>
              </a:defRPr>
            </a:lvl5pPr>
            <a:lvl6pPr>
              <a:buNone/>
              <a:defRPr sz="1275" b="0">
                <a:solidFill>
                  <a:srgbClr val="526779"/>
                </a:solidFill>
                <a:latin typeface="Arial"/>
                <a:ea typeface="Arial"/>
                <a:cs typeface="Arial"/>
              </a:defRPr>
            </a:lvl6pPr>
            <a:lvl7pPr>
              <a:buNone/>
              <a:defRPr sz="1275" b="0">
                <a:solidFill>
                  <a:srgbClr val="526779"/>
                </a:solidFill>
                <a:latin typeface="Arial"/>
                <a:ea typeface="Arial"/>
                <a:cs typeface="Arial"/>
              </a:defRPr>
            </a:lvl7pPr>
            <a:lvl8pPr>
              <a:buNone/>
              <a:defRPr sz="1275" b="0">
                <a:solidFill>
                  <a:srgbClr val="526779"/>
                </a:solidFill>
                <a:latin typeface="Arial"/>
                <a:ea typeface="Arial"/>
                <a:cs typeface="Arial"/>
              </a:defRPr>
            </a:lvl8pPr>
            <a:lvl9pPr>
              <a:buNone/>
              <a:defRPr sz="1275" b="0">
                <a:solidFill>
                  <a:srgbClr val="526779"/>
                </a:solidFill>
                <a:latin typeface="Arial"/>
                <a:ea typeface="Arial"/>
                <a:cs typeface="Arial"/>
              </a:defRPr>
            </a:lvl9pPr>
          </a:lstStyle>
          <a:p xmlns:a="http://schemas.openxmlformats.org/drawingml/2006/main">
            <a:pPr>
              <a:buNone/>
              <a:defRPr sz="1275" b="0">
                <a:solidFill>
                  <a:srgbClr val="526779"/>
                </a:solidFill>
                <a:latin typeface="Arial"/>
                <a:ea typeface="Arial"/>
                <a:cs typeface="Arial"/>
              </a:defRPr>
            </a:pPr>
            <a:r>
              <a:rPr sz="1275" b="0">
                <a:solidFill>
                  <a:srgbClr val="526779"/>
                </a:solidFill>
                <a:latin typeface="Arial"/>
                <a:ea typeface="Arial"/>
                <a:cs typeface="Arial"/>
              </a:rPr>
              <a:t>1 / 5</a:t>
            </a:r>
          </a:p>
        </p:txBody>
      </p:sp>
      <p:sp>
        <p:nvSpPr>
          <p:cNvPr id="7" name="">
            <a:extLst xmlns:a="http://schemas.openxmlformats.org/drawingml/2006/main">
              <a:ext uri="{FF2B5EF4-FFF2-40B4-BE49-F238E27FC236}">
                <a16:creationId xmlns:a16="http://schemas.microsoft.com/office/drawing/2014/main" id="{310DE2DA-817F-4BD9-B13D-27C4A6ADF3AC}"/>
              </a:ext>
            </a:extLst>
          </p:cNvPr>
          <p:cNvSpPr>
            <a:spLocks xmlns:a="http://schemas.openxmlformats.org/drawingml/2006/main" noGrp="1"/>
          </p:cNvSpPr>
          <p:nvPr/>
        </p:nvSpPr>
        <p:spPr>
          <a:xfrm xmlns:a="http://schemas.openxmlformats.org/drawingml/2006/main">
            <a:off x="609600" y="16859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16324F"/>
                </a:solidFill>
                <a:latin typeface="Arial"/>
                <a:ea typeface="Arial"/>
                <a:cs typeface="Arial"/>
              </a:defRPr>
            </a:defPPr>
            <a:lvl1pPr>
              <a:buNone/>
              <a:defRPr sz="4950" b="1">
                <a:solidFill>
                  <a:srgbClr val="16324F"/>
                </a:solidFill>
                <a:latin typeface="Arial"/>
                <a:ea typeface="Arial"/>
                <a:cs typeface="Arial"/>
              </a:defRPr>
            </a:lvl1pPr>
            <a:lvl2pPr>
              <a:buNone/>
              <a:defRPr sz="4950" b="1">
                <a:solidFill>
                  <a:srgbClr val="16324F"/>
                </a:solidFill>
                <a:latin typeface="Arial"/>
                <a:ea typeface="Arial"/>
                <a:cs typeface="Arial"/>
              </a:defRPr>
            </a:lvl2pPr>
            <a:lvl3pPr>
              <a:buNone/>
              <a:defRPr sz="4950" b="1">
                <a:solidFill>
                  <a:srgbClr val="16324F"/>
                </a:solidFill>
                <a:latin typeface="Arial"/>
                <a:ea typeface="Arial"/>
                <a:cs typeface="Arial"/>
              </a:defRPr>
            </a:lvl3pPr>
            <a:lvl4pPr>
              <a:buNone/>
              <a:defRPr sz="4950" b="1">
                <a:solidFill>
                  <a:srgbClr val="16324F"/>
                </a:solidFill>
                <a:latin typeface="Arial"/>
                <a:ea typeface="Arial"/>
                <a:cs typeface="Arial"/>
              </a:defRPr>
            </a:lvl4pPr>
            <a:lvl5pPr>
              <a:buNone/>
              <a:defRPr sz="4950" b="1">
                <a:solidFill>
                  <a:srgbClr val="16324F"/>
                </a:solidFill>
                <a:latin typeface="Arial"/>
                <a:ea typeface="Arial"/>
                <a:cs typeface="Arial"/>
              </a:defRPr>
            </a:lvl5pPr>
            <a:lvl6pPr>
              <a:buNone/>
              <a:defRPr sz="4950" b="1">
                <a:solidFill>
                  <a:srgbClr val="16324F"/>
                </a:solidFill>
                <a:latin typeface="Arial"/>
                <a:ea typeface="Arial"/>
                <a:cs typeface="Arial"/>
              </a:defRPr>
            </a:lvl6pPr>
            <a:lvl7pPr>
              <a:buNone/>
              <a:defRPr sz="4950" b="1">
                <a:solidFill>
                  <a:srgbClr val="16324F"/>
                </a:solidFill>
                <a:latin typeface="Arial"/>
                <a:ea typeface="Arial"/>
                <a:cs typeface="Arial"/>
              </a:defRPr>
            </a:lvl7pPr>
            <a:lvl8pPr>
              <a:buNone/>
              <a:defRPr sz="4950" b="1">
                <a:solidFill>
                  <a:srgbClr val="16324F"/>
                </a:solidFill>
                <a:latin typeface="Arial"/>
                <a:ea typeface="Arial"/>
                <a:cs typeface="Arial"/>
              </a:defRPr>
            </a:lvl8pPr>
            <a:lvl9pPr>
              <a:buNone/>
              <a:defRPr sz="4950" b="1">
                <a:solidFill>
                  <a:srgbClr val="16324F"/>
                </a:solidFill>
                <a:latin typeface="Arial"/>
                <a:ea typeface="Arial"/>
                <a:cs typeface="Arial"/>
              </a:defRPr>
            </a:lvl9pPr>
          </a:lstStyle>
          <a:p xmlns:a="http://schemas.openxmlformats.org/drawingml/2006/main">
            <a:pPr>
              <a:buNone/>
              <a:defRPr sz="4950" b="1">
                <a:solidFill>
                  <a:srgbClr val="16324F"/>
                </a:solidFill>
                <a:latin typeface="Arial"/>
                <a:ea typeface="Arial"/>
                <a:cs typeface="Arial"/>
              </a:defRPr>
            </a:pPr>
            <a:r>
              <a:rPr sz="4950" b="1">
                <a:solidFill>
                  <a:srgbClr val="16324F"/>
                </a:solidFill>
                <a:latin typeface="Arial"/>
                <a:ea typeface="Arial"/>
                <a:cs typeface="Arial"/>
              </a:rPr>
              <a:t>NewsRepLab</a:t>
            </a:r>
          </a:p>
        </p:txBody>
      </p:sp>
      <p:sp>
        <p:nvSpPr>
          <p:cNvPr id="8" name="">
            <a:extLst xmlns:a="http://schemas.openxmlformats.org/drawingml/2006/main">
              <a:ext uri="{FF2B5EF4-FFF2-40B4-BE49-F238E27FC236}">
                <a16:creationId xmlns:a16="http://schemas.microsoft.com/office/drawing/2014/main" id="{0EAD9997-D7C4-4669-856F-F808036541F4}"/>
              </a:ext>
            </a:extLst>
          </p:cNvPr>
          <p:cNvSpPr>
            <a:spLocks xmlns:a="http://schemas.openxmlformats.org/drawingml/2006/main" noGrp="1"/>
          </p:cNvSpPr>
          <p:nvPr/>
        </p:nvSpPr>
        <p:spPr>
          <a:xfrm xmlns:a="http://schemas.openxmlformats.org/drawingml/2006/main">
            <a:off x="647700" y="2600325"/>
            <a:ext cx="10572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172B3A"/>
                </a:solidFill>
                <a:latin typeface="Arial"/>
                <a:ea typeface="Arial"/>
                <a:cs typeface="Arial"/>
              </a:defRPr>
            </a:defPPr>
            <a:lvl1pPr>
              <a:buNone/>
              <a:defRPr sz="2550" b="0">
                <a:solidFill>
                  <a:srgbClr val="172B3A"/>
                </a:solidFill>
                <a:latin typeface="Arial"/>
                <a:ea typeface="Arial"/>
                <a:cs typeface="Arial"/>
              </a:defRPr>
            </a:lvl1pPr>
            <a:lvl2pPr>
              <a:buNone/>
              <a:defRPr sz="2550" b="0">
                <a:solidFill>
                  <a:srgbClr val="172B3A"/>
                </a:solidFill>
                <a:latin typeface="Arial"/>
                <a:ea typeface="Arial"/>
                <a:cs typeface="Arial"/>
              </a:defRPr>
            </a:lvl2pPr>
            <a:lvl3pPr>
              <a:buNone/>
              <a:defRPr sz="2550" b="0">
                <a:solidFill>
                  <a:srgbClr val="172B3A"/>
                </a:solidFill>
                <a:latin typeface="Arial"/>
                <a:ea typeface="Arial"/>
                <a:cs typeface="Arial"/>
              </a:defRPr>
            </a:lvl3pPr>
            <a:lvl4pPr>
              <a:buNone/>
              <a:defRPr sz="2550" b="0">
                <a:solidFill>
                  <a:srgbClr val="172B3A"/>
                </a:solidFill>
                <a:latin typeface="Arial"/>
                <a:ea typeface="Arial"/>
                <a:cs typeface="Arial"/>
              </a:defRPr>
            </a:lvl4pPr>
            <a:lvl5pPr>
              <a:buNone/>
              <a:defRPr sz="2550" b="0">
                <a:solidFill>
                  <a:srgbClr val="172B3A"/>
                </a:solidFill>
                <a:latin typeface="Arial"/>
                <a:ea typeface="Arial"/>
                <a:cs typeface="Arial"/>
              </a:defRPr>
            </a:lvl5pPr>
            <a:lvl6pPr>
              <a:buNone/>
              <a:defRPr sz="2550" b="0">
                <a:solidFill>
                  <a:srgbClr val="172B3A"/>
                </a:solidFill>
                <a:latin typeface="Arial"/>
                <a:ea typeface="Arial"/>
                <a:cs typeface="Arial"/>
              </a:defRPr>
            </a:lvl6pPr>
            <a:lvl7pPr>
              <a:buNone/>
              <a:defRPr sz="2550" b="0">
                <a:solidFill>
                  <a:srgbClr val="172B3A"/>
                </a:solidFill>
                <a:latin typeface="Arial"/>
                <a:ea typeface="Arial"/>
                <a:cs typeface="Arial"/>
              </a:defRPr>
            </a:lvl7pPr>
            <a:lvl8pPr>
              <a:buNone/>
              <a:defRPr sz="2550" b="0">
                <a:solidFill>
                  <a:srgbClr val="172B3A"/>
                </a:solidFill>
                <a:latin typeface="Arial"/>
                <a:ea typeface="Arial"/>
                <a:cs typeface="Arial"/>
              </a:defRPr>
            </a:lvl8pPr>
            <a:lvl9pPr>
              <a:buNone/>
              <a:defRPr sz="2550" b="0">
                <a:solidFill>
                  <a:srgbClr val="172B3A"/>
                </a:solidFill>
                <a:latin typeface="Arial"/>
                <a:ea typeface="Arial"/>
                <a:cs typeface="Arial"/>
              </a:defRPr>
            </a:lvl9pPr>
          </a:lstStyle>
          <a:p xmlns:a="http://schemas.openxmlformats.org/drawingml/2006/main">
            <a:pPr>
              <a:buNone/>
              <a:defRPr sz="2550" b="0">
                <a:solidFill>
                  <a:srgbClr val="172B3A"/>
                </a:solidFill>
                <a:latin typeface="Arial"/>
                <a:ea typeface="Arial"/>
                <a:cs typeface="Arial"/>
              </a:defRPr>
            </a:pPr>
            <a:r>
              <a:rPr sz="2550" b="0">
                <a:solidFill>
                  <a:srgbClr val="172B3A"/>
                </a:solidFill>
                <a:latin typeface="Arial"/>
                <a:ea typeface="Arial"/>
                <a:cs typeface="Arial"/>
              </a:rPr>
              <a:t>Evaluating pretrained text representations</a:t>
            </a:r>
          </a:p>
          <a:p xmlns:a="http://schemas.openxmlformats.org/drawingml/2006/main">
            <a:pPr>
              <a:buNone/>
              <a:defRPr sz="2550" b="0">
                <a:solidFill>
                  <a:srgbClr val="172B3A"/>
                </a:solidFill>
                <a:latin typeface="Arial"/>
                <a:ea typeface="Arial"/>
                <a:cs typeface="Arial"/>
              </a:defRPr>
            </a:pPr>
            <a:r>
              <a:rPr sz="2550" b="0">
                <a:solidFill>
                  <a:srgbClr val="172B3A"/>
                </a:solidFill>
                <a:latin typeface="Arial"/>
                <a:ea typeface="Arial"/>
                <a:cs typeface="Arial"/>
              </a:rPr>
              <a:t>for news classification under limited training data</a:t>
            </a:r>
          </a:p>
        </p:txBody>
      </p:sp>
      <p:sp>
        <p:nvSpPr>
          <p:cNvPr id="9" name="">
            <a:extLst xmlns:a="http://schemas.openxmlformats.org/drawingml/2006/main">
              <a:ext uri="{FF2B5EF4-FFF2-40B4-BE49-F238E27FC236}">
                <a16:creationId xmlns:a16="http://schemas.microsoft.com/office/drawing/2014/main" id="{DF4881FC-F909-48CC-B679-96BAE70A78F7}"/>
              </a:ext>
            </a:extLst>
          </p:cNvPr>
          <p:cNvSpPr>
            <a:spLocks xmlns:a="http://schemas.openxmlformats.org/drawingml/2006/main" noGrp="1"/>
          </p:cNvSpPr>
          <p:nvPr/>
        </p:nvSpPr>
        <p:spPr>
          <a:xfrm xmlns:a="http://schemas.openxmlformats.org/drawingml/2006/main">
            <a:off x="647700" y="39433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6324F"/>
                </a:solidFill>
                <a:latin typeface="Arial"/>
                <a:ea typeface="Arial"/>
                <a:cs typeface="Arial"/>
              </a:defRPr>
            </a:defPPr>
            <a:lvl1pPr>
              <a:buNone/>
              <a:defRPr sz="2475" b="1">
                <a:solidFill>
                  <a:srgbClr val="16324F"/>
                </a:solidFill>
                <a:latin typeface="Arial"/>
                <a:ea typeface="Arial"/>
                <a:cs typeface="Arial"/>
              </a:defRPr>
            </a:lvl1pPr>
            <a:lvl2pPr>
              <a:buNone/>
              <a:defRPr sz="2475" b="1">
                <a:solidFill>
                  <a:srgbClr val="16324F"/>
                </a:solidFill>
                <a:latin typeface="Arial"/>
                <a:ea typeface="Arial"/>
                <a:cs typeface="Arial"/>
              </a:defRPr>
            </a:lvl2pPr>
            <a:lvl3pPr>
              <a:buNone/>
              <a:defRPr sz="2475" b="1">
                <a:solidFill>
                  <a:srgbClr val="16324F"/>
                </a:solidFill>
                <a:latin typeface="Arial"/>
                <a:ea typeface="Arial"/>
                <a:cs typeface="Arial"/>
              </a:defRPr>
            </a:lvl3pPr>
            <a:lvl4pPr>
              <a:buNone/>
              <a:defRPr sz="2475" b="1">
                <a:solidFill>
                  <a:srgbClr val="16324F"/>
                </a:solidFill>
                <a:latin typeface="Arial"/>
                <a:ea typeface="Arial"/>
                <a:cs typeface="Arial"/>
              </a:defRPr>
            </a:lvl4pPr>
            <a:lvl5pPr>
              <a:buNone/>
              <a:defRPr sz="2475" b="1">
                <a:solidFill>
                  <a:srgbClr val="16324F"/>
                </a:solidFill>
                <a:latin typeface="Arial"/>
                <a:ea typeface="Arial"/>
                <a:cs typeface="Arial"/>
              </a:defRPr>
            </a:lvl5pPr>
            <a:lvl6pPr>
              <a:buNone/>
              <a:defRPr sz="2475" b="1">
                <a:solidFill>
                  <a:srgbClr val="16324F"/>
                </a:solidFill>
                <a:latin typeface="Arial"/>
                <a:ea typeface="Arial"/>
                <a:cs typeface="Arial"/>
              </a:defRPr>
            </a:lvl6pPr>
            <a:lvl7pPr>
              <a:buNone/>
              <a:defRPr sz="2475" b="1">
                <a:solidFill>
                  <a:srgbClr val="16324F"/>
                </a:solidFill>
                <a:latin typeface="Arial"/>
                <a:ea typeface="Arial"/>
                <a:cs typeface="Arial"/>
              </a:defRPr>
            </a:lvl7pPr>
            <a:lvl8pPr>
              <a:buNone/>
              <a:defRPr sz="2475" b="1">
                <a:solidFill>
                  <a:srgbClr val="16324F"/>
                </a:solidFill>
                <a:latin typeface="Arial"/>
                <a:ea typeface="Arial"/>
                <a:cs typeface="Arial"/>
              </a:defRPr>
            </a:lvl8pPr>
            <a:lvl9pPr>
              <a:buNone/>
              <a:defRPr sz="2475" b="1">
                <a:solidFill>
                  <a:srgbClr val="16324F"/>
                </a:solidFill>
                <a:latin typeface="Arial"/>
                <a:ea typeface="Arial"/>
                <a:cs typeface="Arial"/>
              </a:defRPr>
            </a:lvl9pPr>
          </a:lstStyle>
          <a:p xmlns:a="http://schemas.openxmlformats.org/drawingml/2006/main">
            <a:pPr>
              <a:buNone/>
              <a:defRPr sz="2475" b="1">
                <a:solidFill>
                  <a:srgbClr val="16324F"/>
                </a:solidFill>
                <a:latin typeface="Arial"/>
                <a:ea typeface="Arial"/>
                <a:cs typeface="Arial"/>
              </a:defRPr>
            </a:pPr>
            <a:r>
              <a:rPr sz="2475" b="1">
                <a:solidFill>
                  <a:srgbClr val="16324F"/>
                </a:solidFill>
                <a:latin typeface="Arial"/>
                <a:ea typeface="Arial"/>
                <a:cs typeface="Arial"/>
              </a:rPr>
              <a:t>Can useful news classifiers learn from fewer labeled articles?</a:t>
            </a:r>
          </a:p>
        </p:txBody>
      </p:sp>
      <p:sp>
        <p:nvSpPr>
          <p:cNvPr id="10" name="">
            <a:extLst xmlns:a="http://schemas.openxmlformats.org/drawingml/2006/main">
              <a:ext uri="{FF2B5EF4-FFF2-40B4-BE49-F238E27FC236}">
                <a16:creationId xmlns:a16="http://schemas.microsoft.com/office/drawing/2014/main" id="{5347B1D1-F629-4804-8048-05EF55D49618}"/>
              </a:ext>
            </a:extLst>
          </p:cNvPr>
          <p:cNvSpPr>
            <a:spLocks xmlns:a="http://schemas.openxmlformats.org/drawingml/2006/main" noGrp="1"/>
          </p:cNvSpPr>
          <p:nvPr/>
        </p:nvSpPr>
        <p:spPr>
          <a:xfrm xmlns:a="http://schemas.openxmlformats.org/drawingml/2006/main">
            <a:off x="647700" y="4905375"/>
            <a:ext cx="5048250" cy="38100"/>
          </a:xfrm>
          <a:prstGeom xmlns:a="http://schemas.openxmlformats.org/drawingml/2006/main" prst="rect">
            <a:avLst/>
          </a:prstGeom>
          <a:solidFill xmlns:a="http://schemas.openxmlformats.org/drawingml/2006/main">
            <a:srgbClr val="2563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FA27AFD-B49B-4E97-8440-CE0C66B33A93}"/>
              </a:ext>
            </a:extLst>
          </p:cNvPr>
          <p:cNvSpPr>
            <a:spLocks xmlns:a="http://schemas.openxmlformats.org/drawingml/2006/main" noGrp="1"/>
          </p:cNvSpPr>
          <p:nvPr/>
        </p:nvSpPr>
        <p:spPr>
          <a:xfrm xmlns:a="http://schemas.openxmlformats.org/drawingml/2006/main">
            <a:off x="6257925" y="4905375"/>
            <a:ext cx="5286375" cy="38100"/>
          </a:xfrm>
          <a:prstGeom xmlns:a="http://schemas.openxmlformats.org/drawingml/2006/main" prst="rect">
            <a:avLst/>
          </a:prstGeom>
          <a:solidFill xmlns:a="http://schemas.openxmlformats.org/drawingml/2006/main">
            <a:srgbClr val="BB591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2FB72E8-9582-4FA6-B400-8F3857F449A8}"/>
              </a:ext>
            </a:extLst>
          </p:cNvPr>
          <p:cNvSpPr>
            <a:spLocks xmlns:a="http://schemas.openxmlformats.org/drawingml/2006/main" noGrp="1"/>
          </p:cNvSpPr>
          <p:nvPr/>
        </p:nvSpPr>
        <p:spPr>
          <a:xfrm xmlns:a="http://schemas.openxmlformats.org/drawingml/2006/main">
            <a:off x="647700" y="511492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563A6"/>
                </a:solidFill>
                <a:latin typeface="Arial"/>
                <a:ea typeface="Arial"/>
                <a:cs typeface="Arial"/>
              </a:defRPr>
            </a:defPPr>
            <a:lvl1pPr>
              <a:buNone/>
              <a:defRPr sz="2025" b="1">
                <a:solidFill>
                  <a:srgbClr val="2563A6"/>
                </a:solidFill>
                <a:latin typeface="Arial"/>
                <a:ea typeface="Arial"/>
                <a:cs typeface="Arial"/>
              </a:defRPr>
            </a:lvl1pPr>
            <a:lvl2pPr>
              <a:buNone/>
              <a:defRPr sz="2025" b="1">
                <a:solidFill>
                  <a:srgbClr val="2563A6"/>
                </a:solidFill>
                <a:latin typeface="Arial"/>
                <a:ea typeface="Arial"/>
                <a:cs typeface="Arial"/>
              </a:defRPr>
            </a:lvl2pPr>
            <a:lvl3pPr>
              <a:buNone/>
              <a:defRPr sz="2025" b="1">
                <a:solidFill>
                  <a:srgbClr val="2563A6"/>
                </a:solidFill>
                <a:latin typeface="Arial"/>
                <a:ea typeface="Arial"/>
                <a:cs typeface="Arial"/>
              </a:defRPr>
            </a:lvl3pPr>
            <a:lvl4pPr>
              <a:buNone/>
              <a:defRPr sz="2025" b="1">
                <a:solidFill>
                  <a:srgbClr val="2563A6"/>
                </a:solidFill>
                <a:latin typeface="Arial"/>
                <a:ea typeface="Arial"/>
                <a:cs typeface="Arial"/>
              </a:defRPr>
            </a:lvl4pPr>
            <a:lvl5pPr>
              <a:buNone/>
              <a:defRPr sz="2025" b="1">
                <a:solidFill>
                  <a:srgbClr val="2563A6"/>
                </a:solidFill>
                <a:latin typeface="Arial"/>
                <a:ea typeface="Arial"/>
                <a:cs typeface="Arial"/>
              </a:defRPr>
            </a:lvl5pPr>
            <a:lvl6pPr>
              <a:buNone/>
              <a:defRPr sz="2025" b="1">
                <a:solidFill>
                  <a:srgbClr val="2563A6"/>
                </a:solidFill>
                <a:latin typeface="Arial"/>
                <a:ea typeface="Arial"/>
                <a:cs typeface="Arial"/>
              </a:defRPr>
            </a:lvl6pPr>
            <a:lvl7pPr>
              <a:buNone/>
              <a:defRPr sz="2025" b="1">
                <a:solidFill>
                  <a:srgbClr val="2563A6"/>
                </a:solidFill>
                <a:latin typeface="Arial"/>
                <a:ea typeface="Arial"/>
                <a:cs typeface="Arial"/>
              </a:defRPr>
            </a:lvl7pPr>
            <a:lvl8pPr>
              <a:buNone/>
              <a:defRPr sz="2025" b="1">
                <a:solidFill>
                  <a:srgbClr val="2563A6"/>
                </a:solidFill>
                <a:latin typeface="Arial"/>
                <a:ea typeface="Arial"/>
                <a:cs typeface="Arial"/>
              </a:defRPr>
            </a:lvl8pPr>
            <a:lvl9pPr>
              <a:buNone/>
              <a:defRPr sz="2025" b="1">
                <a:solidFill>
                  <a:srgbClr val="2563A6"/>
                </a:solidFill>
                <a:latin typeface="Arial"/>
                <a:ea typeface="Arial"/>
                <a:cs typeface="Arial"/>
              </a:defRPr>
            </a:lvl9pPr>
          </a:lstStyle>
          <a:p xmlns:a="http://schemas.openxmlformats.org/drawingml/2006/main">
            <a:pPr>
              <a:buNone/>
              <a:defRPr sz="2025" b="1">
                <a:solidFill>
                  <a:srgbClr val="2563A6"/>
                </a:solidFill>
                <a:latin typeface="Arial"/>
                <a:ea typeface="Arial"/>
                <a:cs typeface="Arial"/>
              </a:defRPr>
            </a:pPr>
            <a:r>
              <a:rPr sz="2025" b="1">
                <a:solidFill>
                  <a:srgbClr val="2563A6"/>
                </a:solidFill>
                <a:latin typeface="Arial"/>
                <a:ea typeface="Arial"/>
                <a:cs typeface="Arial"/>
              </a:rPr>
              <a:t>The practical need</a:t>
            </a:r>
          </a:p>
        </p:txBody>
      </p:sp>
      <p:sp>
        <p:nvSpPr>
          <p:cNvPr id="13" name="">
            <a:extLst xmlns:a="http://schemas.openxmlformats.org/drawingml/2006/main">
              <a:ext uri="{FF2B5EF4-FFF2-40B4-BE49-F238E27FC236}">
                <a16:creationId xmlns:a16="http://schemas.microsoft.com/office/drawing/2014/main" id="{674DB65F-ABBF-4757-88D2-103B4C0473CB}"/>
              </a:ext>
            </a:extLst>
          </p:cNvPr>
          <p:cNvSpPr>
            <a:spLocks xmlns:a="http://schemas.openxmlformats.org/drawingml/2006/main" noGrp="1"/>
          </p:cNvSpPr>
          <p:nvPr/>
        </p:nvSpPr>
        <p:spPr>
          <a:xfrm xmlns:a="http://schemas.openxmlformats.org/drawingml/2006/main">
            <a:off x="647700" y="55340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B3A"/>
                </a:solidFill>
                <a:latin typeface="Arial"/>
                <a:ea typeface="Arial"/>
                <a:cs typeface="Arial"/>
              </a:defRPr>
            </a:defPPr>
            <a:lvl1pPr>
              <a:buNone/>
              <a:defRPr sz="1875" b="0">
                <a:solidFill>
                  <a:srgbClr val="172B3A"/>
                </a:solidFill>
                <a:latin typeface="Arial"/>
                <a:ea typeface="Arial"/>
                <a:cs typeface="Arial"/>
              </a:defRPr>
            </a:lvl1pPr>
            <a:lvl2pPr>
              <a:buNone/>
              <a:defRPr sz="1875" b="0">
                <a:solidFill>
                  <a:srgbClr val="172B3A"/>
                </a:solidFill>
                <a:latin typeface="Arial"/>
                <a:ea typeface="Arial"/>
                <a:cs typeface="Arial"/>
              </a:defRPr>
            </a:lvl2pPr>
            <a:lvl3pPr>
              <a:buNone/>
              <a:defRPr sz="1875" b="0">
                <a:solidFill>
                  <a:srgbClr val="172B3A"/>
                </a:solidFill>
                <a:latin typeface="Arial"/>
                <a:ea typeface="Arial"/>
                <a:cs typeface="Arial"/>
              </a:defRPr>
            </a:lvl3pPr>
            <a:lvl4pPr>
              <a:buNone/>
              <a:defRPr sz="1875" b="0">
                <a:solidFill>
                  <a:srgbClr val="172B3A"/>
                </a:solidFill>
                <a:latin typeface="Arial"/>
                <a:ea typeface="Arial"/>
                <a:cs typeface="Arial"/>
              </a:defRPr>
            </a:lvl4pPr>
            <a:lvl5pPr>
              <a:buNone/>
              <a:defRPr sz="1875" b="0">
                <a:solidFill>
                  <a:srgbClr val="172B3A"/>
                </a:solidFill>
                <a:latin typeface="Arial"/>
                <a:ea typeface="Arial"/>
                <a:cs typeface="Arial"/>
              </a:defRPr>
            </a:lvl5pPr>
            <a:lvl6pPr>
              <a:buNone/>
              <a:defRPr sz="1875" b="0">
                <a:solidFill>
                  <a:srgbClr val="172B3A"/>
                </a:solidFill>
                <a:latin typeface="Arial"/>
                <a:ea typeface="Arial"/>
                <a:cs typeface="Arial"/>
              </a:defRPr>
            </a:lvl6pPr>
            <a:lvl7pPr>
              <a:buNone/>
              <a:defRPr sz="1875" b="0">
                <a:solidFill>
                  <a:srgbClr val="172B3A"/>
                </a:solidFill>
                <a:latin typeface="Arial"/>
                <a:ea typeface="Arial"/>
                <a:cs typeface="Arial"/>
              </a:defRPr>
            </a:lvl7pPr>
            <a:lvl8pPr>
              <a:buNone/>
              <a:defRPr sz="1875" b="0">
                <a:solidFill>
                  <a:srgbClr val="172B3A"/>
                </a:solidFill>
                <a:latin typeface="Arial"/>
                <a:ea typeface="Arial"/>
                <a:cs typeface="Arial"/>
              </a:defRPr>
            </a:lvl8pPr>
            <a:lvl9pPr>
              <a:buNone/>
              <a:defRPr sz="1875" b="0">
                <a:solidFill>
                  <a:srgbClr val="172B3A"/>
                </a:solidFill>
                <a:latin typeface="Arial"/>
                <a:ea typeface="Arial"/>
                <a:cs typeface="Arial"/>
              </a:defRPr>
            </a:lvl9pPr>
          </a:lstStyle>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Reliable labels require human effort.</a:t>
            </a:r>
          </a:p>
        </p:txBody>
      </p:sp>
      <p:sp>
        <p:nvSpPr>
          <p:cNvPr id="14" name="">
            <a:extLst xmlns:a="http://schemas.openxmlformats.org/drawingml/2006/main">
              <a:ext uri="{FF2B5EF4-FFF2-40B4-BE49-F238E27FC236}">
                <a16:creationId xmlns:a16="http://schemas.microsoft.com/office/drawing/2014/main" id="{C57B13A2-635C-429C-A848-5B37D3387A06}"/>
              </a:ext>
            </a:extLst>
          </p:cNvPr>
          <p:cNvSpPr>
            <a:spLocks xmlns:a="http://schemas.openxmlformats.org/drawingml/2006/main" noGrp="1"/>
          </p:cNvSpPr>
          <p:nvPr/>
        </p:nvSpPr>
        <p:spPr>
          <a:xfrm xmlns:a="http://schemas.openxmlformats.org/drawingml/2006/main">
            <a:off x="6257925" y="51149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B591B"/>
                </a:solidFill>
                <a:latin typeface="Arial"/>
                <a:ea typeface="Arial"/>
                <a:cs typeface="Arial"/>
              </a:defRPr>
            </a:defPPr>
            <a:lvl1pPr>
              <a:buNone/>
              <a:defRPr sz="2025" b="1">
                <a:solidFill>
                  <a:srgbClr val="BB591B"/>
                </a:solidFill>
                <a:latin typeface="Arial"/>
                <a:ea typeface="Arial"/>
                <a:cs typeface="Arial"/>
              </a:defRPr>
            </a:lvl1pPr>
            <a:lvl2pPr>
              <a:buNone/>
              <a:defRPr sz="2025" b="1">
                <a:solidFill>
                  <a:srgbClr val="BB591B"/>
                </a:solidFill>
                <a:latin typeface="Arial"/>
                <a:ea typeface="Arial"/>
                <a:cs typeface="Arial"/>
              </a:defRPr>
            </a:lvl2pPr>
            <a:lvl3pPr>
              <a:buNone/>
              <a:defRPr sz="2025" b="1">
                <a:solidFill>
                  <a:srgbClr val="BB591B"/>
                </a:solidFill>
                <a:latin typeface="Arial"/>
                <a:ea typeface="Arial"/>
                <a:cs typeface="Arial"/>
              </a:defRPr>
            </a:lvl3pPr>
            <a:lvl4pPr>
              <a:buNone/>
              <a:defRPr sz="2025" b="1">
                <a:solidFill>
                  <a:srgbClr val="BB591B"/>
                </a:solidFill>
                <a:latin typeface="Arial"/>
                <a:ea typeface="Arial"/>
                <a:cs typeface="Arial"/>
              </a:defRPr>
            </a:lvl4pPr>
            <a:lvl5pPr>
              <a:buNone/>
              <a:defRPr sz="2025" b="1">
                <a:solidFill>
                  <a:srgbClr val="BB591B"/>
                </a:solidFill>
                <a:latin typeface="Arial"/>
                <a:ea typeface="Arial"/>
                <a:cs typeface="Arial"/>
              </a:defRPr>
            </a:lvl5pPr>
            <a:lvl6pPr>
              <a:buNone/>
              <a:defRPr sz="2025" b="1">
                <a:solidFill>
                  <a:srgbClr val="BB591B"/>
                </a:solidFill>
                <a:latin typeface="Arial"/>
                <a:ea typeface="Arial"/>
                <a:cs typeface="Arial"/>
              </a:defRPr>
            </a:lvl6pPr>
            <a:lvl7pPr>
              <a:buNone/>
              <a:defRPr sz="2025" b="1">
                <a:solidFill>
                  <a:srgbClr val="BB591B"/>
                </a:solidFill>
                <a:latin typeface="Arial"/>
                <a:ea typeface="Arial"/>
                <a:cs typeface="Arial"/>
              </a:defRPr>
            </a:lvl7pPr>
            <a:lvl8pPr>
              <a:buNone/>
              <a:defRPr sz="2025" b="1">
                <a:solidFill>
                  <a:srgbClr val="BB591B"/>
                </a:solidFill>
                <a:latin typeface="Arial"/>
                <a:ea typeface="Arial"/>
                <a:cs typeface="Arial"/>
              </a:defRPr>
            </a:lvl8pPr>
            <a:lvl9pPr>
              <a:buNone/>
              <a:defRPr sz="2025" b="1">
                <a:solidFill>
                  <a:srgbClr val="BB591B"/>
                </a:solidFill>
                <a:latin typeface="Arial"/>
                <a:ea typeface="Arial"/>
                <a:cs typeface="Arial"/>
              </a:defRPr>
            </a:lvl9pPr>
          </a:lstStyle>
          <a:p xmlns:a="http://schemas.openxmlformats.org/drawingml/2006/main">
            <a:pPr>
              <a:buNone/>
              <a:defRPr sz="2025" b="1">
                <a:solidFill>
                  <a:srgbClr val="BB591B"/>
                </a:solidFill>
                <a:latin typeface="Arial"/>
                <a:ea typeface="Arial"/>
                <a:cs typeface="Arial"/>
              </a:defRPr>
            </a:pPr>
            <a:r>
              <a:rPr sz="2025" b="1">
                <a:solidFill>
                  <a:srgbClr val="BB591B"/>
                </a:solidFill>
                <a:latin typeface="Arial"/>
                <a:ea typeface="Arial"/>
                <a:cs typeface="Arial"/>
              </a:rPr>
              <a:t>The research opportunity</a:t>
            </a:r>
          </a:p>
        </p:txBody>
      </p:sp>
      <p:sp>
        <p:nvSpPr>
          <p:cNvPr id="15" name="">
            <a:extLst xmlns:a="http://schemas.openxmlformats.org/drawingml/2006/main">
              <a:ext uri="{FF2B5EF4-FFF2-40B4-BE49-F238E27FC236}">
                <a16:creationId xmlns:a16="http://schemas.microsoft.com/office/drawing/2014/main" id="{1B6B4336-50AD-4DE7-AC45-ADE284C090B1}"/>
              </a:ext>
            </a:extLst>
          </p:cNvPr>
          <p:cNvSpPr>
            <a:spLocks xmlns:a="http://schemas.openxmlformats.org/drawingml/2006/main" noGrp="1"/>
          </p:cNvSpPr>
          <p:nvPr/>
        </p:nvSpPr>
        <p:spPr>
          <a:xfrm xmlns:a="http://schemas.openxmlformats.org/drawingml/2006/main">
            <a:off x="6257925" y="5534025"/>
            <a:ext cx="528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B3A"/>
                </a:solidFill>
                <a:latin typeface="Arial"/>
                <a:ea typeface="Arial"/>
                <a:cs typeface="Arial"/>
              </a:defRPr>
            </a:defPPr>
            <a:lvl1pPr>
              <a:buNone/>
              <a:defRPr sz="1875" b="0">
                <a:solidFill>
                  <a:srgbClr val="172B3A"/>
                </a:solidFill>
                <a:latin typeface="Arial"/>
                <a:ea typeface="Arial"/>
                <a:cs typeface="Arial"/>
              </a:defRPr>
            </a:lvl1pPr>
            <a:lvl2pPr>
              <a:buNone/>
              <a:defRPr sz="1875" b="0">
                <a:solidFill>
                  <a:srgbClr val="172B3A"/>
                </a:solidFill>
                <a:latin typeface="Arial"/>
                <a:ea typeface="Arial"/>
                <a:cs typeface="Arial"/>
              </a:defRPr>
            </a:lvl2pPr>
            <a:lvl3pPr>
              <a:buNone/>
              <a:defRPr sz="1875" b="0">
                <a:solidFill>
                  <a:srgbClr val="172B3A"/>
                </a:solidFill>
                <a:latin typeface="Arial"/>
                <a:ea typeface="Arial"/>
                <a:cs typeface="Arial"/>
              </a:defRPr>
            </a:lvl3pPr>
            <a:lvl4pPr>
              <a:buNone/>
              <a:defRPr sz="1875" b="0">
                <a:solidFill>
                  <a:srgbClr val="172B3A"/>
                </a:solidFill>
                <a:latin typeface="Arial"/>
                <a:ea typeface="Arial"/>
                <a:cs typeface="Arial"/>
              </a:defRPr>
            </a:lvl4pPr>
            <a:lvl5pPr>
              <a:buNone/>
              <a:defRPr sz="1875" b="0">
                <a:solidFill>
                  <a:srgbClr val="172B3A"/>
                </a:solidFill>
                <a:latin typeface="Arial"/>
                <a:ea typeface="Arial"/>
                <a:cs typeface="Arial"/>
              </a:defRPr>
            </a:lvl5pPr>
            <a:lvl6pPr>
              <a:buNone/>
              <a:defRPr sz="1875" b="0">
                <a:solidFill>
                  <a:srgbClr val="172B3A"/>
                </a:solidFill>
                <a:latin typeface="Arial"/>
                <a:ea typeface="Arial"/>
                <a:cs typeface="Arial"/>
              </a:defRPr>
            </a:lvl6pPr>
            <a:lvl7pPr>
              <a:buNone/>
              <a:defRPr sz="1875" b="0">
                <a:solidFill>
                  <a:srgbClr val="172B3A"/>
                </a:solidFill>
                <a:latin typeface="Arial"/>
                <a:ea typeface="Arial"/>
                <a:cs typeface="Arial"/>
              </a:defRPr>
            </a:lvl7pPr>
            <a:lvl8pPr>
              <a:buNone/>
              <a:defRPr sz="1875" b="0">
                <a:solidFill>
                  <a:srgbClr val="172B3A"/>
                </a:solidFill>
                <a:latin typeface="Arial"/>
                <a:ea typeface="Arial"/>
                <a:cs typeface="Arial"/>
              </a:defRPr>
            </a:lvl8pPr>
            <a:lvl9pPr>
              <a:buNone/>
              <a:defRPr sz="1875" b="0">
                <a:solidFill>
                  <a:srgbClr val="172B3A"/>
                </a:solidFill>
                <a:latin typeface="Arial"/>
                <a:ea typeface="Arial"/>
                <a:cs typeface="Arial"/>
              </a:defRPr>
            </a:lvl9pPr>
          </a:lstStyle>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Reuse representations learned in advance.</a:t>
            </a:r>
          </a:p>
        </p:txBody>
      </p:sp>
      <p:sp>
        <p:nvSpPr>
          <p:cNvPr id="17" name="">
            <a:extLst xmlns:a="http://schemas.openxmlformats.org/drawingml/2006/main">
              <a:ext uri="{FF2B5EF4-FFF2-40B4-BE49-F238E27FC236}">
                <a16:creationId xmlns:a16="http://schemas.microsoft.com/office/drawing/2014/main" id="{652E660B-0D85-4C0A-BDBA-EFC186EED574}"/>
              </a:ext>
            </a:extLst>
          </p:cNvPr>
          <p:cNvSpPr>
            <a:spLocks xmlns:a="http://schemas.openxmlformats.org/drawingml/2006/main" noGrp="1"/>
          </p:cNvSpPr>
          <p:nvPr/>
        </p:nvSpPr>
        <p:spPr>
          <a:xfrm xmlns:a="http://schemas.openxmlformats.org/drawingml/2006/main">
            <a:off x="647700" y="362902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6324F"/>
                </a:solidFill>
                <a:latin typeface="Arial"/>
                <a:ea typeface="Arial"/>
                <a:cs typeface="Arial"/>
              </a:defRPr>
            </a:defPPr>
            <a:lvl1pPr>
              <a:defRPr sz="1725" b="1">
                <a:solidFill>
                  <a:srgbClr val="16324F"/>
                </a:solidFill>
                <a:latin typeface="Arial"/>
                <a:ea typeface="Arial"/>
                <a:cs typeface="Arial"/>
              </a:defRPr>
            </a:lvl1pPr>
            <a:lvl2pPr>
              <a:defRPr sz="1725" b="1">
                <a:solidFill>
                  <a:srgbClr val="16324F"/>
                </a:solidFill>
                <a:latin typeface="Arial"/>
                <a:ea typeface="Arial"/>
                <a:cs typeface="Arial"/>
              </a:defRPr>
            </a:lvl2pPr>
            <a:lvl3pPr>
              <a:defRPr sz="1725" b="1">
                <a:solidFill>
                  <a:srgbClr val="16324F"/>
                </a:solidFill>
                <a:latin typeface="Arial"/>
                <a:ea typeface="Arial"/>
                <a:cs typeface="Arial"/>
              </a:defRPr>
            </a:lvl3pPr>
            <a:lvl4pPr>
              <a:defRPr sz="1725" b="1">
                <a:solidFill>
                  <a:srgbClr val="16324F"/>
                </a:solidFill>
                <a:latin typeface="Arial"/>
                <a:ea typeface="Arial"/>
                <a:cs typeface="Arial"/>
              </a:defRPr>
            </a:lvl4pPr>
            <a:lvl5pPr>
              <a:defRPr sz="1725" b="1">
                <a:solidFill>
                  <a:srgbClr val="16324F"/>
                </a:solidFill>
                <a:latin typeface="Arial"/>
                <a:ea typeface="Arial"/>
                <a:cs typeface="Arial"/>
              </a:defRPr>
            </a:lvl5pPr>
            <a:lvl6pPr>
              <a:defRPr sz="1725" b="1">
                <a:solidFill>
                  <a:srgbClr val="16324F"/>
                </a:solidFill>
                <a:latin typeface="Arial"/>
                <a:ea typeface="Arial"/>
                <a:cs typeface="Arial"/>
              </a:defRPr>
            </a:lvl6pPr>
            <a:lvl7pPr>
              <a:defRPr sz="1725" b="1">
                <a:solidFill>
                  <a:srgbClr val="16324F"/>
                </a:solidFill>
                <a:latin typeface="Arial"/>
                <a:ea typeface="Arial"/>
                <a:cs typeface="Arial"/>
              </a:defRPr>
            </a:lvl7pPr>
            <a:lvl8pPr>
              <a:defRPr sz="1725" b="1">
                <a:solidFill>
                  <a:srgbClr val="16324F"/>
                </a:solidFill>
                <a:latin typeface="Arial"/>
                <a:ea typeface="Arial"/>
                <a:cs typeface="Arial"/>
              </a:defRPr>
            </a:lvl8pPr>
            <a:lvl9pPr>
              <a:defRPr sz="1725" b="1">
                <a:solidFill>
                  <a:srgbClr val="16324F"/>
                </a:solidFill>
                <a:latin typeface="Arial"/>
                <a:ea typeface="Arial"/>
                <a:cs typeface="Arial"/>
              </a:defRPr>
            </a:lvl9pPr>
          </a:lstStyle>
          <a:p xmlns:a="http://schemas.openxmlformats.org/drawingml/2006/main">
            <a:pPr>
              <a:defRPr sz="1725" b="1">
                <a:solidFill>
                  <a:srgbClr val="16324F"/>
                </a:solidFill>
                <a:latin typeface="Arial"/>
                <a:ea typeface="Arial"/>
                <a:cs typeface="Arial"/>
              </a:defRPr>
            </a:pPr>
            <a:r>
              <a:rPr sz="1725" b="1">
                <a:solidFill>
                  <a:srgbClr val="16324F"/>
                </a:solidFill>
                <a:latin typeface="Arial"/>
                <a:ea typeface="Arial"/>
                <a:cs typeface="Arial"/>
              </a:rPr>
              <a:t>Group 8  |  Zeyu Pan · Jiayu Liao · Yuhan Sun</a:t>
            </a:r>
          </a:p>
        </p:txBody>
      </p:sp>
    </p:spTree>
    <p:extLst>
      <p:ext uri="{BB962C8B-B14F-4D97-AF65-F5344CB8AC3E}">
        <p14:creationId xmlns:p14="http://schemas.microsoft.com/office/powerpoint/2010/main" val="11339094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B12B10-668D-4DAE-924C-D3598985FE4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32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BCA283-BD5C-42EA-9FA6-38288BD2E85D}"/>
              </a:ext>
            </a:extLst>
          </p:cNvPr>
          <p:cNvSpPr>
            <a:spLocks xmlns:a="http://schemas.openxmlformats.org/drawingml/2006/main" noGrp="1"/>
          </p:cNvSpPr>
          <p:nvPr/>
        </p:nvSpPr>
        <p:spPr>
          <a:xfrm xmlns:a="http://schemas.openxmlformats.org/drawingml/2006/main">
            <a:off x="609600" y="30480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526779"/>
                </a:solidFill>
                <a:latin typeface="Arial"/>
                <a:ea typeface="Arial"/>
                <a:cs typeface="Arial"/>
              </a:defRPr>
            </a:defPPr>
            <a:lvl1pPr>
              <a:buNone/>
              <a:defRPr sz="1350" b="1">
                <a:solidFill>
                  <a:srgbClr val="526779"/>
                </a:solidFill>
                <a:latin typeface="Arial"/>
                <a:ea typeface="Arial"/>
                <a:cs typeface="Arial"/>
              </a:defRPr>
            </a:lvl1pPr>
            <a:lvl2pPr>
              <a:buNone/>
              <a:defRPr sz="1350" b="1">
                <a:solidFill>
                  <a:srgbClr val="526779"/>
                </a:solidFill>
                <a:latin typeface="Arial"/>
                <a:ea typeface="Arial"/>
                <a:cs typeface="Arial"/>
              </a:defRPr>
            </a:lvl2pPr>
            <a:lvl3pPr>
              <a:buNone/>
              <a:defRPr sz="1350" b="1">
                <a:solidFill>
                  <a:srgbClr val="526779"/>
                </a:solidFill>
                <a:latin typeface="Arial"/>
                <a:ea typeface="Arial"/>
                <a:cs typeface="Arial"/>
              </a:defRPr>
            </a:lvl3pPr>
            <a:lvl4pPr>
              <a:buNone/>
              <a:defRPr sz="1350" b="1">
                <a:solidFill>
                  <a:srgbClr val="526779"/>
                </a:solidFill>
                <a:latin typeface="Arial"/>
                <a:ea typeface="Arial"/>
                <a:cs typeface="Arial"/>
              </a:defRPr>
            </a:lvl4pPr>
            <a:lvl5pPr>
              <a:buNone/>
              <a:defRPr sz="1350" b="1">
                <a:solidFill>
                  <a:srgbClr val="526779"/>
                </a:solidFill>
                <a:latin typeface="Arial"/>
                <a:ea typeface="Arial"/>
                <a:cs typeface="Arial"/>
              </a:defRPr>
            </a:lvl5pPr>
            <a:lvl6pPr>
              <a:buNone/>
              <a:defRPr sz="1350" b="1">
                <a:solidFill>
                  <a:srgbClr val="526779"/>
                </a:solidFill>
                <a:latin typeface="Arial"/>
                <a:ea typeface="Arial"/>
                <a:cs typeface="Arial"/>
              </a:defRPr>
            </a:lvl6pPr>
            <a:lvl7pPr>
              <a:buNone/>
              <a:defRPr sz="1350" b="1">
                <a:solidFill>
                  <a:srgbClr val="526779"/>
                </a:solidFill>
                <a:latin typeface="Arial"/>
                <a:ea typeface="Arial"/>
                <a:cs typeface="Arial"/>
              </a:defRPr>
            </a:lvl7pPr>
            <a:lvl8pPr>
              <a:buNone/>
              <a:defRPr sz="1350" b="1">
                <a:solidFill>
                  <a:srgbClr val="526779"/>
                </a:solidFill>
                <a:latin typeface="Arial"/>
                <a:ea typeface="Arial"/>
                <a:cs typeface="Arial"/>
              </a:defRPr>
            </a:lvl8pPr>
            <a:lvl9pPr>
              <a:buNone/>
              <a:defRPr sz="1350" b="1">
                <a:solidFill>
                  <a:srgbClr val="526779"/>
                </a:solidFill>
                <a:latin typeface="Arial"/>
                <a:ea typeface="Arial"/>
                <a:cs typeface="Arial"/>
              </a:defRPr>
            </a:lvl9pPr>
          </a:lstStyle>
          <a:p xmlns:a="http://schemas.openxmlformats.org/drawingml/2006/main">
            <a:pPr>
              <a:buNone/>
              <a:defRPr sz="1350" b="1">
                <a:solidFill>
                  <a:srgbClr val="526779"/>
                </a:solidFill>
                <a:latin typeface="Arial"/>
                <a:ea typeface="Arial"/>
                <a:cs typeface="Arial"/>
              </a:defRPr>
            </a:pPr>
            <a:r>
              <a:rPr sz="1350" b="1">
                <a:solidFill>
                  <a:srgbClr val="526779"/>
                </a:solidFill>
                <a:latin typeface="Arial"/>
                <a:ea typeface="Arial"/>
                <a:cs typeface="Arial"/>
              </a:rPr>
              <a:t>NEWSREPLAB  /  ICSI436 PROJECT P</a:t>
            </a:r>
          </a:p>
        </p:txBody>
      </p:sp>
      <p:sp>
        <p:nvSpPr>
          <p:cNvPr id="3" name="">
            <a:extLst xmlns:a="http://schemas.openxmlformats.org/drawingml/2006/main">
              <a:ext uri="{FF2B5EF4-FFF2-40B4-BE49-F238E27FC236}">
                <a16:creationId xmlns:a16="http://schemas.microsoft.com/office/drawing/2014/main" id="{F13A6D18-2F7E-4345-BFD2-4EA1225E3209}"/>
              </a:ext>
            </a:extLst>
          </p:cNvPr>
          <p:cNvSpPr>
            <a:spLocks xmlns:a="http://schemas.openxmlformats.org/drawingml/2006/main" noGrp="1"/>
          </p:cNvSpPr>
          <p:nvPr/>
        </p:nvSpPr>
        <p:spPr>
          <a:xfrm xmlns:a="http://schemas.openxmlformats.org/drawingml/2006/main">
            <a:off x="609600" y="76200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buNone/>
              <a:defRPr sz="3150" b="1">
                <a:solidFill>
                  <a:srgbClr val="16324F"/>
                </a:solidFill>
                <a:latin typeface="Arial"/>
                <a:ea typeface="Arial"/>
                <a:cs typeface="Arial"/>
              </a:defRPr>
            </a:lvl1pPr>
            <a:lvl2pPr>
              <a:buNone/>
              <a:defRPr sz="3150" b="1">
                <a:solidFill>
                  <a:srgbClr val="16324F"/>
                </a:solidFill>
                <a:latin typeface="Arial"/>
                <a:ea typeface="Arial"/>
                <a:cs typeface="Arial"/>
              </a:defRPr>
            </a:lvl2pPr>
            <a:lvl3pPr>
              <a:buNone/>
              <a:defRPr sz="3150" b="1">
                <a:solidFill>
                  <a:srgbClr val="16324F"/>
                </a:solidFill>
                <a:latin typeface="Arial"/>
                <a:ea typeface="Arial"/>
                <a:cs typeface="Arial"/>
              </a:defRPr>
            </a:lvl3pPr>
            <a:lvl4pPr>
              <a:buNone/>
              <a:defRPr sz="3150" b="1">
                <a:solidFill>
                  <a:srgbClr val="16324F"/>
                </a:solidFill>
                <a:latin typeface="Arial"/>
                <a:ea typeface="Arial"/>
                <a:cs typeface="Arial"/>
              </a:defRPr>
            </a:lvl4pPr>
            <a:lvl5pPr>
              <a:buNone/>
              <a:defRPr sz="3150" b="1">
                <a:solidFill>
                  <a:srgbClr val="16324F"/>
                </a:solidFill>
                <a:latin typeface="Arial"/>
                <a:ea typeface="Arial"/>
                <a:cs typeface="Arial"/>
              </a:defRPr>
            </a:lvl5pPr>
            <a:lvl6pPr>
              <a:buNone/>
              <a:defRPr sz="3150" b="1">
                <a:solidFill>
                  <a:srgbClr val="16324F"/>
                </a:solidFill>
                <a:latin typeface="Arial"/>
                <a:ea typeface="Arial"/>
                <a:cs typeface="Arial"/>
              </a:defRPr>
            </a:lvl6pPr>
            <a:lvl7pPr>
              <a:buNone/>
              <a:defRPr sz="3150" b="1">
                <a:solidFill>
                  <a:srgbClr val="16324F"/>
                </a:solidFill>
                <a:latin typeface="Arial"/>
                <a:ea typeface="Arial"/>
                <a:cs typeface="Arial"/>
              </a:defRPr>
            </a:lvl7pPr>
            <a:lvl8pPr>
              <a:buNone/>
              <a:defRPr sz="3150" b="1">
                <a:solidFill>
                  <a:srgbClr val="16324F"/>
                </a:solidFill>
                <a:latin typeface="Arial"/>
                <a:ea typeface="Arial"/>
                <a:cs typeface="Arial"/>
              </a:defRPr>
            </a:lvl8pPr>
            <a:lvl9pPr>
              <a:buNone/>
              <a:defRPr sz="3150" b="1">
                <a:solidFill>
                  <a:srgbClr val="16324F"/>
                </a:solidFill>
                <a:latin typeface="Arial"/>
                <a:ea typeface="Arial"/>
                <a:cs typeface="Arial"/>
              </a:defRPr>
            </a:lvl9pPr>
          </a:lstStyle>
          <a:p xmlns:a="http://schemas.openxmlformats.org/drawingml/2006/main">
            <a:pPr>
              <a:buNone/>
              <a:defRPr sz="3150" b="1">
                <a:solidFill>
                  <a:srgbClr val="16324F"/>
                </a:solidFill>
                <a:latin typeface="Arial"/>
                <a:ea typeface="Arial"/>
                <a:cs typeface="Arial"/>
              </a:defRPr>
            </a:pPr>
            <a:r>
              <a:rPr sz="3150" b="1">
                <a:solidFill>
                  <a:srgbClr val="16324F"/>
                </a:solidFill>
                <a:latin typeface="Arial"/>
                <a:ea typeface="Arial"/>
                <a:cs typeface="Arial"/>
              </a:rPr>
              <a:t>Research Question and Problem Setup</a:t>
            </a:r>
          </a:p>
        </p:txBody>
      </p:sp>
      <p:sp>
        <p:nvSpPr>
          <p:cNvPr id="4" name="">
            <a:extLst xmlns:a="http://schemas.openxmlformats.org/drawingml/2006/main">
              <a:ext uri="{FF2B5EF4-FFF2-40B4-BE49-F238E27FC236}">
                <a16:creationId xmlns:a16="http://schemas.microsoft.com/office/drawing/2014/main" id="{DE094E1D-231E-4B5A-BB62-BEC6E51A4CFD}"/>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CED8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7E1E6D-8690-44BB-8A21-571040D0F145}"/>
              </a:ext>
            </a:extLst>
          </p:cNvPr>
          <p:cNvSpPr>
            <a:spLocks xmlns:a="http://schemas.openxmlformats.org/drawingml/2006/main" noGrp="1"/>
          </p:cNvSpPr>
          <p:nvPr/>
        </p:nvSpPr>
        <p:spPr>
          <a:xfrm xmlns:a="http://schemas.openxmlformats.org/drawingml/2006/main">
            <a:off x="609600" y="646747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9"/>
                </a:solidFill>
                <a:latin typeface="Arial"/>
                <a:ea typeface="Arial"/>
                <a:cs typeface="Arial"/>
              </a:defRPr>
            </a:defPPr>
            <a:lvl1pPr>
              <a:buNone/>
              <a:defRPr sz="1275" b="0">
                <a:solidFill>
                  <a:srgbClr val="526779"/>
                </a:solidFill>
                <a:latin typeface="Arial"/>
                <a:ea typeface="Arial"/>
                <a:cs typeface="Arial"/>
              </a:defRPr>
            </a:lvl1pPr>
            <a:lvl2pPr>
              <a:buNone/>
              <a:defRPr sz="1275" b="0">
                <a:solidFill>
                  <a:srgbClr val="526779"/>
                </a:solidFill>
                <a:latin typeface="Arial"/>
                <a:ea typeface="Arial"/>
                <a:cs typeface="Arial"/>
              </a:defRPr>
            </a:lvl2pPr>
            <a:lvl3pPr>
              <a:buNone/>
              <a:defRPr sz="1275" b="0">
                <a:solidFill>
                  <a:srgbClr val="526779"/>
                </a:solidFill>
                <a:latin typeface="Arial"/>
                <a:ea typeface="Arial"/>
                <a:cs typeface="Arial"/>
              </a:defRPr>
            </a:lvl3pPr>
            <a:lvl4pPr>
              <a:buNone/>
              <a:defRPr sz="1275" b="0">
                <a:solidFill>
                  <a:srgbClr val="526779"/>
                </a:solidFill>
                <a:latin typeface="Arial"/>
                <a:ea typeface="Arial"/>
                <a:cs typeface="Arial"/>
              </a:defRPr>
            </a:lvl4pPr>
            <a:lvl5pPr>
              <a:buNone/>
              <a:defRPr sz="1275" b="0">
                <a:solidFill>
                  <a:srgbClr val="526779"/>
                </a:solidFill>
                <a:latin typeface="Arial"/>
                <a:ea typeface="Arial"/>
                <a:cs typeface="Arial"/>
              </a:defRPr>
            </a:lvl5pPr>
            <a:lvl6pPr>
              <a:buNone/>
              <a:defRPr sz="1275" b="0">
                <a:solidFill>
                  <a:srgbClr val="526779"/>
                </a:solidFill>
                <a:latin typeface="Arial"/>
                <a:ea typeface="Arial"/>
                <a:cs typeface="Arial"/>
              </a:defRPr>
            </a:lvl6pPr>
            <a:lvl7pPr>
              <a:buNone/>
              <a:defRPr sz="1275" b="0">
                <a:solidFill>
                  <a:srgbClr val="526779"/>
                </a:solidFill>
                <a:latin typeface="Arial"/>
                <a:ea typeface="Arial"/>
                <a:cs typeface="Arial"/>
              </a:defRPr>
            </a:lvl7pPr>
            <a:lvl8pPr>
              <a:buNone/>
              <a:defRPr sz="1275" b="0">
                <a:solidFill>
                  <a:srgbClr val="526779"/>
                </a:solidFill>
                <a:latin typeface="Arial"/>
                <a:ea typeface="Arial"/>
                <a:cs typeface="Arial"/>
              </a:defRPr>
            </a:lvl8pPr>
            <a:lvl9pPr>
              <a:buNone/>
              <a:defRPr sz="1275" b="0">
                <a:solidFill>
                  <a:srgbClr val="526779"/>
                </a:solidFill>
                <a:latin typeface="Arial"/>
                <a:ea typeface="Arial"/>
                <a:cs typeface="Arial"/>
              </a:defRPr>
            </a:lvl9pPr>
          </a:lstStyle>
          <a:p xmlns:a="http://schemas.openxmlformats.org/drawingml/2006/main">
            <a:pPr>
              <a:buNone/>
              <a:defRPr sz="1275" b="0">
                <a:solidFill>
                  <a:srgbClr val="526779"/>
                </a:solidFill>
                <a:latin typeface="Arial"/>
                <a:ea typeface="Arial"/>
                <a:cs typeface="Arial"/>
              </a:defRPr>
            </a:pPr>
            <a:r>
              <a:rPr sz="1275" b="0">
                <a:solidFill>
                  <a:srgbClr val="526779"/>
                </a:solidFill>
                <a:latin typeface="Arial"/>
                <a:ea typeface="Arial"/>
                <a:cs typeface="Arial"/>
              </a:rPr>
              <a:t>Midterm progress  •  Validation results only</a:t>
            </a:r>
          </a:p>
        </p:txBody>
      </p:sp>
      <p:sp>
        <p:nvSpPr>
          <p:cNvPr id="6" name="">
            <a:extLst xmlns:a="http://schemas.openxmlformats.org/drawingml/2006/main">
              <a:ext uri="{FF2B5EF4-FFF2-40B4-BE49-F238E27FC236}">
                <a16:creationId xmlns:a16="http://schemas.microsoft.com/office/drawing/2014/main" id="{5BACAB6E-573D-4AFB-900A-AA6887148713}"/>
              </a:ext>
            </a:extLst>
          </p:cNvPr>
          <p:cNvSpPr>
            <a:spLocks xmlns:a="http://schemas.openxmlformats.org/drawingml/2006/main" noGrp="1"/>
          </p:cNvSpPr>
          <p:nvPr/>
        </p:nvSpPr>
        <p:spPr>
          <a:xfrm xmlns:a="http://schemas.openxmlformats.org/drawingml/2006/main">
            <a:off x="10858500" y="64674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9"/>
                </a:solidFill>
                <a:latin typeface="Arial"/>
                <a:ea typeface="Arial"/>
                <a:cs typeface="Arial"/>
              </a:defRPr>
            </a:defPPr>
            <a:lvl1pPr>
              <a:buNone/>
              <a:defRPr sz="1275" b="0">
                <a:solidFill>
                  <a:srgbClr val="526779"/>
                </a:solidFill>
                <a:latin typeface="Arial"/>
                <a:ea typeface="Arial"/>
                <a:cs typeface="Arial"/>
              </a:defRPr>
            </a:lvl1pPr>
            <a:lvl2pPr>
              <a:buNone/>
              <a:defRPr sz="1275" b="0">
                <a:solidFill>
                  <a:srgbClr val="526779"/>
                </a:solidFill>
                <a:latin typeface="Arial"/>
                <a:ea typeface="Arial"/>
                <a:cs typeface="Arial"/>
              </a:defRPr>
            </a:lvl2pPr>
            <a:lvl3pPr>
              <a:buNone/>
              <a:defRPr sz="1275" b="0">
                <a:solidFill>
                  <a:srgbClr val="526779"/>
                </a:solidFill>
                <a:latin typeface="Arial"/>
                <a:ea typeface="Arial"/>
                <a:cs typeface="Arial"/>
              </a:defRPr>
            </a:lvl3pPr>
            <a:lvl4pPr>
              <a:buNone/>
              <a:defRPr sz="1275" b="0">
                <a:solidFill>
                  <a:srgbClr val="526779"/>
                </a:solidFill>
                <a:latin typeface="Arial"/>
                <a:ea typeface="Arial"/>
                <a:cs typeface="Arial"/>
              </a:defRPr>
            </a:lvl4pPr>
            <a:lvl5pPr>
              <a:buNone/>
              <a:defRPr sz="1275" b="0">
                <a:solidFill>
                  <a:srgbClr val="526779"/>
                </a:solidFill>
                <a:latin typeface="Arial"/>
                <a:ea typeface="Arial"/>
                <a:cs typeface="Arial"/>
              </a:defRPr>
            </a:lvl5pPr>
            <a:lvl6pPr>
              <a:buNone/>
              <a:defRPr sz="1275" b="0">
                <a:solidFill>
                  <a:srgbClr val="526779"/>
                </a:solidFill>
                <a:latin typeface="Arial"/>
                <a:ea typeface="Arial"/>
                <a:cs typeface="Arial"/>
              </a:defRPr>
            </a:lvl6pPr>
            <a:lvl7pPr>
              <a:buNone/>
              <a:defRPr sz="1275" b="0">
                <a:solidFill>
                  <a:srgbClr val="526779"/>
                </a:solidFill>
                <a:latin typeface="Arial"/>
                <a:ea typeface="Arial"/>
                <a:cs typeface="Arial"/>
              </a:defRPr>
            </a:lvl7pPr>
            <a:lvl8pPr>
              <a:buNone/>
              <a:defRPr sz="1275" b="0">
                <a:solidFill>
                  <a:srgbClr val="526779"/>
                </a:solidFill>
                <a:latin typeface="Arial"/>
                <a:ea typeface="Arial"/>
                <a:cs typeface="Arial"/>
              </a:defRPr>
            </a:lvl8pPr>
            <a:lvl9pPr>
              <a:buNone/>
              <a:defRPr sz="1275" b="0">
                <a:solidFill>
                  <a:srgbClr val="526779"/>
                </a:solidFill>
                <a:latin typeface="Arial"/>
                <a:ea typeface="Arial"/>
                <a:cs typeface="Arial"/>
              </a:defRPr>
            </a:lvl9pPr>
          </a:lstStyle>
          <a:p xmlns:a="http://schemas.openxmlformats.org/drawingml/2006/main">
            <a:pPr>
              <a:buNone/>
              <a:defRPr sz="1275" b="0">
                <a:solidFill>
                  <a:srgbClr val="526779"/>
                </a:solidFill>
                <a:latin typeface="Arial"/>
                <a:ea typeface="Arial"/>
                <a:cs typeface="Arial"/>
              </a:defRPr>
            </a:pPr>
            <a:r>
              <a:rPr sz="1275" b="0">
                <a:solidFill>
                  <a:srgbClr val="526779"/>
                </a:solidFill>
                <a:latin typeface="Arial"/>
                <a:ea typeface="Arial"/>
                <a:cs typeface="Arial"/>
              </a:rPr>
              <a:t>2 / 5</a:t>
            </a:r>
          </a:p>
        </p:txBody>
      </p:sp>
      <p:sp>
        <p:nvSpPr>
          <p:cNvPr id="7" name="">
            <a:extLst xmlns:a="http://schemas.openxmlformats.org/drawingml/2006/main">
              <a:ext uri="{FF2B5EF4-FFF2-40B4-BE49-F238E27FC236}">
                <a16:creationId xmlns:a16="http://schemas.microsoft.com/office/drawing/2014/main" id="{D613EA49-62CA-4A16-9A83-DCE7A0910A90}"/>
              </a:ext>
            </a:extLst>
          </p:cNvPr>
          <p:cNvSpPr>
            <a:spLocks xmlns:a="http://schemas.openxmlformats.org/drawingml/2006/main" noGrp="1"/>
          </p:cNvSpPr>
          <p:nvPr/>
        </p:nvSpPr>
        <p:spPr>
          <a:xfrm xmlns:a="http://schemas.openxmlformats.org/drawingml/2006/main">
            <a:off x="609600" y="15811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6324F"/>
                </a:solidFill>
                <a:latin typeface="Arial"/>
                <a:ea typeface="Arial"/>
                <a:cs typeface="Arial"/>
              </a:defRPr>
            </a:defPPr>
            <a:lvl1pPr>
              <a:buNone/>
              <a:defRPr sz="2475" b="1">
                <a:solidFill>
                  <a:srgbClr val="16324F"/>
                </a:solidFill>
                <a:latin typeface="Arial"/>
                <a:ea typeface="Arial"/>
                <a:cs typeface="Arial"/>
              </a:defRPr>
            </a:lvl1pPr>
            <a:lvl2pPr>
              <a:buNone/>
              <a:defRPr sz="2475" b="1">
                <a:solidFill>
                  <a:srgbClr val="16324F"/>
                </a:solidFill>
                <a:latin typeface="Arial"/>
                <a:ea typeface="Arial"/>
                <a:cs typeface="Arial"/>
              </a:defRPr>
            </a:lvl2pPr>
            <a:lvl3pPr>
              <a:buNone/>
              <a:defRPr sz="2475" b="1">
                <a:solidFill>
                  <a:srgbClr val="16324F"/>
                </a:solidFill>
                <a:latin typeface="Arial"/>
                <a:ea typeface="Arial"/>
                <a:cs typeface="Arial"/>
              </a:defRPr>
            </a:lvl3pPr>
            <a:lvl4pPr>
              <a:buNone/>
              <a:defRPr sz="2475" b="1">
                <a:solidFill>
                  <a:srgbClr val="16324F"/>
                </a:solidFill>
                <a:latin typeface="Arial"/>
                <a:ea typeface="Arial"/>
                <a:cs typeface="Arial"/>
              </a:defRPr>
            </a:lvl4pPr>
            <a:lvl5pPr>
              <a:buNone/>
              <a:defRPr sz="2475" b="1">
                <a:solidFill>
                  <a:srgbClr val="16324F"/>
                </a:solidFill>
                <a:latin typeface="Arial"/>
                <a:ea typeface="Arial"/>
                <a:cs typeface="Arial"/>
              </a:defRPr>
            </a:lvl5pPr>
            <a:lvl6pPr>
              <a:buNone/>
              <a:defRPr sz="2475" b="1">
                <a:solidFill>
                  <a:srgbClr val="16324F"/>
                </a:solidFill>
                <a:latin typeface="Arial"/>
                <a:ea typeface="Arial"/>
                <a:cs typeface="Arial"/>
              </a:defRPr>
            </a:lvl6pPr>
            <a:lvl7pPr>
              <a:buNone/>
              <a:defRPr sz="2475" b="1">
                <a:solidFill>
                  <a:srgbClr val="16324F"/>
                </a:solidFill>
                <a:latin typeface="Arial"/>
                <a:ea typeface="Arial"/>
                <a:cs typeface="Arial"/>
              </a:defRPr>
            </a:lvl7pPr>
            <a:lvl8pPr>
              <a:buNone/>
              <a:defRPr sz="2475" b="1">
                <a:solidFill>
                  <a:srgbClr val="16324F"/>
                </a:solidFill>
                <a:latin typeface="Arial"/>
                <a:ea typeface="Arial"/>
                <a:cs typeface="Arial"/>
              </a:defRPr>
            </a:lvl8pPr>
            <a:lvl9pPr>
              <a:buNone/>
              <a:defRPr sz="2475" b="1">
                <a:solidFill>
                  <a:srgbClr val="16324F"/>
                </a:solidFill>
                <a:latin typeface="Arial"/>
                <a:ea typeface="Arial"/>
                <a:cs typeface="Arial"/>
              </a:defRPr>
            </a:lvl9pPr>
          </a:lstStyle>
          <a:p xmlns:a="http://schemas.openxmlformats.org/drawingml/2006/main">
            <a:pPr>
              <a:buNone/>
              <a:defRPr sz="2475" b="1">
                <a:solidFill>
                  <a:srgbClr val="16324F"/>
                </a:solidFill>
                <a:latin typeface="Arial"/>
                <a:ea typeface="Arial"/>
                <a:cs typeface="Arial"/>
              </a:defRPr>
            </a:pPr>
            <a:r>
              <a:rPr sz="2475" b="1">
                <a:solidFill>
                  <a:srgbClr val="16324F"/>
                </a:solidFill>
                <a:latin typeface="Arial"/>
                <a:ea typeface="Arial"/>
                <a:cs typeface="Arial"/>
              </a:rPr>
              <a:t>With the same limited labels, do frozen MiniLM features</a:t>
            </a:r>
          </a:p>
          <a:p xmlns:a="http://schemas.openxmlformats.org/drawingml/2006/main">
            <a:pPr>
              <a:buNone/>
              <a:defRPr sz="2475" b="1">
                <a:solidFill>
                  <a:srgbClr val="16324F"/>
                </a:solidFill>
                <a:latin typeface="Arial"/>
                <a:ea typeface="Arial"/>
                <a:cs typeface="Arial"/>
              </a:defRPr>
            </a:pPr>
            <a:r>
              <a:rPr sz="2475" b="1">
                <a:solidFill>
                  <a:srgbClr val="16324F"/>
                </a:solidFill>
                <a:latin typeface="Arial"/>
                <a:ea typeface="Arial"/>
                <a:cs typeface="Arial"/>
              </a:rPr>
              <a:t>improve classification compared with TF-IDF?</a:t>
            </a:r>
          </a:p>
        </p:txBody>
      </p:sp>
      <p:sp>
        <p:nvSpPr>
          <p:cNvPr id="8" name="">
            <a:extLst xmlns:a="http://schemas.openxmlformats.org/drawingml/2006/main">
              <a:ext uri="{FF2B5EF4-FFF2-40B4-BE49-F238E27FC236}">
                <a16:creationId xmlns:a16="http://schemas.microsoft.com/office/drawing/2014/main" id="{6C496DD5-2D08-4835-A52A-576B58D06D9F}"/>
              </a:ext>
            </a:extLst>
          </p:cNvPr>
          <p:cNvSpPr>
            <a:spLocks xmlns:a="http://schemas.openxmlformats.org/drawingml/2006/main" noGrp="1"/>
          </p:cNvSpPr>
          <p:nvPr/>
        </p:nvSpPr>
        <p:spPr>
          <a:xfrm xmlns:a="http://schemas.openxmlformats.org/drawingml/2006/main">
            <a:off x="609600" y="26955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B3A"/>
                </a:solidFill>
                <a:latin typeface="Arial"/>
                <a:ea typeface="Arial"/>
                <a:cs typeface="Arial"/>
              </a:defRPr>
            </a:defPPr>
            <a:lvl1pPr>
              <a:buNone/>
              <a:defRPr sz="2025" b="0">
                <a:solidFill>
                  <a:srgbClr val="172B3A"/>
                </a:solidFill>
                <a:latin typeface="Arial"/>
                <a:ea typeface="Arial"/>
                <a:cs typeface="Arial"/>
              </a:defRPr>
            </a:lvl1pPr>
            <a:lvl2pPr>
              <a:buNone/>
              <a:defRPr sz="2025" b="0">
                <a:solidFill>
                  <a:srgbClr val="172B3A"/>
                </a:solidFill>
                <a:latin typeface="Arial"/>
                <a:ea typeface="Arial"/>
                <a:cs typeface="Arial"/>
              </a:defRPr>
            </a:lvl2pPr>
            <a:lvl3pPr>
              <a:buNone/>
              <a:defRPr sz="2025" b="0">
                <a:solidFill>
                  <a:srgbClr val="172B3A"/>
                </a:solidFill>
                <a:latin typeface="Arial"/>
                <a:ea typeface="Arial"/>
                <a:cs typeface="Arial"/>
              </a:defRPr>
            </a:lvl3pPr>
            <a:lvl4pPr>
              <a:buNone/>
              <a:defRPr sz="2025" b="0">
                <a:solidFill>
                  <a:srgbClr val="172B3A"/>
                </a:solidFill>
                <a:latin typeface="Arial"/>
                <a:ea typeface="Arial"/>
                <a:cs typeface="Arial"/>
              </a:defRPr>
            </a:lvl4pPr>
            <a:lvl5pPr>
              <a:buNone/>
              <a:defRPr sz="2025" b="0">
                <a:solidFill>
                  <a:srgbClr val="172B3A"/>
                </a:solidFill>
                <a:latin typeface="Arial"/>
                <a:ea typeface="Arial"/>
                <a:cs typeface="Arial"/>
              </a:defRPr>
            </a:lvl5pPr>
            <a:lvl6pPr>
              <a:buNone/>
              <a:defRPr sz="2025" b="0">
                <a:solidFill>
                  <a:srgbClr val="172B3A"/>
                </a:solidFill>
                <a:latin typeface="Arial"/>
                <a:ea typeface="Arial"/>
                <a:cs typeface="Arial"/>
              </a:defRPr>
            </a:lvl6pPr>
            <a:lvl7pPr>
              <a:buNone/>
              <a:defRPr sz="2025" b="0">
                <a:solidFill>
                  <a:srgbClr val="172B3A"/>
                </a:solidFill>
                <a:latin typeface="Arial"/>
                <a:ea typeface="Arial"/>
                <a:cs typeface="Arial"/>
              </a:defRPr>
            </a:lvl7pPr>
            <a:lvl8pPr>
              <a:buNone/>
              <a:defRPr sz="2025" b="0">
                <a:solidFill>
                  <a:srgbClr val="172B3A"/>
                </a:solidFill>
                <a:latin typeface="Arial"/>
                <a:ea typeface="Arial"/>
                <a:cs typeface="Arial"/>
              </a:defRPr>
            </a:lvl8pPr>
            <a:lvl9pPr>
              <a:buNone/>
              <a:defRPr sz="2025" b="0">
                <a:solidFill>
                  <a:srgbClr val="172B3A"/>
                </a:solidFill>
                <a:latin typeface="Arial"/>
                <a:ea typeface="Arial"/>
                <a:cs typeface="Arial"/>
              </a:defRPr>
            </a:lvl9pPr>
          </a:lstStyle>
          <a:p xmlns:a="http://schemas.openxmlformats.org/drawingml/2006/main">
            <a:pPr>
              <a:buNone/>
              <a:defRPr sz="2025" b="0">
                <a:solidFill>
                  <a:srgbClr val="172B3A"/>
                </a:solidFill>
                <a:latin typeface="Arial"/>
                <a:ea typeface="Arial"/>
                <a:cs typeface="Arial"/>
              </a:defRPr>
            </a:pPr>
            <a:r>
              <a:rPr sz="2025" b="0">
                <a:solidFill>
                  <a:srgbClr val="172B3A"/>
                </a:solidFill>
                <a:latin typeface="Arial"/>
                <a:ea typeface="Arial"/>
                <a:cs typeface="Arial"/>
              </a:rPr>
              <a:t>AG News: World  /  Sports  /  Business  /  Sci/Tech</a:t>
            </a:r>
          </a:p>
        </p:txBody>
      </p:sp>
      <p:graphicFrame>
        <p:nvGraphicFramePr>
          <p:cNvPr id="9" name="">
            <a:extLst xmlns:a="http://schemas.openxmlformats.org/drawingml/2006/main">
              <a:ext uri="{FF2B5EF4-FFF2-40B4-BE49-F238E27FC236}">
                <a16:creationId xmlns:a16="http://schemas.microsoft.com/office/drawing/2014/main" id="{418ED1FB-DE1B-44AA-9274-39E1E2C24B71}"/>
              </a:ext>
            </a:extLst>
          </p:cNvPr>
          <p:cNvGraphicFramePr/>
          <p:nvPr/>
        </p:nvGraphicFramePr>
        <p:xfrm>
          <a:off xmlns:a="http://schemas.openxmlformats.org/drawingml/2006/main" x="609600" y="3305175"/>
          <a:ext xmlns:a="http://schemas.openxmlformats.org/drawingml/2006/main" cx="10972800" cy="1809750"/>
        </p:xfrm>
        <a:graphic xmlns:a="http://schemas.openxmlformats.org/drawingml/2006/main">
          <a:graphicData uri="http://schemas.openxmlformats.org/drawingml/2006/table">
            <a:tbl>
              <a:tblPr/>
              <a:tblGrid>
                <a:gridCol w="2333625"/>
                <a:gridCol w="4048125"/>
                <a:gridCol w="4591050"/>
              </a:tblGrid>
              <a:tr h="603250">
                <a:tc>
                  <a:txBody>
                    <a:bodyPr/>
                    <a:lstStyle/>
                    <a:p>
                      <a:r>
                        <a:rPr sz="1875" b="1">
                          <a:solidFill>
                            <a:srgbClr val="FFFFFF"/>
                          </a:solidFill>
                          <a:latin typeface="Arial"/>
                          <a:ea typeface="Arial"/>
                          <a:cs typeface="Arial"/>
                        </a:rPr>
                        <a:t>Representation</a:t>
                      </a:r>
                    </a:p>
                  </a:txBody>
                  <a:tcPr marL="123825" marR="95250" marT="114300" marB="95250" anchor="ctr">
                    <a:lnL w="9525">
                      <a:solidFill>
                        <a:srgbClr val="CED8E1"/>
                      </a:solidFill>
                      <a:prstDash val="solid"/>
                    </a:lnL>
                    <a:lnR w="9525">
                      <a:solidFill>
                        <a:srgbClr val="CED8E1"/>
                      </a:solidFill>
                      <a:prstDash val="solid"/>
                    </a:lnR>
                    <a:lnT w="9525">
                      <a:solidFill>
                        <a:srgbClr val="CED8E1"/>
                      </a:solidFill>
                      <a:prstDash val="solid"/>
                    </a:lnT>
                    <a:lnB w="9525">
                      <a:solidFill>
                        <a:srgbClr val="CED8E1"/>
                      </a:solidFill>
                      <a:prstDash val="solid"/>
                    </a:lnB>
                    <a:solidFill>
                      <a:srgbClr val="16324F"/>
                    </a:solidFill>
                  </a:tcPr>
                </a:tc>
                <a:tc>
                  <a:txBody>
                    <a:bodyPr/>
                    <a:lstStyle/>
                    <a:p>
                      <a:r>
                        <a:rPr sz="1875" b="1">
                          <a:solidFill>
                            <a:srgbClr val="FFFFFF"/>
                          </a:solidFill>
                          <a:latin typeface="Arial"/>
                          <a:ea typeface="Arial"/>
                          <a:cs typeface="Arial"/>
                        </a:rPr>
                        <a:t>Features</a:t>
                      </a:r>
                    </a:p>
                  </a:txBody>
                  <a:tcPr marL="123825" marR="95250" marT="114300" marB="95250" anchor="ctr">
                    <a:lnR w="9525">
                      <a:solidFill>
                        <a:srgbClr val="CED8E1"/>
                      </a:solidFill>
                      <a:prstDash val="solid"/>
                    </a:lnR>
                    <a:lnT w="9525">
                      <a:solidFill>
                        <a:srgbClr val="CED8E1"/>
                      </a:solidFill>
                      <a:prstDash val="solid"/>
                    </a:lnT>
                    <a:lnB w="9525">
                      <a:solidFill>
                        <a:srgbClr val="CED8E1"/>
                      </a:solidFill>
                      <a:prstDash val="solid"/>
                    </a:lnB>
                    <a:solidFill>
                      <a:srgbClr val="16324F"/>
                    </a:solidFill>
                  </a:tcPr>
                </a:tc>
                <a:tc>
                  <a:txBody>
                    <a:bodyPr/>
                    <a:lstStyle/>
                    <a:p>
                      <a:r>
                        <a:rPr sz="1875" b="1">
                          <a:solidFill>
                            <a:srgbClr val="FFFFFF"/>
                          </a:solidFill>
                          <a:latin typeface="Arial"/>
                          <a:ea typeface="Arial"/>
                          <a:cs typeface="Arial"/>
                        </a:rPr>
                        <a:t>Supervised classifier</a:t>
                      </a:r>
                    </a:p>
                  </a:txBody>
                  <a:tcPr marL="123825" marR="95250" marT="114300" marB="95250" anchor="ctr">
                    <a:lnR w="9525">
                      <a:solidFill>
                        <a:srgbClr val="CED8E1"/>
                      </a:solidFill>
                      <a:prstDash val="solid"/>
                    </a:lnR>
                    <a:lnT w="9525">
                      <a:solidFill>
                        <a:srgbClr val="CED8E1"/>
                      </a:solidFill>
                      <a:prstDash val="solid"/>
                    </a:lnT>
                    <a:lnB w="9525">
                      <a:solidFill>
                        <a:srgbClr val="CED8E1"/>
                      </a:solidFill>
                      <a:prstDash val="solid"/>
                    </a:lnB>
                    <a:solidFill>
                      <a:srgbClr val="16324F"/>
                    </a:solidFill>
                  </a:tcPr>
                </a:tc>
              </a:tr>
              <a:tr h="603250">
                <a:tc>
                  <a:txBody>
                    <a:bodyPr/>
                    <a:lstStyle/>
                    <a:p>
                      <a:r>
                        <a:rPr sz="1875" b="1">
                          <a:solidFill>
                            <a:srgbClr val="2563A6"/>
                          </a:solidFill>
                          <a:latin typeface="Arial"/>
                          <a:ea typeface="Arial"/>
                          <a:cs typeface="Arial"/>
                        </a:rPr>
                        <a:t>TF-IDF</a:t>
                      </a:r>
                    </a:p>
                  </a:txBody>
                  <a:tcPr marL="123825" marR="95250" marT="114300" marB="95250" anchor="ctr">
                    <a:lnL w="9525">
                      <a:solidFill>
                        <a:srgbClr val="CED8E1"/>
                      </a:solidFill>
                      <a:prstDash val="solid"/>
                    </a:lnL>
                    <a:lnR w="9525">
                      <a:solidFill>
                        <a:srgbClr val="CED8E1"/>
                      </a:solidFill>
                      <a:prstDash val="solid"/>
                    </a:lnR>
                    <a:lnB w="9525">
                      <a:solidFill>
                        <a:srgbClr val="CED8E1"/>
                      </a:solidFill>
                      <a:prstDash val="solid"/>
                    </a:lnB>
                    <a:solidFill>
                      <a:srgbClr val="F2F6FA"/>
                    </a:solidFill>
                  </a:tcPr>
                </a:tc>
                <a:tc>
                  <a:txBody>
                    <a:bodyPr/>
                    <a:lstStyle/>
                    <a:p>
                      <a:r>
                        <a:rPr sz="1875" b="0">
                          <a:solidFill>
                            <a:srgbClr val="172B3A"/>
                          </a:solidFill>
                          <a:latin typeface="Arial"/>
                          <a:ea typeface="Arial"/>
                          <a:cs typeface="Arial"/>
                        </a:rPr>
                        <a:t>Word unigrams + bigrams</a:t>
                      </a:r>
                    </a:p>
                  </a:txBody>
                  <a:tcPr marL="123825" marR="95250" marT="114300" marB="95250" anchor="ctr">
                    <a:lnR w="9525">
                      <a:solidFill>
                        <a:srgbClr val="CED8E1"/>
                      </a:solidFill>
                      <a:prstDash val="solid"/>
                    </a:lnR>
                    <a:lnB w="9525">
                      <a:solidFill>
                        <a:srgbClr val="CED8E1"/>
                      </a:solidFill>
                      <a:prstDash val="solid"/>
                    </a:lnB>
                    <a:solidFill>
                      <a:srgbClr val="F2F6FA"/>
                    </a:solidFill>
                  </a:tcPr>
                </a:tc>
                <a:tc>
                  <a:txBody>
                    <a:bodyPr/>
                    <a:lstStyle/>
                    <a:p>
                      <a:r>
                        <a:rPr sz="1875" b="0">
                          <a:solidFill>
                            <a:srgbClr val="172B3A"/>
                          </a:solidFill>
                          <a:latin typeface="Arial"/>
                          <a:ea typeface="Arial"/>
                          <a:cs typeface="Arial"/>
                        </a:rPr>
                        <a:t>Multiclass Logistic Regression</a:t>
                      </a:r>
                    </a:p>
                  </a:txBody>
                  <a:tcPr marL="123825" marR="95250" marT="114300" marB="95250" anchor="ctr">
                    <a:lnR w="9525">
                      <a:solidFill>
                        <a:srgbClr val="CED8E1"/>
                      </a:solidFill>
                      <a:prstDash val="solid"/>
                    </a:lnR>
                    <a:lnB w="9525">
                      <a:solidFill>
                        <a:srgbClr val="CED8E1"/>
                      </a:solidFill>
                      <a:prstDash val="solid"/>
                    </a:lnB>
                    <a:solidFill>
                      <a:srgbClr val="F2F6FA"/>
                    </a:solidFill>
                  </a:tcPr>
                </a:tc>
              </a:tr>
              <a:tr h="603250">
                <a:tc>
                  <a:txBody>
                    <a:bodyPr/>
                    <a:lstStyle/>
                    <a:p>
                      <a:r>
                        <a:rPr sz="1875" b="1">
                          <a:solidFill>
                            <a:srgbClr val="BB591B"/>
                          </a:solidFill>
                          <a:latin typeface="Arial"/>
                          <a:ea typeface="Arial"/>
                          <a:cs typeface="Arial"/>
                        </a:rPr>
                        <a:t>Frozen MiniLM</a:t>
                      </a:r>
                    </a:p>
                  </a:txBody>
                  <a:tcPr marL="123825" marR="95250" marT="114300" marB="95250" anchor="ctr">
                    <a:lnL w="9525">
                      <a:solidFill>
                        <a:srgbClr val="CED8E1"/>
                      </a:solidFill>
                      <a:prstDash val="solid"/>
                    </a:lnL>
                    <a:lnR w="9525">
                      <a:solidFill>
                        <a:srgbClr val="CED8E1"/>
                      </a:solidFill>
                      <a:prstDash val="solid"/>
                    </a:lnR>
                    <a:lnB w="9525">
                      <a:solidFill>
                        <a:srgbClr val="CED8E1"/>
                      </a:solidFill>
                      <a:prstDash val="solid"/>
                    </a:lnB>
                    <a:solidFill>
                      <a:srgbClr val="FFFFFF"/>
                    </a:solidFill>
                  </a:tcPr>
                </a:tc>
                <a:tc>
                  <a:txBody>
                    <a:bodyPr/>
                    <a:lstStyle/>
                    <a:p>
                      <a:r>
                        <a:rPr sz="1875" b="0">
                          <a:solidFill>
                            <a:srgbClr val="172B3A"/>
                          </a:solidFill>
                          <a:latin typeface="Arial"/>
                          <a:ea typeface="Arial"/>
                          <a:cs typeface="Arial"/>
                        </a:rPr>
                        <a:t>384-dimensional embeddings</a:t>
                      </a:r>
                    </a:p>
                  </a:txBody>
                  <a:tcPr marL="123825" marR="95250" marT="114300" marB="95250" anchor="ctr">
                    <a:lnR w="9525">
                      <a:solidFill>
                        <a:srgbClr val="CED8E1"/>
                      </a:solidFill>
                      <a:prstDash val="solid"/>
                    </a:lnR>
                    <a:lnB w="9525">
                      <a:solidFill>
                        <a:srgbClr val="CED8E1"/>
                      </a:solidFill>
                      <a:prstDash val="solid"/>
                    </a:lnB>
                    <a:solidFill>
                      <a:srgbClr val="FFFFFF"/>
                    </a:solidFill>
                  </a:tcPr>
                </a:tc>
                <a:tc>
                  <a:txBody>
                    <a:bodyPr/>
                    <a:lstStyle/>
                    <a:p>
                      <a:r>
                        <a:rPr sz="1875" b="0">
                          <a:solidFill>
                            <a:srgbClr val="172B3A"/>
                          </a:solidFill>
                          <a:latin typeface="Arial"/>
                          <a:ea typeface="Arial"/>
                          <a:cs typeface="Arial"/>
                        </a:rPr>
                        <a:t>Multiclass Logistic Regression</a:t>
                      </a:r>
                    </a:p>
                  </a:txBody>
                  <a:tcPr marL="123825" marR="95250" marT="114300" marB="95250" anchor="ctr">
                    <a:lnR w="9525">
                      <a:solidFill>
                        <a:srgbClr val="CED8E1"/>
                      </a:solidFill>
                      <a:prstDash val="solid"/>
                    </a:lnR>
                    <a:lnB w="9525">
                      <a:solidFill>
                        <a:srgbClr val="CED8E1"/>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0CDBD09-59FD-4308-8732-353F5CFE5FDA}"/>
              </a:ext>
            </a:extLst>
          </p:cNvPr>
          <p:cNvSpPr>
            <a:spLocks xmlns:a="http://schemas.openxmlformats.org/drawingml/2006/main" noGrp="1"/>
          </p:cNvSpPr>
          <p:nvPr/>
        </p:nvSpPr>
        <p:spPr>
          <a:xfrm xmlns:a="http://schemas.openxmlformats.org/drawingml/2006/main">
            <a:off x="609600" y="5391150"/>
            <a:ext cx="542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324F"/>
                </a:solidFill>
                <a:latin typeface="Arial"/>
                <a:ea typeface="Arial"/>
                <a:cs typeface="Arial"/>
              </a:defRPr>
            </a:defPPr>
            <a:lvl1pPr>
              <a:buNone/>
              <a:defRPr sz="2025" b="1">
                <a:solidFill>
                  <a:srgbClr val="16324F"/>
                </a:solidFill>
                <a:latin typeface="Arial"/>
                <a:ea typeface="Arial"/>
                <a:cs typeface="Arial"/>
              </a:defRPr>
            </a:lvl1pPr>
            <a:lvl2pPr>
              <a:buNone/>
              <a:defRPr sz="2025" b="1">
                <a:solidFill>
                  <a:srgbClr val="16324F"/>
                </a:solidFill>
                <a:latin typeface="Arial"/>
                <a:ea typeface="Arial"/>
                <a:cs typeface="Arial"/>
              </a:defRPr>
            </a:lvl2pPr>
            <a:lvl3pPr>
              <a:buNone/>
              <a:defRPr sz="2025" b="1">
                <a:solidFill>
                  <a:srgbClr val="16324F"/>
                </a:solidFill>
                <a:latin typeface="Arial"/>
                <a:ea typeface="Arial"/>
                <a:cs typeface="Arial"/>
              </a:defRPr>
            </a:lvl3pPr>
            <a:lvl4pPr>
              <a:buNone/>
              <a:defRPr sz="2025" b="1">
                <a:solidFill>
                  <a:srgbClr val="16324F"/>
                </a:solidFill>
                <a:latin typeface="Arial"/>
                <a:ea typeface="Arial"/>
                <a:cs typeface="Arial"/>
              </a:defRPr>
            </a:lvl4pPr>
            <a:lvl5pPr>
              <a:buNone/>
              <a:defRPr sz="2025" b="1">
                <a:solidFill>
                  <a:srgbClr val="16324F"/>
                </a:solidFill>
                <a:latin typeface="Arial"/>
                <a:ea typeface="Arial"/>
                <a:cs typeface="Arial"/>
              </a:defRPr>
            </a:lvl5pPr>
            <a:lvl6pPr>
              <a:buNone/>
              <a:defRPr sz="2025" b="1">
                <a:solidFill>
                  <a:srgbClr val="16324F"/>
                </a:solidFill>
                <a:latin typeface="Arial"/>
                <a:ea typeface="Arial"/>
                <a:cs typeface="Arial"/>
              </a:defRPr>
            </a:lvl6pPr>
            <a:lvl7pPr>
              <a:buNone/>
              <a:defRPr sz="2025" b="1">
                <a:solidFill>
                  <a:srgbClr val="16324F"/>
                </a:solidFill>
                <a:latin typeface="Arial"/>
                <a:ea typeface="Arial"/>
                <a:cs typeface="Arial"/>
              </a:defRPr>
            </a:lvl7pPr>
            <a:lvl8pPr>
              <a:buNone/>
              <a:defRPr sz="2025" b="1">
                <a:solidFill>
                  <a:srgbClr val="16324F"/>
                </a:solidFill>
                <a:latin typeface="Arial"/>
                <a:ea typeface="Arial"/>
                <a:cs typeface="Arial"/>
              </a:defRPr>
            </a:lvl8pPr>
            <a:lvl9pPr>
              <a:buNone/>
              <a:defRPr sz="2025" b="1">
                <a:solidFill>
                  <a:srgbClr val="16324F"/>
                </a:solidFill>
                <a:latin typeface="Arial"/>
                <a:ea typeface="Arial"/>
                <a:cs typeface="Arial"/>
              </a:defRPr>
            </a:lvl9pPr>
          </a:lstStyle>
          <a:p xmlns:a="http://schemas.openxmlformats.org/drawingml/2006/main">
            <a:pPr>
              <a:buNone/>
              <a:defRPr sz="2025" b="1">
                <a:solidFill>
                  <a:srgbClr val="16324F"/>
                </a:solidFill>
                <a:latin typeface="Arial"/>
                <a:ea typeface="Arial"/>
                <a:cs typeface="Arial"/>
              </a:defRPr>
            </a:pPr>
            <a:r>
              <a:rPr sz="2025" b="1">
                <a:solidFill>
                  <a:srgbClr val="16324F"/>
                </a:solidFill>
                <a:latin typeface="Arial"/>
                <a:ea typeface="Arial"/>
                <a:cs typeface="Arial"/>
              </a:rPr>
              <a:t>100 or 400 balanced training examples</a:t>
            </a:r>
          </a:p>
        </p:txBody>
      </p:sp>
      <p:sp>
        <p:nvSpPr>
          <p:cNvPr id="11" name="">
            <a:extLst xmlns:a="http://schemas.openxmlformats.org/drawingml/2006/main">
              <a:ext uri="{FF2B5EF4-FFF2-40B4-BE49-F238E27FC236}">
                <a16:creationId xmlns:a16="http://schemas.microsoft.com/office/drawing/2014/main" id="{5512BB12-EB02-43B7-8E94-EEE3086B048A}"/>
              </a:ext>
            </a:extLst>
          </p:cNvPr>
          <p:cNvSpPr>
            <a:spLocks xmlns:a="http://schemas.openxmlformats.org/drawingml/2006/main" noGrp="1"/>
          </p:cNvSpPr>
          <p:nvPr/>
        </p:nvSpPr>
        <p:spPr>
          <a:xfrm xmlns:a="http://schemas.openxmlformats.org/drawingml/2006/main">
            <a:off x="6572250" y="5353050"/>
            <a:ext cx="4991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B3A"/>
                </a:solidFill>
                <a:latin typeface="Arial"/>
                <a:ea typeface="Arial"/>
                <a:cs typeface="Arial"/>
              </a:defRPr>
            </a:defPPr>
            <a:lvl1pPr>
              <a:buNone/>
              <a:defRPr sz="1875" b="0">
                <a:solidFill>
                  <a:srgbClr val="172B3A"/>
                </a:solidFill>
                <a:latin typeface="Arial"/>
                <a:ea typeface="Arial"/>
                <a:cs typeface="Arial"/>
              </a:defRPr>
            </a:lvl1pPr>
            <a:lvl2pPr>
              <a:buNone/>
              <a:defRPr sz="1875" b="0">
                <a:solidFill>
                  <a:srgbClr val="172B3A"/>
                </a:solidFill>
                <a:latin typeface="Arial"/>
                <a:ea typeface="Arial"/>
                <a:cs typeface="Arial"/>
              </a:defRPr>
            </a:lvl2pPr>
            <a:lvl3pPr>
              <a:buNone/>
              <a:defRPr sz="1875" b="0">
                <a:solidFill>
                  <a:srgbClr val="172B3A"/>
                </a:solidFill>
                <a:latin typeface="Arial"/>
                <a:ea typeface="Arial"/>
                <a:cs typeface="Arial"/>
              </a:defRPr>
            </a:lvl3pPr>
            <a:lvl4pPr>
              <a:buNone/>
              <a:defRPr sz="1875" b="0">
                <a:solidFill>
                  <a:srgbClr val="172B3A"/>
                </a:solidFill>
                <a:latin typeface="Arial"/>
                <a:ea typeface="Arial"/>
                <a:cs typeface="Arial"/>
              </a:defRPr>
            </a:lvl4pPr>
            <a:lvl5pPr>
              <a:buNone/>
              <a:defRPr sz="1875" b="0">
                <a:solidFill>
                  <a:srgbClr val="172B3A"/>
                </a:solidFill>
                <a:latin typeface="Arial"/>
                <a:ea typeface="Arial"/>
                <a:cs typeface="Arial"/>
              </a:defRPr>
            </a:lvl5pPr>
            <a:lvl6pPr>
              <a:buNone/>
              <a:defRPr sz="1875" b="0">
                <a:solidFill>
                  <a:srgbClr val="172B3A"/>
                </a:solidFill>
                <a:latin typeface="Arial"/>
                <a:ea typeface="Arial"/>
                <a:cs typeface="Arial"/>
              </a:defRPr>
            </a:lvl6pPr>
            <a:lvl7pPr>
              <a:buNone/>
              <a:defRPr sz="1875" b="0">
                <a:solidFill>
                  <a:srgbClr val="172B3A"/>
                </a:solidFill>
                <a:latin typeface="Arial"/>
                <a:ea typeface="Arial"/>
                <a:cs typeface="Arial"/>
              </a:defRPr>
            </a:lvl7pPr>
            <a:lvl8pPr>
              <a:buNone/>
              <a:defRPr sz="1875" b="0">
                <a:solidFill>
                  <a:srgbClr val="172B3A"/>
                </a:solidFill>
                <a:latin typeface="Arial"/>
                <a:ea typeface="Arial"/>
                <a:cs typeface="Arial"/>
              </a:defRPr>
            </a:lvl8pPr>
            <a:lvl9pPr>
              <a:buNone/>
              <a:defRPr sz="1875" b="0">
                <a:solidFill>
                  <a:srgbClr val="172B3A"/>
                </a:solidFill>
                <a:latin typeface="Arial"/>
                <a:ea typeface="Arial"/>
                <a:cs typeface="Arial"/>
              </a:defRPr>
            </a:lvl9pPr>
          </a:lstStyle>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Learn classifier weights + biases;</a:t>
            </a:r>
          </a:p>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keep pretrained MiniLM weights frozen.</a:t>
            </a:r>
          </a:p>
        </p:txBody>
      </p:sp>
    </p:spTree>
    <p:extLst>
      <p:ext uri="{BB962C8B-B14F-4D97-AF65-F5344CB8AC3E}">
        <p14:creationId xmlns:p14="http://schemas.microsoft.com/office/powerpoint/2010/main" val="19747222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DEC6BF-1879-4584-8261-66EDAA43A97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32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6B736D-BFCF-4169-90F1-EEAB4E07B021}"/>
              </a:ext>
            </a:extLst>
          </p:cNvPr>
          <p:cNvSpPr>
            <a:spLocks xmlns:a="http://schemas.openxmlformats.org/drawingml/2006/main" noGrp="1"/>
          </p:cNvSpPr>
          <p:nvPr/>
        </p:nvSpPr>
        <p:spPr>
          <a:xfrm xmlns:a="http://schemas.openxmlformats.org/drawingml/2006/main">
            <a:off x="609600" y="30480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526779"/>
                </a:solidFill>
                <a:latin typeface="Arial"/>
                <a:ea typeface="Arial"/>
                <a:cs typeface="Arial"/>
              </a:defRPr>
            </a:defPPr>
            <a:lvl1pPr>
              <a:buNone/>
              <a:defRPr sz="1350" b="1">
                <a:solidFill>
                  <a:srgbClr val="526779"/>
                </a:solidFill>
                <a:latin typeface="Arial"/>
                <a:ea typeface="Arial"/>
                <a:cs typeface="Arial"/>
              </a:defRPr>
            </a:lvl1pPr>
            <a:lvl2pPr>
              <a:buNone/>
              <a:defRPr sz="1350" b="1">
                <a:solidFill>
                  <a:srgbClr val="526779"/>
                </a:solidFill>
                <a:latin typeface="Arial"/>
                <a:ea typeface="Arial"/>
                <a:cs typeface="Arial"/>
              </a:defRPr>
            </a:lvl2pPr>
            <a:lvl3pPr>
              <a:buNone/>
              <a:defRPr sz="1350" b="1">
                <a:solidFill>
                  <a:srgbClr val="526779"/>
                </a:solidFill>
                <a:latin typeface="Arial"/>
                <a:ea typeface="Arial"/>
                <a:cs typeface="Arial"/>
              </a:defRPr>
            </a:lvl3pPr>
            <a:lvl4pPr>
              <a:buNone/>
              <a:defRPr sz="1350" b="1">
                <a:solidFill>
                  <a:srgbClr val="526779"/>
                </a:solidFill>
                <a:latin typeface="Arial"/>
                <a:ea typeface="Arial"/>
                <a:cs typeface="Arial"/>
              </a:defRPr>
            </a:lvl4pPr>
            <a:lvl5pPr>
              <a:buNone/>
              <a:defRPr sz="1350" b="1">
                <a:solidFill>
                  <a:srgbClr val="526779"/>
                </a:solidFill>
                <a:latin typeface="Arial"/>
                <a:ea typeface="Arial"/>
                <a:cs typeface="Arial"/>
              </a:defRPr>
            </a:lvl5pPr>
            <a:lvl6pPr>
              <a:buNone/>
              <a:defRPr sz="1350" b="1">
                <a:solidFill>
                  <a:srgbClr val="526779"/>
                </a:solidFill>
                <a:latin typeface="Arial"/>
                <a:ea typeface="Arial"/>
                <a:cs typeface="Arial"/>
              </a:defRPr>
            </a:lvl6pPr>
            <a:lvl7pPr>
              <a:buNone/>
              <a:defRPr sz="1350" b="1">
                <a:solidFill>
                  <a:srgbClr val="526779"/>
                </a:solidFill>
                <a:latin typeface="Arial"/>
                <a:ea typeface="Arial"/>
                <a:cs typeface="Arial"/>
              </a:defRPr>
            </a:lvl7pPr>
            <a:lvl8pPr>
              <a:buNone/>
              <a:defRPr sz="1350" b="1">
                <a:solidFill>
                  <a:srgbClr val="526779"/>
                </a:solidFill>
                <a:latin typeface="Arial"/>
                <a:ea typeface="Arial"/>
                <a:cs typeface="Arial"/>
              </a:defRPr>
            </a:lvl8pPr>
            <a:lvl9pPr>
              <a:buNone/>
              <a:defRPr sz="1350" b="1">
                <a:solidFill>
                  <a:srgbClr val="526779"/>
                </a:solidFill>
                <a:latin typeface="Arial"/>
                <a:ea typeface="Arial"/>
                <a:cs typeface="Arial"/>
              </a:defRPr>
            </a:lvl9pPr>
          </a:lstStyle>
          <a:p xmlns:a="http://schemas.openxmlformats.org/drawingml/2006/main">
            <a:pPr>
              <a:buNone/>
              <a:defRPr sz="1350" b="1">
                <a:solidFill>
                  <a:srgbClr val="526779"/>
                </a:solidFill>
                <a:latin typeface="Arial"/>
                <a:ea typeface="Arial"/>
                <a:cs typeface="Arial"/>
              </a:defRPr>
            </a:pPr>
            <a:r>
              <a:rPr sz="1350" b="1">
                <a:solidFill>
                  <a:srgbClr val="526779"/>
                </a:solidFill>
                <a:latin typeface="Arial"/>
                <a:ea typeface="Arial"/>
                <a:cs typeface="Arial"/>
              </a:rPr>
              <a:t>NEWSREPLAB  /  ICSI436 PROJECT P</a:t>
            </a:r>
          </a:p>
        </p:txBody>
      </p:sp>
      <p:sp>
        <p:nvSpPr>
          <p:cNvPr id="3" name="">
            <a:extLst xmlns:a="http://schemas.openxmlformats.org/drawingml/2006/main">
              <a:ext uri="{FF2B5EF4-FFF2-40B4-BE49-F238E27FC236}">
                <a16:creationId xmlns:a16="http://schemas.microsoft.com/office/drawing/2014/main" id="{BC73E275-4A0E-4F7B-A187-C42BE14477A6}"/>
              </a:ext>
            </a:extLst>
          </p:cNvPr>
          <p:cNvSpPr>
            <a:spLocks xmlns:a="http://schemas.openxmlformats.org/drawingml/2006/main" noGrp="1"/>
          </p:cNvSpPr>
          <p:nvPr/>
        </p:nvSpPr>
        <p:spPr>
          <a:xfrm xmlns:a="http://schemas.openxmlformats.org/drawingml/2006/main">
            <a:off x="609600" y="76200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buNone/>
              <a:defRPr sz="3150" b="1">
                <a:solidFill>
                  <a:srgbClr val="16324F"/>
                </a:solidFill>
                <a:latin typeface="Arial"/>
                <a:ea typeface="Arial"/>
                <a:cs typeface="Arial"/>
              </a:defRPr>
            </a:lvl1pPr>
            <a:lvl2pPr>
              <a:buNone/>
              <a:defRPr sz="3150" b="1">
                <a:solidFill>
                  <a:srgbClr val="16324F"/>
                </a:solidFill>
                <a:latin typeface="Arial"/>
                <a:ea typeface="Arial"/>
                <a:cs typeface="Arial"/>
              </a:defRPr>
            </a:lvl2pPr>
            <a:lvl3pPr>
              <a:buNone/>
              <a:defRPr sz="3150" b="1">
                <a:solidFill>
                  <a:srgbClr val="16324F"/>
                </a:solidFill>
                <a:latin typeface="Arial"/>
                <a:ea typeface="Arial"/>
                <a:cs typeface="Arial"/>
              </a:defRPr>
            </a:lvl3pPr>
            <a:lvl4pPr>
              <a:buNone/>
              <a:defRPr sz="3150" b="1">
                <a:solidFill>
                  <a:srgbClr val="16324F"/>
                </a:solidFill>
                <a:latin typeface="Arial"/>
                <a:ea typeface="Arial"/>
                <a:cs typeface="Arial"/>
              </a:defRPr>
            </a:lvl4pPr>
            <a:lvl5pPr>
              <a:buNone/>
              <a:defRPr sz="3150" b="1">
                <a:solidFill>
                  <a:srgbClr val="16324F"/>
                </a:solidFill>
                <a:latin typeface="Arial"/>
                <a:ea typeface="Arial"/>
                <a:cs typeface="Arial"/>
              </a:defRPr>
            </a:lvl5pPr>
            <a:lvl6pPr>
              <a:buNone/>
              <a:defRPr sz="3150" b="1">
                <a:solidFill>
                  <a:srgbClr val="16324F"/>
                </a:solidFill>
                <a:latin typeface="Arial"/>
                <a:ea typeface="Arial"/>
                <a:cs typeface="Arial"/>
              </a:defRPr>
            </a:lvl6pPr>
            <a:lvl7pPr>
              <a:buNone/>
              <a:defRPr sz="3150" b="1">
                <a:solidFill>
                  <a:srgbClr val="16324F"/>
                </a:solidFill>
                <a:latin typeface="Arial"/>
                <a:ea typeface="Arial"/>
                <a:cs typeface="Arial"/>
              </a:defRPr>
            </a:lvl7pPr>
            <a:lvl8pPr>
              <a:buNone/>
              <a:defRPr sz="3150" b="1">
                <a:solidFill>
                  <a:srgbClr val="16324F"/>
                </a:solidFill>
                <a:latin typeface="Arial"/>
                <a:ea typeface="Arial"/>
                <a:cs typeface="Arial"/>
              </a:defRPr>
            </a:lvl8pPr>
            <a:lvl9pPr>
              <a:buNone/>
              <a:defRPr sz="3150" b="1">
                <a:solidFill>
                  <a:srgbClr val="16324F"/>
                </a:solidFill>
                <a:latin typeface="Arial"/>
                <a:ea typeface="Arial"/>
                <a:cs typeface="Arial"/>
              </a:defRPr>
            </a:lvl9pPr>
          </a:lstStyle>
          <a:p xmlns:a="http://schemas.openxmlformats.org/drawingml/2006/main">
            <a:pPr>
              <a:buNone/>
              <a:defRPr sz="3150" b="1">
                <a:solidFill>
                  <a:srgbClr val="16324F"/>
                </a:solidFill>
                <a:latin typeface="Arial"/>
                <a:ea typeface="Arial"/>
                <a:cs typeface="Arial"/>
              </a:defRPr>
            </a:pPr>
            <a:r>
              <a:rPr sz="3150" b="1">
                <a:solidFill>
                  <a:srgbClr val="16324F"/>
                </a:solidFill>
                <a:latin typeface="Arial"/>
                <a:ea typeface="Arial"/>
                <a:cs typeface="Arial"/>
              </a:rPr>
              <a:t>Methodology and Experimental Design</a:t>
            </a:r>
          </a:p>
        </p:txBody>
      </p:sp>
      <p:sp>
        <p:nvSpPr>
          <p:cNvPr id="4" name="">
            <a:extLst xmlns:a="http://schemas.openxmlformats.org/drawingml/2006/main">
              <a:ext uri="{FF2B5EF4-FFF2-40B4-BE49-F238E27FC236}">
                <a16:creationId xmlns:a16="http://schemas.microsoft.com/office/drawing/2014/main" id="{4DAE5152-29C7-4F08-949A-5BD53F552E91}"/>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CED8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1ABB4A-53F2-44E2-AAEF-14B5D39587E6}"/>
              </a:ext>
            </a:extLst>
          </p:cNvPr>
          <p:cNvSpPr>
            <a:spLocks xmlns:a="http://schemas.openxmlformats.org/drawingml/2006/main" noGrp="1"/>
          </p:cNvSpPr>
          <p:nvPr/>
        </p:nvSpPr>
        <p:spPr>
          <a:xfrm xmlns:a="http://schemas.openxmlformats.org/drawingml/2006/main">
            <a:off x="609600" y="646747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9"/>
                </a:solidFill>
                <a:latin typeface="Arial"/>
                <a:ea typeface="Arial"/>
                <a:cs typeface="Arial"/>
              </a:defRPr>
            </a:defPPr>
            <a:lvl1pPr>
              <a:buNone/>
              <a:defRPr sz="1275" b="0">
                <a:solidFill>
                  <a:srgbClr val="526779"/>
                </a:solidFill>
                <a:latin typeface="Arial"/>
                <a:ea typeface="Arial"/>
                <a:cs typeface="Arial"/>
              </a:defRPr>
            </a:lvl1pPr>
            <a:lvl2pPr>
              <a:buNone/>
              <a:defRPr sz="1275" b="0">
                <a:solidFill>
                  <a:srgbClr val="526779"/>
                </a:solidFill>
                <a:latin typeface="Arial"/>
                <a:ea typeface="Arial"/>
                <a:cs typeface="Arial"/>
              </a:defRPr>
            </a:lvl2pPr>
            <a:lvl3pPr>
              <a:buNone/>
              <a:defRPr sz="1275" b="0">
                <a:solidFill>
                  <a:srgbClr val="526779"/>
                </a:solidFill>
                <a:latin typeface="Arial"/>
                <a:ea typeface="Arial"/>
                <a:cs typeface="Arial"/>
              </a:defRPr>
            </a:lvl3pPr>
            <a:lvl4pPr>
              <a:buNone/>
              <a:defRPr sz="1275" b="0">
                <a:solidFill>
                  <a:srgbClr val="526779"/>
                </a:solidFill>
                <a:latin typeface="Arial"/>
                <a:ea typeface="Arial"/>
                <a:cs typeface="Arial"/>
              </a:defRPr>
            </a:lvl4pPr>
            <a:lvl5pPr>
              <a:buNone/>
              <a:defRPr sz="1275" b="0">
                <a:solidFill>
                  <a:srgbClr val="526779"/>
                </a:solidFill>
                <a:latin typeface="Arial"/>
                <a:ea typeface="Arial"/>
                <a:cs typeface="Arial"/>
              </a:defRPr>
            </a:lvl5pPr>
            <a:lvl6pPr>
              <a:buNone/>
              <a:defRPr sz="1275" b="0">
                <a:solidFill>
                  <a:srgbClr val="526779"/>
                </a:solidFill>
                <a:latin typeface="Arial"/>
                <a:ea typeface="Arial"/>
                <a:cs typeface="Arial"/>
              </a:defRPr>
            </a:lvl6pPr>
            <a:lvl7pPr>
              <a:buNone/>
              <a:defRPr sz="1275" b="0">
                <a:solidFill>
                  <a:srgbClr val="526779"/>
                </a:solidFill>
                <a:latin typeface="Arial"/>
                <a:ea typeface="Arial"/>
                <a:cs typeface="Arial"/>
              </a:defRPr>
            </a:lvl7pPr>
            <a:lvl8pPr>
              <a:buNone/>
              <a:defRPr sz="1275" b="0">
                <a:solidFill>
                  <a:srgbClr val="526779"/>
                </a:solidFill>
                <a:latin typeface="Arial"/>
                <a:ea typeface="Arial"/>
                <a:cs typeface="Arial"/>
              </a:defRPr>
            </a:lvl8pPr>
            <a:lvl9pPr>
              <a:buNone/>
              <a:defRPr sz="1275" b="0">
                <a:solidFill>
                  <a:srgbClr val="526779"/>
                </a:solidFill>
                <a:latin typeface="Arial"/>
                <a:ea typeface="Arial"/>
                <a:cs typeface="Arial"/>
              </a:defRPr>
            </a:lvl9pPr>
          </a:lstStyle>
          <a:p xmlns:a="http://schemas.openxmlformats.org/drawingml/2006/main">
            <a:pPr>
              <a:buNone/>
              <a:defRPr sz="1275" b="0">
                <a:solidFill>
                  <a:srgbClr val="526779"/>
                </a:solidFill>
                <a:latin typeface="Arial"/>
                <a:ea typeface="Arial"/>
                <a:cs typeface="Arial"/>
              </a:defRPr>
            </a:pPr>
            <a:r>
              <a:rPr sz="1275" b="0">
                <a:solidFill>
                  <a:srgbClr val="526779"/>
                </a:solidFill>
                <a:latin typeface="Arial"/>
                <a:ea typeface="Arial"/>
                <a:cs typeface="Arial"/>
              </a:rPr>
              <a:t>Midterm progress  •  Validation results only</a:t>
            </a:r>
          </a:p>
        </p:txBody>
      </p:sp>
      <p:sp>
        <p:nvSpPr>
          <p:cNvPr id="6" name="">
            <a:extLst xmlns:a="http://schemas.openxmlformats.org/drawingml/2006/main">
              <a:ext uri="{FF2B5EF4-FFF2-40B4-BE49-F238E27FC236}">
                <a16:creationId xmlns:a16="http://schemas.microsoft.com/office/drawing/2014/main" id="{498BBF6B-2517-444D-900E-995B3F079E38}"/>
              </a:ext>
            </a:extLst>
          </p:cNvPr>
          <p:cNvSpPr>
            <a:spLocks xmlns:a="http://schemas.openxmlformats.org/drawingml/2006/main" noGrp="1"/>
          </p:cNvSpPr>
          <p:nvPr/>
        </p:nvSpPr>
        <p:spPr>
          <a:xfrm xmlns:a="http://schemas.openxmlformats.org/drawingml/2006/main">
            <a:off x="10858500" y="64674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9"/>
                </a:solidFill>
                <a:latin typeface="Arial"/>
                <a:ea typeface="Arial"/>
                <a:cs typeface="Arial"/>
              </a:defRPr>
            </a:defPPr>
            <a:lvl1pPr>
              <a:buNone/>
              <a:defRPr sz="1275" b="0">
                <a:solidFill>
                  <a:srgbClr val="526779"/>
                </a:solidFill>
                <a:latin typeface="Arial"/>
                <a:ea typeface="Arial"/>
                <a:cs typeface="Arial"/>
              </a:defRPr>
            </a:lvl1pPr>
            <a:lvl2pPr>
              <a:buNone/>
              <a:defRPr sz="1275" b="0">
                <a:solidFill>
                  <a:srgbClr val="526779"/>
                </a:solidFill>
                <a:latin typeface="Arial"/>
                <a:ea typeface="Arial"/>
                <a:cs typeface="Arial"/>
              </a:defRPr>
            </a:lvl2pPr>
            <a:lvl3pPr>
              <a:buNone/>
              <a:defRPr sz="1275" b="0">
                <a:solidFill>
                  <a:srgbClr val="526779"/>
                </a:solidFill>
                <a:latin typeface="Arial"/>
                <a:ea typeface="Arial"/>
                <a:cs typeface="Arial"/>
              </a:defRPr>
            </a:lvl3pPr>
            <a:lvl4pPr>
              <a:buNone/>
              <a:defRPr sz="1275" b="0">
                <a:solidFill>
                  <a:srgbClr val="526779"/>
                </a:solidFill>
                <a:latin typeface="Arial"/>
                <a:ea typeface="Arial"/>
                <a:cs typeface="Arial"/>
              </a:defRPr>
            </a:lvl4pPr>
            <a:lvl5pPr>
              <a:buNone/>
              <a:defRPr sz="1275" b="0">
                <a:solidFill>
                  <a:srgbClr val="526779"/>
                </a:solidFill>
                <a:latin typeface="Arial"/>
                <a:ea typeface="Arial"/>
                <a:cs typeface="Arial"/>
              </a:defRPr>
            </a:lvl5pPr>
            <a:lvl6pPr>
              <a:buNone/>
              <a:defRPr sz="1275" b="0">
                <a:solidFill>
                  <a:srgbClr val="526779"/>
                </a:solidFill>
                <a:latin typeface="Arial"/>
                <a:ea typeface="Arial"/>
                <a:cs typeface="Arial"/>
              </a:defRPr>
            </a:lvl6pPr>
            <a:lvl7pPr>
              <a:buNone/>
              <a:defRPr sz="1275" b="0">
                <a:solidFill>
                  <a:srgbClr val="526779"/>
                </a:solidFill>
                <a:latin typeface="Arial"/>
                <a:ea typeface="Arial"/>
                <a:cs typeface="Arial"/>
              </a:defRPr>
            </a:lvl7pPr>
            <a:lvl8pPr>
              <a:buNone/>
              <a:defRPr sz="1275" b="0">
                <a:solidFill>
                  <a:srgbClr val="526779"/>
                </a:solidFill>
                <a:latin typeface="Arial"/>
                <a:ea typeface="Arial"/>
                <a:cs typeface="Arial"/>
              </a:defRPr>
            </a:lvl8pPr>
            <a:lvl9pPr>
              <a:buNone/>
              <a:defRPr sz="1275" b="0">
                <a:solidFill>
                  <a:srgbClr val="526779"/>
                </a:solidFill>
                <a:latin typeface="Arial"/>
                <a:ea typeface="Arial"/>
                <a:cs typeface="Arial"/>
              </a:defRPr>
            </a:lvl9pPr>
          </a:lstStyle>
          <a:p xmlns:a="http://schemas.openxmlformats.org/drawingml/2006/main">
            <a:pPr>
              <a:buNone/>
              <a:defRPr sz="1275" b="0">
                <a:solidFill>
                  <a:srgbClr val="526779"/>
                </a:solidFill>
                <a:latin typeface="Arial"/>
                <a:ea typeface="Arial"/>
                <a:cs typeface="Arial"/>
              </a:defRPr>
            </a:pPr>
            <a:r>
              <a:rPr sz="1275" b="0">
                <a:solidFill>
                  <a:srgbClr val="526779"/>
                </a:solidFill>
                <a:latin typeface="Arial"/>
                <a:ea typeface="Arial"/>
                <a:cs typeface="Arial"/>
              </a:rPr>
              <a:t>3 / 5</a:t>
            </a:r>
          </a:p>
        </p:txBody>
      </p:sp>
      <p:graphicFrame>
        <p:nvGraphicFramePr>
          <p:cNvPr id="7" name="">
            <a:extLst xmlns:a="http://schemas.openxmlformats.org/drawingml/2006/main">
              <a:ext uri="{FF2B5EF4-FFF2-40B4-BE49-F238E27FC236}">
                <a16:creationId xmlns:a16="http://schemas.microsoft.com/office/drawing/2014/main" id="{4481F14F-F6C5-4FC3-8AE6-FEE44B946715}"/>
              </a:ext>
            </a:extLst>
          </p:cNvPr>
          <p:cNvGraphicFramePr/>
          <p:nvPr/>
        </p:nvGraphicFramePr>
        <p:xfrm>
          <a:off xmlns:a="http://schemas.openxmlformats.org/drawingml/2006/main" x="609600" y="1666875"/>
          <a:ext xmlns:a="http://schemas.openxmlformats.org/drawingml/2006/main" cx="10972800" cy="2266950"/>
        </p:xfrm>
        <a:graphic xmlns:a="http://schemas.openxmlformats.org/drawingml/2006/main">
          <a:graphicData uri="http://schemas.openxmlformats.org/drawingml/2006/table">
            <a:tbl>
              <a:tblPr/>
              <a:tblGrid>
                <a:gridCol w="3171825"/>
                <a:gridCol w="5715000"/>
                <a:gridCol w="2085975"/>
              </a:tblGrid>
              <a:tr h="566738">
                <a:tc>
                  <a:txBody>
                    <a:bodyPr/>
                    <a:lstStyle/>
                    <a:p>
                      <a:r>
                        <a:rPr sz="1800" b="1">
                          <a:solidFill>
                            <a:srgbClr val="FFFFFF"/>
                          </a:solidFill>
                          <a:latin typeface="Arial"/>
                          <a:ea typeface="Arial"/>
                          <a:cs typeface="Arial"/>
                        </a:rPr>
                        <a:t>Completed round</a:t>
                      </a:r>
                    </a:p>
                  </a:txBody>
                  <a:tcPr marL="123825" marR="95250" marT="114300" marB="95250" anchor="ctr">
                    <a:lnL w="9525">
                      <a:solidFill>
                        <a:srgbClr val="CED8E1"/>
                      </a:solidFill>
                      <a:prstDash val="solid"/>
                    </a:lnL>
                    <a:lnR w="9525">
                      <a:solidFill>
                        <a:srgbClr val="CED8E1"/>
                      </a:solidFill>
                      <a:prstDash val="solid"/>
                    </a:lnR>
                    <a:lnT w="9525">
                      <a:solidFill>
                        <a:srgbClr val="CED8E1"/>
                      </a:solidFill>
                      <a:prstDash val="solid"/>
                    </a:lnT>
                    <a:lnB w="9525">
                      <a:solidFill>
                        <a:srgbClr val="CED8E1"/>
                      </a:solidFill>
                      <a:prstDash val="solid"/>
                    </a:lnB>
                    <a:solidFill>
                      <a:srgbClr val="16324F"/>
                    </a:solidFill>
                  </a:tcPr>
                </a:tc>
                <a:tc>
                  <a:txBody>
                    <a:bodyPr/>
                    <a:lstStyle/>
                    <a:p>
                      <a:r>
                        <a:rPr sz="1800" b="1">
                          <a:solidFill>
                            <a:srgbClr val="FFFFFF"/>
                          </a:solidFill>
                          <a:latin typeface="Arial"/>
                          <a:ea typeface="Arial"/>
                          <a:cs typeface="Arial"/>
                        </a:rPr>
                        <a:t>Design</a:t>
                      </a:r>
                    </a:p>
                  </a:txBody>
                  <a:tcPr marL="123825" marR="95250" marT="114300" marB="95250" anchor="ctr">
                    <a:lnR w="9525">
                      <a:solidFill>
                        <a:srgbClr val="CED8E1"/>
                      </a:solidFill>
                      <a:prstDash val="solid"/>
                    </a:lnR>
                    <a:lnT w="9525">
                      <a:solidFill>
                        <a:srgbClr val="CED8E1"/>
                      </a:solidFill>
                      <a:prstDash val="solid"/>
                    </a:lnT>
                    <a:lnB w="9525">
                      <a:solidFill>
                        <a:srgbClr val="CED8E1"/>
                      </a:solidFill>
                      <a:prstDash val="solid"/>
                    </a:lnB>
                    <a:solidFill>
                      <a:srgbClr val="16324F"/>
                    </a:solidFill>
                  </a:tcPr>
                </a:tc>
                <a:tc>
                  <a:txBody>
                    <a:bodyPr/>
                    <a:lstStyle/>
                    <a:p>
                      <a:r>
                        <a:rPr sz="1800" b="1">
                          <a:solidFill>
                            <a:srgbClr val="FFFFFF"/>
                          </a:solidFill>
                          <a:latin typeface="Arial"/>
                          <a:ea typeface="Arial"/>
                          <a:cs typeface="Arial"/>
                        </a:rPr>
                        <a:t>Configurations</a:t>
                      </a:r>
                    </a:p>
                  </a:txBody>
                  <a:tcPr marL="123825" marR="95250" marT="114300" marB="95250" anchor="ctr">
                    <a:lnR w="9525">
                      <a:solidFill>
                        <a:srgbClr val="CED8E1"/>
                      </a:solidFill>
                      <a:prstDash val="solid"/>
                    </a:lnR>
                    <a:lnT w="9525">
                      <a:solidFill>
                        <a:srgbClr val="CED8E1"/>
                      </a:solidFill>
                      <a:prstDash val="solid"/>
                    </a:lnT>
                    <a:lnB w="9525">
                      <a:solidFill>
                        <a:srgbClr val="CED8E1"/>
                      </a:solidFill>
                      <a:prstDash val="solid"/>
                    </a:lnB>
                    <a:solidFill>
                      <a:srgbClr val="16324F"/>
                    </a:solidFill>
                  </a:tcPr>
                </a:tc>
              </a:tr>
              <a:tr h="566738">
                <a:tc>
                  <a:txBody>
                    <a:bodyPr/>
                    <a:lstStyle/>
                    <a:p>
                      <a:r>
                        <a:rPr sz="1800" b="1">
                          <a:solidFill>
                            <a:srgbClr val="172B3A"/>
                          </a:solidFill>
                          <a:latin typeface="Arial"/>
                          <a:ea typeface="Arial"/>
                          <a:cs typeface="Arial"/>
                        </a:rPr>
                        <a:t>1  Pilot</a:t>
                      </a:r>
                    </a:p>
                  </a:txBody>
                  <a:tcPr marL="123825" marR="95250" marT="114300" marB="95250" anchor="ctr">
                    <a:lnL w="9525">
                      <a:solidFill>
                        <a:srgbClr val="CED8E1"/>
                      </a:solidFill>
                      <a:prstDash val="solid"/>
                    </a:lnL>
                    <a:lnR w="9525">
                      <a:solidFill>
                        <a:srgbClr val="CED8E1"/>
                      </a:solidFill>
                      <a:prstDash val="solid"/>
                    </a:lnR>
                    <a:lnB w="9525">
                      <a:solidFill>
                        <a:srgbClr val="CED8E1"/>
                      </a:solidFill>
                      <a:prstDash val="solid"/>
                    </a:lnB>
                    <a:solidFill>
                      <a:srgbClr val="F2F6FA"/>
                    </a:solidFill>
                  </a:tcPr>
                </a:tc>
                <a:tc>
                  <a:txBody>
                    <a:bodyPr/>
                    <a:lstStyle/>
                    <a:p>
                      <a:r>
                        <a:rPr sz="1800" b="0">
                          <a:solidFill>
                            <a:srgbClr val="172B3A"/>
                          </a:solidFill>
                          <a:latin typeface="Arial"/>
                          <a:ea typeface="Arial"/>
                          <a:cs typeface="Arial"/>
                        </a:rPr>
                        <a:t>Seed 42; n = 100, 400</a:t>
                      </a:r>
                    </a:p>
                  </a:txBody>
                  <a:tcPr marL="123825" marR="95250" marT="114300" marB="95250" anchor="ctr">
                    <a:lnR w="9525">
                      <a:solidFill>
                        <a:srgbClr val="CED8E1"/>
                      </a:solidFill>
                      <a:prstDash val="solid"/>
                    </a:lnR>
                    <a:lnB w="9525">
                      <a:solidFill>
                        <a:srgbClr val="CED8E1"/>
                      </a:solidFill>
                      <a:prstDash val="solid"/>
                    </a:lnB>
                    <a:solidFill>
                      <a:srgbClr val="F2F6FA"/>
                    </a:solidFill>
                  </a:tcPr>
                </a:tc>
                <a:tc>
                  <a:txBody>
                    <a:bodyPr/>
                    <a:lstStyle/>
                    <a:p>
                      <a:r>
                        <a:rPr sz="1800" b="0">
                          <a:solidFill>
                            <a:srgbClr val="172B3A"/>
                          </a:solidFill>
                          <a:latin typeface="Arial"/>
                          <a:ea typeface="Arial"/>
                          <a:cs typeface="Arial"/>
                        </a:rPr>
                        <a:t>4</a:t>
                      </a:r>
                    </a:p>
                  </a:txBody>
                  <a:tcPr marL="123825" marR="95250" marT="114300" marB="95250" anchor="ctr">
                    <a:lnR w="9525">
                      <a:solidFill>
                        <a:srgbClr val="CED8E1"/>
                      </a:solidFill>
                      <a:prstDash val="solid"/>
                    </a:lnR>
                    <a:lnB w="9525">
                      <a:solidFill>
                        <a:srgbClr val="CED8E1"/>
                      </a:solidFill>
                      <a:prstDash val="solid"/>
                    </a:lnB>
                    <a:solidFill>
                      <a:srgbClr val="F2F6FA"/>
                    </a:solidFill>
                  </a:tcPr>
                </a:tc>
              </a:tr>
              <a:tr h="566738">
                <a:tc>
                  <a:txBody>
                    <a:bodyPr/>
                    <a:lstStyle/>
                    <a:p>
                      <a:r>
                        <a:rPr sz="1800" b="1">
                          <a:solidFill>
                            <a:srgbClr val="172B3A"/>
                          </a:solidFill>
                          <a:latin typeface="Arial"/>
                          <a:ea typeface="Arial"/>
                          <a:cs typeface="Arial"/>
                        </a:rPr>
                        <a:t>2  Repeated baselines</a:t>
                      </a:r>
                    </a:p>
                  </a:txBody>
                  <a:tcPr marL="123825" marR="95250" marT="114300" marB="95250" anchor="ctr">
                    <a:lnL w="9525">
                      <a:solidFill>
                        <a:srgbClr val="CED8E1"/>
                      </a:solidFill>
                      <a:prstDash val="solid"/>
                    </a:lnL>
                    <a:lnR w="9525">
                      <a:solidFill>
                        <a:srgbClr val="CED8E1"/>
                      </a:solidFill>
                      <a:prstDash val="solid"/>
                    </a:lnR>
                    <a:lnB w="9525">
                      <a:solidFill>
                        <a:srgbClr val="CED8E1"/>
                      </a:solidFill>
                      <a:prstDash val="solid"/>
                    </a:lnB>
                    <a:solidFill>
                      <a:srgbClr val="FFFFFF"/>
                    </a:solidFill>
                  </a:tcPr>
                </a:tc>
                <a:tc>
                  <a:txBody>
                    <a:bodyPr/>
                    <a:lstStyle/>
                    <a:p>
                      <a:r>
                        <a:rPr sz="1800" b="0">
                          <a:solidFill>
                            <a:srgbClr val="172B3A"/>
                          </a:solidFill>
                          <a:latin typeface="Arial"/>
                          <a:ea typeface="Arial"/>
                          <a:cs typeface="Arial"/>
                        </a:rPr>
                        <a:t>3 seeds; n = 100, 400; C = 1</a:t>
                      </a:r>
                    </a:p>
                  </a:txBody>
                  <a:tcPr marL="123825" marR="95250" marT="114300" marB="95250" anchor="ctr">
                    <a:lnR w="9525">
                      <a:solidFill>
                        <a:srgbClr val="CED8E1"/>
                      </a:solidFill>
                      <a:prstDash val="solid"/>
                    </a:lnR>
                    <a:lnB w="9525">
                      <a:solidFill>
                        <a:srgbClr val="CED8E1"/>
                      </a:solidFill>
                      <a:prstDash val="solid"/>
                    </a:lnB>
                    <a:solidFill>
                      <a:srgbClr val="FFFFFF"/>
                    </a:solidFill>
                  </a:tcPr>
                </a:tc>
                <a:tc>
                  <a:txBody>
                    <a:bodyPr/>
                    <a:lstStyle/>
                    <a:p>
                      <a:r>
                        <a:rPr sz="1800" b="0">
                          <a:solidFill>
                            <a:srgbClr val="172B3A"/>
                          </a:solidFill>
                          <a:latin typeface="Arial"/>
                          <a:ea typeface="Arial"/>
                          <a:cs typeface="Arial"/>
                        </a:rPr>
                        <a:t>12</a:t>
                      </a:r>
                    </a:p>
                  </a:txBody>
                  <a:tcPr marL="123825" marR="95250" marT="114300" marB="95250" anchor="ctr">
                    <a:lnR w="9525">
                      <a:solidFill>
                        <a:srgbClr val="CED8E1"/>
                      </a:solidFill>
                      <a:prstDash val="solid"/>
                    </a:lnR>
                    <a:lnB w="9525">
                      <a:solidFill>
                        <a:srgbClr val="CED8E1"/>
                      </a:solidFill>
                      <a:prstDash val="solid"/>
                    </a:lnB>
                    <a:solidFill>
                      <a:srgbClr val="FFFFFF"/>
                    </a:solidFill>
                  </a:tcPr>
                </a:tc>
              </a:tr>
              <a:tr h="566738">
                <a:tc>
                  <a:txBody>
                    <a:bodyPr/>
                    <a:lstStyle/>
                    <a:p>
                      <a:r>
                        <a:rPr sz="1800" b="1">
                          <a:solidFill>
                            <a:srgbClr val="172B3A"/>
                          </a:solidFill>
                          <a:latin typeface="Arial"/>
                          <a:ea typeface="Arial"/>
                          <a:cs typeface="Arial"/>
                        </a:rPr>
                        <a:t>3  Exploratory C sweep</a:t>
                      </a:r>
                    </a:p>
                  </a:txBody>
                  <a:tcPr marL="123825" marR="95250" marT="114300" marB="95250" anchor="ctr">
                    <a:lnL w="9525">
                      <a:solidFill>
                        <a:srgbClr val="CED8E1"/>
                      </a:solidFill>
                      <a:prstDash val="solid"/>
                    </a:lnL>
                    <a:lnR w="9525">
                      <a:solidFill>
                        <a:srgbClr val="CED8E1"/>
                      </a:solidFill>
                      <a:prstDash val="solid"/>
                    </a:lnR>
                    <a:lnB w="9525">
                      <a:solidFill>
                        <a:srgbClr val="CED8E1"/>
                      </a:solidFill>
                      <a:prstDash val="solid"/>
                    </a:lnB>
                    <a:solidFill>
                      <a:srgbClr val="F2F6FA"/>
                    </a:solidFill>
                  </a:tcPr>
                </a:tc>
                <a:tc>
                  <a:txBody>
                    <a:bodyPr/>
                    <a:lstStyle/>
                    <a:p>
                      <a:r>
                        <a:rPr sz="1800" b="0">
                          <a:solidFill>
                            <a:srgbClr val="172B3A"/>
                          </a:solidFill>
                          <a:latin typeface="Arial"/>
                          <a:ea typeface="Arial"/>
                          <a:cs typeface="Arial"/>
                        </a:rPr>
                        <a:t>3 seeds; n = 400; C = 0.1, 1, 10</a:t>
                      </a:r>
                    </a:p>
                  </a:txBody>
                  <a:tcPr marL="123825" marR="95250" marT="114300" marB="95250" anchor="ctr">
                    <a:lnR w="9525">
                      <a:solidFill>
                        <a:srgbClr val="CED8E1"/>
                      </a:solidFill>
                      <a:prstDash val="solid"/>
                    </a:lnR>
                    <a:lnB w="9525">
                      <a:solidFill>
                        <a:srgbClr val="CED8E1"/>
                      </a:solidFill>
                      <a:prstDash val="solid"/>
                    </a:lnB>
                    <a:solidFill>
                      <a:srgbClr val="F2F6FA"/>
                    </a:solidFill>
                  </a:tcPr>
                </a:tc>
                <a:tc>
                  <a:txBody>
                    <a:bodyPr/>
                    <a:lstStyle/>
                    <a:p>
                      <a:r>
                        <a:rPr sz="1800" b="0">
                          <a:solidFill>
                            <a:srgbClr val="172B3A"/>
                          </a:solidFill>
                          <a:latin typeface="Arial"/>
                          <a:ea typeface="Arial"/>
                          <a:cs typeface="Arial"/>
                        </a:rPr>
                        <a:t>18</a:t>
                      </a:r>
                    </a:p>
                  </a:txBody>
                  <a:tcPr marL="123825" marR="95250" marT="114300" marB="95250" anchor="ctr">
                    <a:lnR w="9525">
                      <a:solidFill>
                        <a:srgbClr val="CED8E1"/>
                      </a:solidFill>
                      <a:prstDash val="solid"/>
                    </a:lnR>
                    <a:lnB w="9525">
                      <a:solidFill>
                        <a:srgbClr val="CED8E1"/>
                      </a:solidFill>
                      <a:prstDash val="solid"/>
                    </a:lnB>
                    <a:solidFill>
                      <a:srgbClr val="F2F6FA"/>
                    </a:solidFill>
                  </a:tcPr>
                </a:tc>
              </a:tr>
            </a:tbl>
          </a:graphicData>
        </a:graphic>
      </p:graphicFrame>
      <p:sp>
        <p:nvSpPr>
          <p:cNvPr id="8" name="">
            <a:extLst xmlns:a="http://schemas.openxmlformats.org/drawingml/2006/main">
              <a:ext uri="{FF2B5EF4-FFF2-40B4-BE49-F238E27FC236}">
                <a16:creationId xmlns:a16="http://schemas.microsoft.com/office/drawing/2014/main" id="{C6DB8541-7534-427D-AC64-0340379BD3D9}"/>
              </a:ext>
            </a:extLst>
          </p:cNvPr>
          <p:cNvSpPr>
            <a:spLocks xmlns:a="http://schemas.openxmlformats.org/drawingml/2006/main" noGrp="1"/>
          </p:cNvSpPr>
          <p:nvPr/>
        </p:nvSpPr>
        <p:spPr>
          <a:xfrm xmlns:a="http://schemas.openxmlformats.org/drawingml/2006/main">
            <a:off x="609600" y="4276725"/>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6324F"/>
                </a:solidFill>
                <a:latin typeface="Arial"/>
                <a:ea typeface="Arial"/>
                <a:cs typeface="Arial"/>
              </a:defRPr>
            </a:defPPr>
            <a:lvl1pPr>
              <a:buNone/>
              <a:defRPr sz="2100" b="1">
                <a:solidFill>
                  <a:srgbClr val="16324F"/>
                </a:solidFill>
                <a:latin typeface="Arial"/>
                <a:ea typeface="Arial"/>
                <a:cs typeface="Arial"/>
              </a:defRPr>
            </a:lvl1pPr>
            <a:lvl2pPr>
              <a:buNone/>
              <a:defRPr sz="2100" b="1">
                <a:solidFill>
                  <a:srgbClr val="16324F"/>
                </a:solidFill>
                <a:latin typeface="Arial"/>
                <a:ea typeface="Arial"/>
                <a:cs typeface="Arial"/>
              </a:defRPr>
            </a:lvl2pPr>
            <a:lvl3pPr>
              <a:buNone/>
              <a:defRPr sz="2100" b="1">
                <a:solidFill>
                  <a:srgbClr val="16324F"/>
                </a:solidFill>
                <a:latin typeface="Arial"/>
                <a:ea typeface="Arial"/>
                <a:cs typeface="Arial"/>
              </a:defRPr>
            </a:lvl3pPr>
            <a:lvl4pPr>
              <a:buNone/>
              <a:defRPr sz="2100" b="1">
                <a:solidFill>
                  <a:srgbClr val="16324F"/>
                </a:solidFill>
                <a:latin typeface="Arial"/>
                <a:ea typeface="Arial"/>
                <a:cs typeface="Arial"/>
              </a:defRPr>
            </a:lvl4pPr>
            <a:lvl5pPr>
              <a:buNone/>
              <a:defRPr sz="2100" b="1">
                <a:solidFill>
                  <a:srgbClr val="16324F"/>
                </a:solidFill>
                <a:latin typeface="Arial"/>
                <a:ea typeface="Arial"/>
                <a:cs typeface="Arial"/>
              </a:defRPr>
            </a:lvl5pPr>
            <a:lvl6pPr>
              <a:buNone/>
              <a:defRPr sz="2100" b="1">
                <a:solidFill>
                  <a:srgbClr val="16324F"/>
                </a:solidFill>
                <a:latin typeface="Arial"/>
                <a:ea typeface="Arial"/>
                <a:cs typeface="Arial"/>
              </a:defRPr>
            </a:lvl6pPr>
            <a:lvl7pPr>
              <a:buNone/>
              <a:defRPr sz="2100" b="1">
                <a:solidFill>
                  <a:srgbClr val="16324F"/>
                </a:solidFill>
                <a:latin typeface="Arial"/>
                <a:ea typeface="Arial"/>
                <a:cs typeface="Arial"/>
              </a:defRPr>
            </a:lvl7pPr>
            <a:lvl8pPr>
              <a:buNone/>
              <a:defRPr sz="2100" b="1">
                <a:solidFill>
                  <a:srgbClr val="16324F"/>
                </a:solidFill>
                <a:latin typeface="Arial"/>
                <a:ea typeface="Arial"/>
                <a:cs typeface="Arial"/>
              </a:defRPr>
            </a:lvl8pPr>
            <a:lvl9pPr>
              <a:buNone/>
              <a:defRPr sz="2100" b="1">
                <a:solidFill>
                  <a:srgbClr val="16324F"/>
                </a:solidFill>
                <a:latin typeface="Arial"/>
                <a:ea typeface="Arial"/>
                <a:cs typeface="Arial"/>
              </a:defRPr>
            </a:lvl9pPr>
          </a:lstStyle>
          <a:p xmlns:a="http://schemas.openxmlformats.org/drawingml/2006/main">
            <a:pPr>
              <a:buNone/>
              <a:defRPr sz="2100" b="1">
                <a:solidFill>
                  <a:srgbClr val="16324F"/>
                </a:solidFill>
                <a:latin typeface="Arial"/>
                <a:ea typeface="Arial"/>
                <a:cs typeface="Arial"/>
              </a:defRPr>
            </a:pPr>
            <a:r>
              <a:rPr sz="2100" b="1">
                <a:solidFill>
                  <a:srgbClr val="16324F"/>
                </a:solidFill>
                <a:latin typeface="Arial"/>
                <a:ea typeface="Arial"/>
                <a:cs typeface="Arial"/>
              </a:rPr>
              <a:t>Fair comparison</a:t>
            </a:r>
          </a:p>
        </p:txBody>
      </p:sp>
      <p:sp>
        <p:nvSpPr>
          <p:cNvPr id="9" name="">
            <a:extLst xmlns:a="http://schemas.openxmlformats.org/drawingml/2006/main">
              <a:ext uri="{FF2B5EF4-FFF2-40B4-BE49-F238E27FC236}">
                <a16:creationId xmlns:a16="http://schemas.microsoft.com/office/drawing/2014/main" id="{F7CB91A9-DA97-438B-9433-A51F806E5915}"/>
              </a:ext>
            </a:extLst>
          </p:cNvPr>
          <p:cNvSpPr>
            <a:spLocks xmlns:a="http://schemas.openxmlformats.org/drawingml/2006/main" noGrp="1"/>
          </p:cNvSpPr>
          <p:nvPr/>
        </p:nvSpPr>
        <p:spPr>
          <a:xfrm xmlns:a="http://schemas.openxmlformats.org/drawingml/2006/main">
            <a:off x="609600" y="4733925"/>
            <a:ext cx="5334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B3A"/>
                </a:solidFill>
                <a:latin typeface="Arial"/>
                <a:ea typeface="Arial"/>
                <a:cs typeface="Arial"/>
              </a:defRPr>
            </a:defPPr>
            <a:lvl1pPr>
              <a:buNone/>
              <a:defRPr sz="1875" b="0">
                <a:solidFill>
                  <a:srgbClr val="172B3A"/>
                </a:solidFill>
                <a:latin typeface="Arial"/>
                <a:ea typeface="Arial"/>
                <a:cs typeface="Arial"/>
              </a:defRPr>
            </a:lvl1pPr>
            <a:lvl2pPr>
              <a:buNone/>
              <a:defRPr sz="1875" b="0">
                <a:solidFill>
                  <a:srgbClr val="172B3A"/>
                </a:solidFill>
                <a:latin typeface="Arial"/>
                <a:ea typeface="Arial"/>
                <a:cs typeface="Arial"/>
              </a:defRPr>
            </a:lvl2pPr>
            <a:lvl3pPr>
              <a:buNone/>
              <a:defRPr sz="1875" b="0">
                <a:solidFill>
                  <a:srgbClr val="172B3A"/>
                </a:solidFill>
                <a:latin typeface="Arial"/>
                <a:ea typeface="Arial"/>
                <a:cs typeface="Arial"/>
              </a:defRPr>
            </a:lvl3pPr>
            <a:lvl4pPr>
              <a:buNone/>
              <a:defRPr sz="1875" b="0">
                <a:solidFill>
                  <a:srgbClr val="172B3A"/>
                </a:solidFill>
                <a:latin typeface="Arial"/>
                <a:ea typeface="Arial"/>
                <a:cs typeface="Arial"/>
              </a:defRPr>
            </a:lvl4pPr>
            <a:lvl5pPr>
              <a:buNone/>
              <a:defRPr sz="1875" b="0">
                <a:solidFill>
                  <a:srgbClr val="172B3A"/>
                </a:solidFill>
                <a:latin typeface="Arial"/>
                <a:ea typeface="Arial"/>
                <a:cs typeface="Arial"/>
              </a:defRPr>
            </a:lvl5pPr>
            <a:lvl6pPr>
              <a:buNone/>
              <a:defRPr sz="1875" b="0">
                <a:solidFill>
                  <a:srgbClr val="172B3A"/>
                </a:solidFill>
                <a:latin typeface="Arial"/>
                <a:ea typeface="Arial"/>
                <a:cs typeface="Arial"/>
              </a:defRPr>
            </a:lvl6pPr>
            <a:lvl7pPr>
              <a:buNone/>
              <a:defRPr sz="1875" b="0">
                <a:solidFill>
                  <a:srgbClr val="172B3A"/>
                </a:solidFill>
                <a:latin typeface="Arial"/>
                <a:ea typeface="Arial"/>
                <a:cs typeface="Arial"/>
              </a:defRPr>
            </a:lvl7pPr>
            <a:lvl8pPr>
              <a:buNone/>
              <a:defRPr sz="1875" b="0">
                <a:solidFill>
                  <a:srgbClr val="172B3A"/>
                </a:solidFill>
                <a:latin typeface="Arial"/>
                <a:ea typeface="Arial"/>
                <a:cs typeface="Arial"/>
              </a:defRPr>
            </a:lvl8pPr>
            <a:lvl9pPr>
              <a:buNone/>
              <a:defRPr sz="1875" b="0">
                <a:solidFill>
                  <a:srgbClr val="172B3A"/>
                </a:solidFill>
                <a:latin typeface="Arial"/>
                <a:ea typeface="Arial"/>
                <a:cs typeface="Arial"/>
              </a:defRPr>
            </a:lvl9pPr>
          </a:lstStyle>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Same examples for both representations</a:t>
            </a:r>
          </a:p>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Balanced, nested 100 ⊂ 400 subsets</a:t>
            </a:r>
          </a:p>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TF-IDF fitted on training text only</a:t>
            </a:r>
          </a:p>
        </p:txBody>
      </p:sp>
      <p:sp>
        <p:nvSpPr>
          <p:cNvPr id="10" name="">
            <a:extLst xmlns:a="http://schemas.openxmlformats.org/drawingml/2006/main">
              <a:ext uri="{FF2B5EF4-FFF2-40B4-BE49-F238E27FC236}">
                <a16:creationId xmlns:a16="http://schemas.microsoft.com/office/drawing/2014/main" id="{695461CA-5667-49EB-B3AB-FCF99C3BB7C3}"/>
              </a:ext>
            </a:extLst>
          </p:cNvPr>
          <p:cNvSpPr>
            <a:spLocks xmlns:a="http://schemas.openxmlformats.org/drawingml/2006/main" noGrp="1"/>
          </p:cNvSpPr>
          <p:nvPr/>
        </p:nvSpPr>
        <p:spPr>
          <a:xfrm xmlns:a="http://schemas.openxmlformats.org/drawingml/2006/main">
            <a:off x="6429375" y="427672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6324F"/>
                </a:solidFill>
                <a:latin typeface="Arial"/>
                <a:ea typeface="Arial"/>
                <a:cs typeface="Arial"/>
              </a:defRPr>
            </a:defPPr>
            <a:lvl1pPr>
              <a:buNone/>
              <a:defRPr sz="2100" b="1">
                <a:solidFill>
                  <a:srgbClr val="16324F"/>
                </a:solidFill>
                <a:latin typeface="Arial"/>
                <a:ea typeface="Arial"/>
                <a:cs typeface="Arial"/>
              </a:defRPr>
            </a:lvl1pPr>
            <a:lvl2pPr>
              <a:buNone/>
              <a:defRPr sz="2100" b="1">
                <a:solidFill>
                  <a:srgbClr val="16324F"/>
                </a:solidFill>
                <a:latin typeface="Arial"/>
                <a:ea typeface="Arial"/>
                <a:cs typeface="Arial"/>
              </a:defRPr>
            </a:lvl2pPr>
            <a:lvl3pPr>
              <a:buNone/>
              <a:defRPr sz="2100" b="1">
                <a:solidFill>
                  <a:srgbClr val="16324F"/>
                </a:solidFill>
                <a:latin typeface="Arial"/>
                <a:ea typeface="Arial"/>
                <a:cs typeface="Arial"/>
              </a:defRPr>
            </a:lvl3pPr>
            <a:lvl4pPr>
              <a:buNone/>
              <a:defRPr sz="2100" b="1">
                <a:solidFill>
                  <a:srgbClr val="16324F"/>
                </a:solidFill>
                <a:latin typeface="Arial"/>
                <a:ea typeface="Arial"/>
                <a:cs typeface="Arial"/>
              </a:defRPr>
            </a:lvl4pPr>
            <a:lvl5pPr>
              <a:buNone/>
              <a:defRPr sz="2100" b="1">
                <a:solidFill>
                  <a:srgbClr val="16324F"/>
                </a:solidFill>
                <a:latin typeface="Arial"/>
                <a:ea typeface="Arial"/>
                <a:cs typeface="Arial"/>
              </a:defRPr>
            </a:lvl5pPr>
            <a:lvl6pPr>
              <a:buNone/>
              <a:defRPr sz="2100" b="1">
                <a:solidFill>
                  <a:srgbClr val="16324F"/>
                </a:solidFill>
                <a:latin typeface="Arial"/>
                <a:ea typeface="Arial"/>
                <a:cs typeface="Arial"/>
              </a:defRPr>
            </a:lvl6pPr>
            <a:lvl7pPr>
              <a:buNone/>
              <a:defRPr sz="2100" b="1">
                <a:solidFill>
                  <a:srgbClr val="16324F"/>
                </a:solidFill>
                <a:latin typeface="Arial"/>
                <a:ea typeface="Arial"/>
                <a:cs typeface="Arial"/>
              </a:defRPr>
            </a:lvl7pPr>
            <a:lvl8pPr>
              <a:buNone/>
              <a:defRPr sz="2100" b="1">
                <a:solidFill>
                  <a:srgbClr val="16324F"/>
                </a:solidFill>
                <a:latin typeface="Arial"/>
                <a:ea typeface="Arial"/>
                <a:cs typeface="Arial"/>
              </a:defRPr>
            </a:lvl8pPr>
            <a:lvl9pPr>
              <a:buNone/>
              <a:defRPr sz="2100" b="1">
                <a:solidFill>
                  <a:srgbClr val="16324F"/>
                </a:solidFill>
                <a:latin typeface="Arial"/>
                <a:ea typeface="Arial"/>
                <a:cs typeface="Arial"/>
              </a:defRPr>
            </a:lvl9pPr>
          </a:lstStyle>
          <a:p xmlns:a="http://schemas.openxmlformats.org/drawingml/2006/main">
            <a:pPr>
              <a:buNone/>
              <a:defRPr sz="2100" b="1">
                <a:solidFill>
                  <a:srgbClr val="16324F"/>
                </a:solidFill>
                <a:latin typeface="Arial"/>
                <a:ea typeface="Arial"/>
                <a:cs typeface="Arial"/>
              </a:defRPr>
            </a:pPr>
            <a:r>
              <a:rPr sz="2100" b="1">
                <a:solidFill>
                  <a:srgbClr val="16324F"/>
                </a:solidFill>
                <a:latin typeface="Arial"/>
                <a:ea typeface="Arial"/>
                <a:cs typeface="Arial"/>
              </a:rPr>
              <a:t>Reproducible evaluation</a:t>
            </a:r>
          </a:p>
        </p:txBody>
      </p:sp>
      <p:sp>
        <p:nvSpPr>
          <p:cNvPr id="11" name="">
            <a:extLst xmlns:a="http://schemas.openxmlformats.org/drawingml/2006/main">
              <a:ext uri="{FF2B5EF4-FFF2-40B4-BE49-F238E27FC236}">
                <a16:creationId xmlns:a16="http://schemas.microsoft.com/office/drawing/2014/main" id="{153DD085-7F9A-4E62-AE18-77611A24CB54}"/>
              </a:ext>
            </a:extLst>
          </p:cNvPr>
          <p:cNvSpPr>
            <a:spLocks xmlns:a="http://schemas.openxmlformats.org/drawingml/2006/main" noGrp="1"/>
          </p:cNvSpPr>
          <p:nvPr/>
        </p:nvSpPr>
        <p:spPr>
          <a:xfrm xmlns:a="http://schemas.openxmlformats.org/drawingml/2006/main">
            <a:off x="6429375" y="4733925"/>
            <a:ext cx="5143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B3A"/>
                </a:solidFill>
                <a:latin typeface="Arial"/>
                <a:ea typeface="Arial"/>
                <a:cs typeface="Arial"/>
              </a:defRPr>
            </a:defPPr>
            <a:lvl1pPr>
              <a:buNone/>
              <a:defRPr sz="1875" b="0">
                <a:solidFill>
                  <a:srgbClr val="172B3A"/>
                </a:solidFill>
                <a:latin typeface="Arial"/>
                <a:ea typeface="Arial"/>
                <a:cs typeface="Arial"/>
              </a:defRPr>
            </a:lvl1pPr>
            <a:lvl2pPr>
              <a:buNone/>
              <a:defRPr sz="1875" b="0">
                <a:solidFill>
                  <a:srgbClr val="172B3A"/>
                </a:solidFill>
                <a:latin typeface="Arial"/>
                <a:ea typeface="Arial"/>
                <a:cs typeface="Arial"/>
              </a:defRPr>
            </a:lvl2pPr>
            <a:lvl3pPr>
              <a:buNone/>
              <a:defRPr sz="1875" b="0">
                <a:solidFill>
                  <a:srgbClr val="172B3A"/>
                </a:solidFill>
                <a:latin typeface="Arial"/>
                <a:ea typeface="Arial"/>
                <a:cs typeface="Arial"/>
              </a:defRPr>
            </a:lvl3pPr>
            <a:lvl4pPr>
              <a:buNone/>
              <a:defRPr sz="1875" b="0">
                <a:solidFill>
                  <a:srgbClr val="172B3A"/>
                </a:solidFill>
                <a:latin typeface="Arial"/>
                <a:ea typeface="Arial"/>
                <a:cs typeface="Arial"/>
              </a:defRPr>
            </a:lvl4pPr>
            <a:lvl5pPr>
              <a:buNone/>
              <a:defRPr sz="1875" b="0">
                <a:solidFill>
                  <a:srgbClr val="172B3A"/>
                </a:solidFill>
                <a:latin typeface="Arial"/>
                <a:ea typeface="Arial"/>
                <a:cs typeface="Arial"/>
              </a:defRPr>
            </a:lvl5pPr>
            <a:lvl6pPr>
              <a:buNone/>
              <a:defRPr sz="1875" b="0">
                <a:solidFill>
                  <a:srgbClr val="172B3A"/>
                </a:solidFill>
                <a:latin typeface="Arial"/>
                <a:ea typeface="Arial"/>
                <a:cs typeface="Arial"/>
              </a:defRPr>
            </a:lvl6pPr>
            <a:lvl7pPr>
              <a:buNone/>
              <a:defRPr sz="1875" b="0">
                <a:solidFill>
                  <a:srgbClr val="172B3A"/>
                </a:solidFill>
                <a:latin typeface="Arial"/>
                <a:ea typeface="Arial"/>
                <a:cs typeface="Arial"/>
              </a:defRPr>
            </a:lvl7pPr>
            <a:lvl8pPr>
              <a:buNone/>
              <a:defRPr sz="1875" b="0">
                <a:solidFill>
                  <a:srgbClr val="172B3A"/>
                </a:solidFill>
                <a:latin typeface="Arial"/>
                <a:ea typeface="Arial"/>
                <a:cs typeface="Arial"/>
              </a:defRPr>
            </a:lvl8pPr>
            <a:lvl9pPr>
              <a:buNone/>
              <a:defRPr sz="1875" b="0">
                <a:solidFill>
                  <a:srgbClr val="172B3A"/>
                </a:solidFill>
                <a:latin typeface="Arial"/>
                <a:ea typeface="Arial"/>
                <a:cs typeface="Arial"/>
              </a:defRPr>
            </a:lvl9pPr>
          </a:lstStyle>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Seeds: 42, 123, 2026</a:t>
            </a:r>
          </a:p>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Fixed, disjoint validation: 800 examples</a:t>
            </a:r>
          </a:p>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Accuracy + macro-F1; test set untouched</a:t>
            </a:r>
          </a:p>
        </p:txBody>
      </p:sp>
      <p:sp>
        <p:nvSpPr>
          <p:cNvPr id="13" name="">
            <a:extLst xmlns:a="http://schemas.openxmlformats.org/drawingml/2006/main">
              <a:ext uri="{FF2B5EF4-FFF2-40B4-BE49-F238E27FC236}">
                <a16:creationId xmlns:a16="http://schemas.microsoft.com/office/drawing/2014/main" id="{5217780A-3814-4ACE-A344-058A06A54591}"/>
              </a:ext>
            </a:extLst>
          </p:cNvPr>
          <p:cNvSpPr>
            <a:spLocks xmlns:a="http://schemas.openxmlformats.org/drawingml/2006/main" noGrp="1"/>
          </p:cNvSpPr>
          <p:nvPr/>
        </p:nvSpPr>
        <p:spPr>
          <a:xfrm xmlns:a="http://schemas.openxmlformats.org/drawingml/2006/main">
            <a:off x="609600" y="598170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779"/>
                </a:solidFill>
                <a:latin typeface="Arial"/>
                <a:ea typeface="Arial"/>
                <a:cs typeface="Arial"/>
              </a:defRPr>
            </a:defPPr>
            <a:lvl1pPr>
              <a:defRPr sz="1425" b="0">
                <a:solidFill>
                  <a:srgbClr val="526779"/>
                </a:solidFill>
                <a:latin typeface="Arial"/>
                <a:ea typeface="Arial"/>
                <a:cs typeface="Arial"/>
              </a:defRPr>
            </a:lvl1pPr>
            <a:lvl2pPr>
              <a:defRPr sz="1425" b="0">
                <a:solidFill>
                  <a:srgbClr val="526779"/>
                </a:solidFill>
                <a:latin typeface="Arial"/>
                <a:ea typeface="Arial"/>
                <a:cs typeface="Arial"/>
              </a:defRPr>
            </a:lvl2pPr>
            <a:lvl3pPr>
              <a:defRPr sz="1425" b="0">
                <a:solidFill>
                  <a:srgbClr val="526779"/>
                </a:solidFill>
                <a:latin typeface="Arial"/>
                <a:ea typeface="Arial"/>
                <a:cs typeface="Arial"/>
              </a:defRPr>
            </a:lvl3pPr>
            <a:lvl4pPr>
              <a:defRPr sz="1425" b="0">
                <a:solidFill>
                  <a:srgbClr val="526779"/>
                </a:solidFill>
                <a:latin typeface="Arial"/>
                <a:ea typeface="Arial"/>
                <a:cs typeface="Arial"/>
              </a:defRPr>
            </a:lvl4pPr>
            <a:lvl5pPr>
              <a:defRPr sz="1425" b="0">
                <a:solidFill>
                  <a:srgbClr val="526779"/>
                </a:solidFill>
                <a:latin typeface="Arial"/>
                <a:ea typeface="Arial"/>
                <a:cs typeface="Arial"/>
              </a:defRPr>
            </a:lvl5pPr>
            <a:lvl6pPr>
              <a:defRPr sz="1425" b="0">
                <a:solidFill>
                  <a:srgbClr val="526779"/>
                </a:solidFill>
                <a:latin typeface="Arial"/>
                <a:ea typeface="Arial"/>
                <a:cs typeface="Arial"/>
              </a:defRPr>
            </a:lvl6pPr>
            <a:lvl7pPr>
              <a:defRPr sz="1425" b="0">
                <a:solidFill>
                  <a:srgbClr val="526779"/>
                </a:solidFill>
                <a:latin typeface="Arial"/>
                <a:ea typeface="Arial"/>
                <a:cs typeface="Arial"/>
              </a:defRPr>
            </a:lvl7pPr>
            <a:lvl8pPr>
              <a:defRPr sz="1425" b="0">
                <a:solidFill>
                  <a:srgbClr val="526779"/>
                </a:solidFill>
                <a:latin typeface="Arial"/>
                <a:ea typeface="Arial"/>
                <a:cs typeface="Arial"/>
              </a:defRPr>
            </a:lvl8pPr>
            <a:lvl9pPr>
              <a:defRPr sz="1425" b="0">
                <a:solidFill>
                  <a:srgbClr val="526779"/>
                </a:solidFill>
                <a:latin typeface="Arial"/>
                <a:ea typeface="Arial"/>
                <a:cs typeface="Arial"/>
              </a:defRPr>
            </a:lvl9pPr>
          </a:lstStyle>
          <a:p xmlns:a="http://schemas.openxmlformats.org/drawingml/2006/main">
            <a:pPr>
              <a:defRPr sz="1425" b="0">
                <a:solidFill>
                  <a:srgbClr val="526779"/>
                </a:solidFill>
                <a:latin typeface="Arial"/>
                <a:ea typeface="Arial"/>
                <a:cs typeface="Arial"/>
              </a:defRPr>
            </a:pPr>
            <a:r>
              <a:rPr sz="1425" b="0">
                <a:solidFill>
                  <a:srgbClr val="526779"/>
                </a:solidFill>
                <a:latin typeface="Arial"/>
                <a:ea typeface="Arial"/>
                <a:cs typeface="Arial"/>
              </a:rPr>
              <a:t>Counts overlap: Round 2 includes the seed-42 pilot; Round 3 includes C = 1 reproduction.</a:t>
            </a:r>
          </a:p>
        </p:txBody>
      </p:sp>
    </p:spTree>
    <p:extLst>
      <p:ext uri="{BB962C8B-B14F-4D97-AF65-F5344CB8AC3E}">
        <p14:creationId xmlns:p14="http://schemas.microsoft.com/office/powerpoint/2010/main" val="13776887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72BA681-9E1C-44E3-A3B9-63AA5DF34F3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32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C59D36-39FA-4F59-82B1-710AC4F6FFD7}"/>
              </a:ext>
            </a:extLst>
          </p:cNvPr>
          <p:cNvSpPr>
            <a:spLocks xmlns:a="http://schemas.openxmlformats.org/drawingml/2006/main" noGrp="1"/>
          </p:cNvSpPr>
          <p:nvPr/>
        </p:nvSpPr>
        <p:spPr>
          <a:xfrm xmlns:a="http://schemas.openxmlformats.org/drawingml/2006/main">
            <a:off x="609600" y="30480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526779"/>
                </a:solidFill>
                <a:latin typeface="Arial"/>
                <a:ea typeface="Arial"/>
                <a:cs typeface="Arial"/>
              </a:defRPr>
            </a:defPPr>
            <a:lvl1pPr>
              <a:buNone/>
              <a:defRPr sz="1350" b="1">
                <a:solidFill>
                  <a:srgbClr val="526779"/>
                </a:solidFill>
                <a:latin typeface="Arial"/>
                <a:ea typeface="Arial"/>
                <a:cs typeface="Arial"/>
              </a:defRPr>
            </a:lvl1pPr>
            <a:lvl2pPr>
              <a:buNone/>
              <a:defRPr sz="1350" b="1">
                <a:solidFill>
                  <a:srgbClr val="526779"/>
                </a:solidFill>
                <a:latin typeface="Arial"/>
                <a:ea typeface="Arial"/>
                <a:cs typeface="Arial"/>
              </a:defRPr>
            </a:lvl2pPr>
            <a:lvl3pPr>
              <a:buNone/>
              <a:defRPr sz="1350" b="1">
                <a:solidFill>
                  <a:srgbClr val="526779"/>
                </a:solidFill>
                <a:latin typeface="Arial"/>
                <a:ea typeface="Arial"/>
                <a:cs typeface="Arial"/>
              </a:defRPr>
            </a:lvl3pPr>
            <a:lvl4pPr>
              <a:buNone/>
              <a:defRPr sz="1350" b="1">
                <a:solidFill>
                  <a:srgbClr val="526779"/>
                </a:solidFill>
                <a:latin typeface="Arial"/>
                <a:ea typeface="Arial"/>
                <a:cs typeface="Arial"/>
              </a:defRPr>
            </a:lvl4pPr>
            <a:lvl5pPr>
              <a:buNone/>
              <a:defRPr sz="1350" b="1">
                <a:solidFill>
                  <a:srgbClr val="526779"/>
                </a:solidFill>
                <a:latin typeface="Arial"/>
                <a:ea typeface="Arial"/>
                <a:cs typeface="Arial"/>
              </a:defRPr>
            </a:lvl5pPr>
            <a:lvl6pPr>
              <a:buNone/>
              <a:defRPr sz="1350" b="1">
                <a:solidFill>
                  <a:srgbClr val="526779"/>
                </a:solidFill>
                <a:latin typeface="Arial"/>
                <a:ea typeface="Arial"/>
                <a:cs typeface="Arial"/>
              </a:defRPr>
            </a:lvl6pPr>
            <a:lvl7pPr>
              <a:buNone/>
              <a:defRPr sz="1350" b="1">
                <a:solidFill>
                  <a:srgbClr val="526779"/>
                </a:solidFill>
                <a:latin typeface="Arial"/>
                <a:ea typeface="Arial"/>
                <a:cs typeface="Arial"/>
              </a:defRPr>
            </a:lvl7pPr>
            <a:lvl8pPr>
              <a:buNone/>
              <a:defRPr sz="1350" b="1">
                <a:solidFill>
                  <a:srgbClr val="526779"/>
                </a:solidFill>
                <a:latin typeface="Arial"/>
                <a:ea typeface="Arial"/>
                <a:cs typeface="Arial"/>
              </a:defRPr>
            </a:lvl8pPr>
            <a:lvl9pPr>
              <a:buNone/>
              <a:defRPr sz="1350" b="1">
                <a:solidFill>
                  <a:srgbClr val="526779"/>
                </a:solidFill>
                <a:latin typeface="Arial"/>
                <a:ea typeface="Arial"/>
                <a:cs typeface="Arial"/>
              </a:defRPr>
            </a:lvl9pPr>
          </a:lstStyle>
          <a:p xmlns:a="http://schemas.openxmlformats.org/drawingml/2006/main">
            <a:pPr>
              <a:buNone/>
              <a:defRPr sz="1350" b="1">
                <a:solidFill>
                  <a:srgbClr val="526779"/>
                </a:solidFill>
                <a:latin typeface="Arial"/>
                <a:ea typeface="Arial"/>
                <a:cs typeface="Arial"/>
              </a:defRPr>
            </a:pPr>
            <a:r>
              <a:rPr sz="1350" b="1">
                <a:solidFill>
                  <a:srgbClr val="526779"/>
                </a:solidFill>
                <a:latin typeface="Arial"/>
                <a:ea typeface="Arial"/>
                <a:cs typeface="Arial"/>
              </a:rPr>
              <a:t>NEWSREPLAB  /  ICSI436 PROJECT P</a:t>
            </a:r>
          </a:p>
        </p:txBody>
      </p:sp>
      <p:sp>
        <p:nvSpPr>
          <p:cNvPr id="3" name="">
            <a:extLst xmlns:a="http://schemas.openxmlformats.org/drawingml/2006/main">
              <a:ext uri="{FF2B5EF4-FFF2-40B4-BE49-F238E27FC236}">
                <a16:creationId xmlns:a16="http://schemas.microsoft.com/office/drawing/2014/main" id="{90F4D465-1B75-458B-A857-BAE03655ECD4}"/>
              </a:ext>
            </a:extLst>
          </p:cNvPr>
          <p:cNvSpPr>
            <a:spLocks xmlns:a="http://schemas.openxmlformats.org/drawingml/2006/main" noGrp="1"/>
          </p:cNvSpPr>
          <p:nvPr/>
        </p:nvSpPr>
        <p:spPr>
          <a:xfrm xmlns:a="http://schemas.openxmlformats.org/drawingml/2006/main">
            <a:off x="609600" y="76200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buNone/>
              <a:defRPr sz="3150" b="1">
                <a:solidFill>
                  <a:srgbClr val="16324F"/>
                </a:solidFill>
                <a:latin typeface="Arial"/>
                <a:ea typeface="Arial"/>
                <a:cs typeface="Arial"/>
              </a:defRPr>
            </a:lvl1pPr>
            <a:lvl2pPr>
              <a:buNone/>
              <a:defRPr sz="3150" b="1">
                <a:solidFill>
                  <a:srgbClr val="16324F"/>
                </a:solidFill>
                <a:latin typeface="Arial"/>
                <a:ea typeface="Arial"/>
                <a:cs typeface="Arial"/>
              </a:defRPr>
            </a:lvl2pPr>
            <a:lvl3pPr>
              <a:buNone/>
              <a:defRPr sz="3150" b="1">
                <a:solidFill>
                  <a:srgbClr val="16324F"/>
                </a:solidFill>
                <a:latin typeface="Arial"/>
                <a:ea typeface="Arial"/>
                <a:cs typeface="Arial"/>
              </a:defRPr>
            </a:lvl3pPr>
            <a:lvl4pPr>
              <a:buNone/>
              <a:defRPr sz="3150" b="1">
                <a:solidFill>
                  <a:srgbClr val="16324F"/>
                </a:solidFill>
                <a:latin typeface="Arial"/>
                <a:ea typeface="Arial"/>
                <a:cs typeface="Arial"/>
              </a:defRPr>
            </a:lvl4pPr>
            <a:lvl5pPr>
              <a:buNone/>
              <a:defRPr sz="3150" b="1">
                <a:solidFill>
                  <a:srgbClr val="16324F"/>
                </a:solidFill>
                <a:latin typeface="Arial"/>
                <a:ea typeface="Arial"/>
                <a:cs typeface="Arial"/>
              </a:defRPr>
            </a:lvl5pPr>
            <a:lvl6pPr>
              <a:buNone/>
              <a:defRPr sz="3150" b="1">
                <a:solidFill>
                  <a:srgbClr val="16324F"/>
                </a:solidFill>
                <a:latin typeface="Arial"/>
                <a:ea typeface="Arial"/>
                <a:cs typeface="Arial"/>
              </a:defRPr>
            </a:lvl6pPr>
            <a:lvl7pPr>
              <a:buNone/>
              <a:defRPr sz="3150" b="1">
                <a:solidFill>
                  <a:srgbClr val="16324F"/>
                </a:solidFill>
                <a:latin typeface="Arial"/>
                <a:ea typeface="Arial"/>
                <a:cs typeface="Arial"/>
              </a:defRPr>
            </a:lvl7pPr>
            <a:lvl8pPr>
              <a:buNone/>
              <a:defRPr sz="3150" b="1">
                <a:solidFill>
                  <a:srgbClr val="16324F"/>
                </a:solidFill>
                <a:latin typeface="Arial"/>
                <a:ea typeface="Arial"/>
                <a:cs typeface="Arial"/>
              </a:defRPr>
            </a:lvl8pPr>
            <a:lvl9pPr>
              <a:buNone/>
              <a:defRPr sz="3150" b="1">
                <a:solidFill>
                  <a:srgbClr val="16324F"/>
                </a:solidFill>
                <a:latin typeface="Arial"/>
                <a:ea typeface="Arial"/>
                <a:cs typeface="Arial"/>
              </a:defRPr>
            </a:lvl9pPr>
          </a:lstStyle>
          <a:p xmlns:a="http://schemas.openxmlformats.org/drawingml/2006/main">
            <a:pPr>
              <a:buNone/>
              <a:defRPr sz="3150" b="1">
                <a:solidFill>
                  <a:srgbClr val="16324F"/>
                </a:solidFill>
                <a:latin typeface="Arial"/>
                <a:ea typeface="Arial"/>
                <a:cs typeface="Arial"/>
              </a:defRPr>
            </a:pPr>
            <a:r>
              <a:rPr sz="3150" b="1">
                <a:solidFill>
                  <a:srgbClr val="16324F"/>
                </a:solidFill>
                <a:latin typeface="Arial"/>
                <a:ea typeface="Arial"/>
                <a:cs typeface="Arial"/>
              </a:rPr>
              <a:t>Current Progress and Key Findings</a:t>
            </a:r>
          </a:p>
        </p:txBody>
      </p:sp>
      <p:sp>
        <p:nvSpPr>
          <p:cNvPr id="4" name="">
            <a:extLst xmlns:a="http://schemas.openxmlformats.org/drawingml/2006/main">
              <a:ext uri="{FF2B5EF4-FFF2-40B4-BE49-F238E27FC236}">
                <a16:creationId xmlns:a16="http://schemas.microsoft.com/office/drawing/2014/main" id="{D7A5750A-F944-4FC0-9950-ED2606C9804A}"/>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CED8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304BFB-564E-4AB2-B689-789C25AF2969}"/>
              </a:ext>
            </a:extLst>
          </p:cNvPr>
          <p:cNvSpPr>
            <a:spLocks xmlns:a="http://schemas.openxmlformats.org/drawingml/2006/main" noGrp="1"/>
          </p:cNvSpPr>
          <p:nvPr/>
        </p:nvSpPr>
        <p:spPr>
          <a:xfrm xmlns:a="http://schemas.openxmlformats.org/drawingml/2006/main">
            <a:off x="609600" y="646747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9"/>
                </a:solidFill>
                <a:latin typeface="Arial"/>
                <a:ea typeface="Arial"/>
                <a:cs typeface="Arial"/>
              </a:defRPr>
            </a:defPPr>
            <a:lvl1pPr>
              <a:buNone/>
              <a:defRPr sz="1275" b="0">
                <a:solidFill>
                  <a:srgbClr val="526779"/>
                </a:solidFill>
                <a:latin typeface="Arial"/>
                <a:ea typeface="Arial"/>
                <a:cs typeface="Arial"/>
              </a:defRPr>
            </a:lvl1pPr>
            <a:lvl2pPr>
              <a:buNone/>
              <a:defRPr sz="1275" b="0">
                <a:solidFill>
                  <a:srgbClr val="526779"/>
                </a:solidFill>
                <a:latin typeface="Arial"/>
                <a:ea typeface="Arial"/>
                <a:cs typeface="Arial"/>
              </a:defRPr>
            </a:lvl2pPr>
            <a:lvl3pPr>
              <a:buNone/>
              <a:defRPr sz="1275" b="0">
                <a:solidFill>
                  <a:srgbClr val="526779"/>
                </a:solidFill>
                <a:latin typeface="Arial"/>
                <a:ea typeface="Arial"/>
                <a:cs typeface="Arial"/>
              </a:defRPr>
            </a:lvl3pPr>
            <a:lvl4pPr>
              <a:buNone/>
              <a:defRPr sz="1275" b="0">
                <a:solidFill>
                  <a:srgbClr val="526779"/>
                </a:solidFill>
                <a:latin typeface="Arial"/>
                <a:ea typeface="Arial"/>
                <a:cs typeface="Arial"/>
              </a:defRPr>
            </a:lvl4pPr>
            <a:lvl5pPr>
              <a:buNone/>
              <a:defRPr sz="1275" b="0">
                <a:solidFill>
                  <a:srgbClr val="526779"/>
                </a:solidFill>
                <a:latin typeface="Arial"/>
                <a:ea typeface="Arial"/>
                <a:cs typeface="Arial"/>
              </a:defRPr>
            </a:lvl5pPr>
            <a:lvl6pPr>
              <a:buNone/>
              <a:defRPr sz="1275" b="0">
                <a:solidFill>
                  <a:srgbClr val="526779"/>
                </a:solidFill>
                <a:latin typeface="Arial"/>
                <a:ea typeface="Arial"/>
                <a:cs typeface="Arial"/>
              </a:defRPr>
            </a:lvl6pPr>
            <a:lvl7pPr>
              <a:buNone/>
              <a:defRPr sz="1275" b="0">
                <a:solidFill>
                  <a:srgbClr val="526779"/>
                </a:solidFill>
                <a:latin typeface="Arial"/>
                <a:ea typeface="Arial"/>
                <a:cs typeface="Arial"/>
              </a:defRPr>
            </a:lvl7pPr>
            <a:lvl8pPr>
              <a:buNone/>
              <a:defRPr sz="1275" b="0">
                <a:solidFill>
                  <a:srgbClr val="526779"/>
                </a:solidFill>
                <a:latin typeface="Arial"/>
                <a:ea typeface="Arial"/>
                <a:cs typeface="Arial"/>
              </a:defRPr>
            </a:lvl8pPr>
            <a:lvl9pPr>
              <a:buNone/>
              <a:defRPr sz="1275" b="0">
                <a:solidFill>
                  <a:srgbClr val="526779"/>
                </a:solidFill>
                <a:latin typeface="Arial"/>
                <a:ea typeface="Arial"/>
                <a:cs typeface="Arial"/>
              </a:defRPr>
            </a:lvl9pPr>
          </a:lstStyle>
          <a:p xmlns:a="http://schemas.openxmlformats.org/drawingml/2006/main">
            <a:pPr>
              <a:buNone/>
              <a:defRPr sz="1275" b="0">
                <a:solidFill>
                  <a:srgbClr val="526779"/>
                </a:solidFill>
                <a:latin typeface="Arial"/>
                <a:ea typeface="Arial"/>
                <a:cs typeface="Arial"/>
              </a:defRPr>
            </a:pPr>
            <a:r>
              <a:rPr sz="1275" b="0">
                <a:solidFill>
                  <a:srgbClr val="526779"/>
                </a:solidFill>
                <a:latin typeface="Arial"/>
                <a:ea typeface="Arial"/>
                <a:cs typeface="Arial"/>
              </a:rPr>
              <a:t>Midterm progress  •  Validation results only</a:t>
            </a:r>
          </a:p>
        </p:txBody>
      </p:sp>
      <p:sp>
        <p:nvSpPr>
          <p:cNvPr id="6" name="">
            <a:extLst xmlns:a="http://schemas.openxmlformats.org/drawingml/2006/main">
              <a:ext uri="{FF2B5EF4-FFF2-40B4-BE49-F238E27FC236}">
                <a16:creationId xmlns:a16="http://schemas.microsoft.com/office/drawing/2014/main" id="{740B7204-93B7-42C7-A123-BC6A73FDF2A2}"/>
              </a:ext>
            </a:extLst>
          </p:cNvPr>
          <p:cNvSpPr>
            <a:spLocks xmlns:a="http://schemas.openxmlformats.org/drawingml/2006/main" noGrp="1"/>
          </p:cNvSpPr>
          <p:nvPr/>
        </p:nvSpPr>
        <p:spPr>
          <a:xfrm xmlns:a="http://schemas.openxmlformats.org/drawingml/2006/main">
            <a:off x="10858500" y="64674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9"/>
                </a:solidFill>
                <a:latin typeface="Arial"/>
                <a:ea typeface="Arial"/>
                <a:cs typeface="Arial"/>
              </a:defRPr>
            </a:defPPr>
            <a:lvl1pPr>
              <a:buNone/>
              <a:defRPr sz="1275" b="0">
                <a:solidFill>
                  <a:srgbClr val="526779"/>
                </a:solidFill>
                <a:latin typeface="Arial"/>
                <a:ea typeface="Arial"/>
                <a:cs typeface="Arial"/>
              </a:defRPr>
            </a:lvl1pPr>
            <a:lvl2pPr>
              <a:buNone/>
              <a:defRPr sz="1275" b="0">
                <a:solidFill>
                  <a:srgbClr val="526779"/>
                </a:solidFill>
                <a:latin typeface="Arial"/>
                <a:ea typeface="Arial"/>
                <a:cs typeface="Arial"/>
              </a:defRPr>
            </a:lvl2pPr>
            <a:lvl3pPr>
              <a:buNone/>
              <a:defRPr sz="1275" b="0">
                <a:solidFill>
                  <a:srgbClr val="526779"/>
                </a:solidFill>
                <a:latin typeface="Arial"/>
                <a:ea typeface="Arial"/>
                <a:cs typeface="Arial"/>
              </a:defRPr>
            </a:lvl3pPr>
            <a:lvl4pPr>
              <a:buNone/>
              <a:defRPr sz="1275" b="0">
                <a:solidFill>
                  <a:srgbClr val="526779"/>
                </a:solidFill>
                <a:latin typeface="Arial"/>
                <a:ea typeface="Arial"/>
                <a:cs typeface="Arial"/>
              </a:defRPr>
            </a:lvl4pPr>
            <a:lvl5pPr>
              <a:buNone/>
              <a:defRPr sz="1275" b="0">
                <a:solidFill>
                  <a:srgbClr val="526779"/>
                </a:solidFill>
                <a:latin typeface="Arial"/>
                <a:ea typeface="Arial"/>
                <a:cs typeface="Arial"/>
              </a:defRPr>
            </a:lvl5pPr>
            <a:lvl6pPr>
              <a:buNone/>
              <a:defRPr sz="1275" b="0">
                <a:solidFill>
                  <a:srgbClr val="526779"/>
                </a:solidFill>
                <a:latin typeface="Arial"/>
                <a:ea typeface="Arial"/>
                <a:cs typeface="Arial"/>
              </a:defRPr>
            </a:lvl6pPr>
            <a:lvl7pPr>
              <a:buNone/>
              <a:defRPr sz="1275" b="0">
                <a:solidFill>
                  <a:srgbClr val="526779"/>
                </a:solidFill>
                <a:latin typeface="Arial"/>
                <a:ea typeface="Arial"/>
                <a:cs typeface="Arial"/>
              </a:defRPr>
            </a:lvl7pPr>
            <a:lvl8pPr>
              <a:buNone/>
              <a:defRPr sz="1275" b="0">
                <a:solidFill>
                  <a:srgbClr val="526779"/>
                </a:solidFill>
                <a:latin typeface="Arial"/>
                <a:ea typeface="Arial"/>
                <a:cs typeface="Arial"/>
              </a:defRPr>
            </a:lvl8pPr>
            <a:lvl9pPr>
              <a:buNone/>
              <a:defRPr sz="1275" b="0">
                <a:solidFill>
                  <a:srgbClr val="526779"/>
                </a:solidFill>
                <a:latin typeface="Arial"/>
                <a:ea typeface="Arial"/>
                <a:cs typeface="Arial"/>
              </a:defRPr>
            </a:lvl9pPr>
          </a:lstStyle>
          <a:p xmlns:a="http://schemas.openxmlformats.org/drawingml/2006/main">
            <a:pPr>
              <a:buNone/>
              <a:defRPr sz="1275" b="0">
                <a:solidFill>
                  <a:srgbClr val="526779"/>
                </a:solidFill>
                <a:latin typeface="Arial"/>
                <a:ea typeface="Arial"/>
                <a:cs typeface="Arial"/>
              </a:defRPr>
            </a:pPr>
            <a:r>
              <a:rPr sz="1275" b="0">
                <a:solidFill>
                  <a:srgbClr val="526779"/>
                </a:solidFill>
                <a:latin typeface="Arial"/>
                <a:ea typeface="Arial"/>
                <a:cs typeface="Arial"/>
              </a:rPr>
              <a:t>4 / 5</a:t>
            </a:r>
          </a:p>
        </p:txBody>
      </p:sp>
      <p:sp>
        <p:nvSpPr>
          <p:cNvPr id="7" name="">
            <a:extLst xmlns:a="http://schemas.openxmlformats.org/drawingml/2006/main">
              <a:ext uri="{FF2B5EF4-FFF2-40B4-BE49-F238E27FC236}">
                <a16:creationId xmlns:a16="http://schemas.microsoft.com/office/drawing/2014/main" id="{037E8BA8-08BC-4A0C-93C8-1F3F5F39BEC6}"/>
              </a:ext>
            </a:extLst>
          </p:cNvPr>
          <p:cNvSpPr>
            <a:spLocks xmlns:a="http://schemas.openxmlformats.org/drawingml/2006/main" noGrp="1"/>
          </p:cNvSpPr>
          <p:nvPr/>
        </p:nvSpPr>
        <p:spPr>
          <a:xfrm xmlns:a="http://schemas.openxmlformats.org/drawingml/2006/main">
            <a:off x="609600" y="1504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324F"/>
                </a:solidFill>
                <a:latin typeface="Arial"/>
                <a:ea typeface="Arial"/>
                <a:cs typeface="Arial"/>
              </a:defRPr>
            </a:defPPr>
            <a:lvl1pPr>
              <a:buNone/>
              <a:defRPr sz="2175" b="1">
                <a:solidFill>
                  <a:srgbClr val="16324F"/>
                </a:solidFill>
                <a:latin typeface="Arial"/>
                <a:ea typeface="Arial"/>
                <a:cs typeface="Arial"/>
              </a:defRPr>
            </a:lvl1pPr>
            <a:lvl2pPr>
              <a:buNone/>
              <a:defRPr sz="2175" b="1">
                <a:solidFill>
                  <a:srgbClr val="16324F"/>
                </a:solidFill>
                <a:latin typeface="Arial"/>
                <a:ea typeface="Arial"/>
                <a:cs typeface="Arial"/>
              </a:defRPr>
            </a:lvl2pPr>
            <a:lvl3pPr>
              <a:buNone/>
              <a:defRPr sz="2175" b="1">
                <a:solidFill>
                  <a:srgbClr val="16324F"/>
                </a:solidFill>
                <a:latin typeface="Arial"/>
                <a:ea typeface="Arial"/>
                <a:cs typeface="Arial"/>
              </a:defRPr>
            </a:lvl3pPr>
            <a:lvl4pPr>
              <a:buNone/>
              <a:defRPr sz="2175" b="1">
                <a:solidFill>
                  <a:srgbClr val="16324F"/>
                </a:solidFill>
                <a:latin typeface="Arial"/>
                <a:ea typeface="Arial"/>
                <a:cs typeface="Arial"/>
              </a:defRPr>
            </a:lvl4pPr>
            <a:lvl5pPr>
              <a:buNone/>
              <a:defRPr sz="2175" b="1">
                <a:solidFill>
                  <a:srgbClr val="16324F"/>
                </a:solidFill>
                <a:latin typeface="Arial"/>
                <a:ea typeface="Arial"/>
                <a:cs typeface="Arial"/>
              </a:defRPr>
            </a:lvl5pPr>
            <a:lvl6pPr>
              <a:buNone/>
              <a:defRPr sz="2175" b="1">
                <a:solidFill>
                  <a:srgbClr val="16324F"/>
                </a:solidFill>
                <a:latin typeface="Arial"/>
                <a:ea typeface="Arial"/>
                <a:cs typeface="Arial"/>
              </a:defRPr>
            </a:lvl6pPr>
            <a:lvl7pPr>
              <a:buNone/>
              <a:defRPr sz="2175" b="1">
                <a:solidFill>
                  <a:srgbClr val="16324F"/>
                </a:solidFill>
                <a:latin typeface="Arial"/>
                <a:ea typeface="Arial"/>
                <a:cs typeface="Arial"/>
              </a:defRPr>
            </a:lvl7pPr>
            <a:lvl8pPr>
              <a:buNone/>
              <a:defRPr sz="2175" b="1">
                <a:solidFill>
                  <a:srgbClr val="16324F"/>
                </a:solidFill>
                <a:latin typeface="Arial"/>
                <a:ea typeface="Arial"/>
                <a:cs typeface="Arial"/>
              </a:defRPr>
            </a:lvl8pPr>
            <a:lvl9pPr>
              <a:buNone/>
              <a:defRPr sz="2175" b="1">
                <a:solidFill>
                  <a:srgbClr val="16324F"/>
                </a:solidFill>
                <a:latin typeface="Arial"/>
                <a:ea typeface="Arial"/>
                <a:cs typeface="Arial"/>
              </a:defRPr>
            </a:lvl9pPr>
          </a:lstStyle>
          <a:p xmlns:a="http://schemas.openxmlformats.org/drawingml/2006/main">
            <a:pPr>
              <a:buNone/>
              <a:defRPr sz="2175" b="1">
                <a:solidFill>
                  <a:srgbClr val="16324F"/>
                </a:solidFill>
                <a:latin typeface="Arial"/>
                <a:ea typeface="Arial"/>
                <a:cs typeface="Arial"/>
              </a:defRPr>
            </a:pPr>
            <a:r>
              <a:rPr sz="2175" b="1">
                <a:solidFill>
                  <a:srgbClr val="16324F"/>
                </a:solidFill>
                <a:latin typeface="Arial"/>
                <a:ea typeface="Arial"/>
                <a:cs typeface="Arial"/>
              </a:rPr>
              <a:t>MiniLM leads in these runs, especially at 100 labels.</a:t>
            </a:r>
          </a:p>
        </p:txBody>
      </p:sp>
      <p:sp>
        <p:nvSpPr>
          <p:cNvPr id="8" name="">
            <a:extLst xmlns:a="http://schemas.openxmlformats.org/drawingml/2006/main">
              <a:ext uri="{FF2B5EF4-FFF2-40B4-BE49-F238E27FC236}">
                <a16:creationId xmlns:a16="http://schemas.microsoft.com/office/drawing/2014/main" id="{DC4ADC8D-B0D6-4081-A790-954E51317344}"/>
              </a:ext>
            </a:extLst>
          </p:cNvPr>
          <p:cNvSpPr>
            <a:spLocks xmlns:a="http://schemas.openxmlformats.org/drawingml/2006/main" noGrp="1"/>
          </p:cNvSpPr>
          <p:nvPr/>
        </p:nvSpPr>
        <p:spPr>
          <a:xfrm xmlns:a="http://schemas.openxmlformats.org/drawingml/2006/main">
            <a:off x="609600" y="2152650"/>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6324F"/>
                </a:solidFill>
                <a:latin typeface="Arial"/>
                <a:ea typeface="Arial"/>
                <a:cs typeface="Arial"/>
              </a:defRPr>
            </a:defPPr>
            <a:lvl1pPr>
              <a:buNone/>
              <a:defRPr sz="1800" b="1">
                <a:solidFill>
                  <a:srgbClr val="16324F"/>
                </a:solidFill>
                <a:latin typeface="Arial"/>
                <a:ea typeface="Arial"/>
                <a:cs typeface="Arial"/>
              </a:defRPr>
            </a:lvl1pPr>
            <a:lvl2pPr>
              <a:buNone/>
              <a:defRPr sz="1800" b="1">
                <a:solidFill>
                  <a:srgbClr val="16324F"/>
                </a:solidFill>
                <a:latin typeface="Arial"/>
                <a:ea typeface="Arial"/>
                <a:cs typeface="Arial"/>
              </a:defRPr>
            </a:lvl2pPr>
            <a:lvl3pPr>
              <a:buNone/>
              <a:defRPr sz="1800" b="1">
                <a:solidFill>
                  <a:srgbClr val="16324F"/>
                </a:solidFill>
                <a:latin typeface="Arial"/>
                <a:ea typeface="Arial"/>
                <a:cs typeface="Arial"/>
              </a:defRPr>
            </a:lvl3pPr>
            <a:lvl4pPr>
              <a:buNone/>
              <a:defRPr sz="1800" b="1">
                <a:solidFill>
                  <a:srgbClr val="16324F"/>
                </a:solidFill>
                <a:latin typeface="Arial"/>
                <a:ea typeface="Arial"/>
                <a:cs typeface="Arial"/>
              </a:defRPr>
            </a:lvl4pPr>
            <a:lvl5pPr>
              <a:buNone/>
              <a:defRPr sz="1800" b="1">
                <a:solidFill>
                  <a:srgbClr val="16324F"/>
                </a:solidFill>
                <a:latin typeface="Arial"/>
                <a:ea typeface="Arial"/>
                <a:cs typeface="Arial"/>
              </a:defRPr>
            </a:lvl5pPr>
            <a:lvl6pPr>
              <a:buNone/>
              <a:defRPr sz="1800" b="1">
                <a:solidFill>
                  <a:srgbClr val="16324F"/>
                </a:solidFill>
                <a:latin typeface="Arial"/>
                <a:ea typeface="Arial"/>
                <a:cs typeface="Arial"/>
              </a:defRPr>
            </a:lvl6pPr>
            <a:lvl7pPr>
              <a:buNone/>
              <a:defRPr sz="1800" b="1">
                <a:solidFill>
                  <a:srgbClr val="16324F"/>
                </a:solidFill>
                <a:latin typeface="Arial"/>
                <a:ea typeface="Arial"/>
                <a:cs typeface="Arial"/>
              </a:defRPr>
            </a:lvl7pPr>
            <a:lvl8pPr>
              <a:buNone/>
              <a:defRPr sz="1800" b="1">
                <a:solidFill>
                  <a:srgbClr val="16324F"/>
                </a:solidFill>
                <a:latin typeface="Arial"/>
                <a:ea typeface="Arial"/>
                <a:cs typeface="Arial"/>
              </a:defRPr>
            </a:lvl8pPr>
            <a:lvl9pPr>
              <a:buNone/>
              <a:defRPr sz="1800" b="1">
                <a:solidFill>
                  <a:srgbClr val="16324F"/>
                </a:solidFill>
                <a:latin typeface="Arial"/>
                <a:ea typeface="Arial"/>
                <a:cs typeface="Arial"/>
              </a:defRPr>
            </a:lvl9pPr>
          </a:lstStyle>
          <a:p xmlns:a="http://schemas.openxmlformats.org/drawingml/2006/main">
            <a:pPr>
              <a:buNone/>
              <a:defRPr sz="1800" b="1">
                <a:solidFill>
                  <a:srgbClr val="16324F"/>
                </a:solidFill>
                <a:latin typeface="Arial"/>
                <a:ea typeface="Arial"/>
                <a:cs typeface="Arial"/>
              </a:defRPr>
            </a:pPr>
            <a:r>
              <a:rPr sz="1800" b="1">
                <a:solidFill>
                  <a:srgbClr val="16324F"/>
                </a:solidFill>
                <a:latin typeface="Arial"/>
                <a:ea typeface="Arial"/>
                <a:cs typeface="Arial"/>
              </a:rPr>
              <a:t>ROUND 2  ·  Repeated baselines</a:t>
            </a:r>
          </a:p>
        </p:txBody>
      </p:sp>
      <p:sp>
        <p:nvSpPr>
          <p:cNvPr id="9" name="">
            <a:extLst xmlns:a="http://schemas.openxmlformats.org/drawingml/2006/main">
              <a:ext uri="{FF2B5EF4-FFF2-40B4-BE49-F238E27FC236}">
                <a16:creationId xmlns:a16="http://schemas.microsoft.com/office/drawing/2014/main" id="{A909291C-690D-43CE-A79A-B88022AB362D}"/>
              </a:ext>
            </a:extLst>
          </p:cNvPr>
          <p:cNvSpPr>
            <a:spLocks xmlns:a="http://schemas.openxmlformats.org/drawingml/2006/main" noGrp="1"/>
          </p:cNvSpPr>
          <p:nvPr/>
        </p:nvSpPr>
        <p:spPr>
          <a:xfrm xmlns:a="http://schemas.openxmlformats.org/drawingml/2006/main">
            <a:off x="7429500" y="2152650"/>
            <a:ext cx="419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6324F"/>
                </a:solidFill>
                <a:latin typeface="Arial"/>
                <a:ea typeface="Arial"/>
                <a:cs typeface="Arial"/>
              </a:defRPr>
            </a:defPPr>
            <a:lvl1pPr>
              <a:buNone/>
              <a:defRPr sz="1800" b="1">
                <a:solidFill>
                  <a:srgbClr val="16324F"/>
                </a:solidFill>
                <a:latin typeface="Arial"/>
                <a:ea typeface="Arial"/>
                <a:cs typeface="Arial"/>
              </a:defRPr>
            </a:lvl1pPr>
            <a:lvl2pPr>
              <a:buNone/>
              <a:defRPr sz="1800" b="1">
                <a:solidFill>
                  <a:srgbClr val="16324F"/>
                </a:solidFill>
                <a:latin typeface="Arial"/>
                <a:ea typeface="Arial"/>
                <a:cs typeface="Arial"/>
              </a:defRPr>
            </a:lvl2pPr>
            <a:lvl3pPr>
              <a:buNone/>
              <a:defRPr sz="1800" b="1">
                <a:solidFill>
                  <a:srgbClr val="16324F"/>
                </a:solidFill>
                <a:latin typeface="Arial"/>
                <a:ea typeface="Arial"/>
                <a:cs typeface="Arial"/>
              </a:defRPr>
            </a:lvl3pPr>
            <a:lvl4pPr>
              <a:buNone/>
              <a:defRPr sz="1800" b="1">
                <a:solidFill>
                  <a:srgbClr val="16324F"/>
                </a:solidFill>
                <a:latin typeface="Arial"/>
                <a:ea typeface="Arial"/>
                <a:cs typeface="Arial"/>
              </a:defRPr>
            </a:lvl4pPr>
            <a:lvl5pPr>
              <a:buNone/>
              <a:defRPr sz="1800" b="1">
                <a:solidFill>
                  <a:srgbClr val="16324F"/>
                </a:solidFill>
                <a:latin typeface="Arial"/>
                <a:ea typeface="Arial"/>
                <a:cs typeface="Arial"/>
              </a:defRPr>
            </a:lvl5pPr>
            <a:lvl6pPr>
              <a:buNone/>
              <a:defRPr sz="1800" b="1">
                <a:solidFill>
                  <a:srgbClr val="16324F"/>
                </a:solidFill>
                <a:latin typeface="Arial"/>
                <a:ea typeface="Arial"/>
                <a:cs typeface="Arial"/>
              </a:defRPr>
            </a:lvl6pPr>
            <a:lvl7pPr>
              <a:buNone/>
              <a:defRPr sz="1800" b="1">
                <a:solidFill>
                  <a:srgbClr val="16324F"/>
                </a:solidFill>
                <a:latin typeface="Arial"/>
                <a:ea typeface="Arial"/>
                <a:cs typeface="Arial"/>
              </a:defRPr>
            </a:lvl7pPr>
            <a:lvl8pPr>
              <a:buNone/>
              <a:defRPr sz="1800" b="1">
                <a:solidFill>
                  <a:srgbClr val="16324F"/>
                </a:solidFill>
                <a:latin typeface="Arial"/>
                <a:ea typeface="Arial"/>
                <a:cs typeface="Arial"/>
              </a:defRPr>
            </a:lvl8pPr>
            <a:lvl9pPr>
              <a:buNone/>
              <a:defRPr sz="1800" b="1">
                <a:solidFill>
                  <a:srgbClr val="16324F"/>
                </a:solidFill>
                <a:latin typeface="Arial"/>
                <a:ea typeface="Arial"/>
                <a:cs typeface="Arial"/>
              </a:defRPr>
            </a:lvl9pPr>
          </a:lstStyle>
          <a:p xmlns:a="http://schemas.openxmlformats.org/drawingml/2006/main">
            <a:pPr>
              <a:buNone/>
              <a:defRPr sz="1800" b="1">
                <a:solidFill>
                  <a:srgbClr val="16324F"/>
                </a:solidFill>
                <a:latin typeface="Arial"/>
                <a:ea typeface="Arial"/>
                <a:cs typeface="Arial"/>
              </a:defRPr>
            </a:pPr>
            <a:r>
              <a:rPr sz="1800" b="1">
                <a:solidFill>
                  <a:srgbClr val="16324F"/>
                </a:solidFill>
                <a:latin typeface="Arial"/>
                <a:ea typeface="Arial"/>
                <a:cs typeface="Arial"/>
              </a:rPr>
              <a:t>ROUND 3  ·  Exploratory sweep</a:t>
            </a:r>
          </a:p>
        </p:txBody>
      </p:sp>
      <p:graphicFrame>
        <p:nvGraphicFramePr>
          <p:cNvPr id="10" name="Chart">
            <a:extLst xmlns:a="http://schemas.openxmlformats.org/drawingml/2006/main">
              <a:ext uri="{FF2B5EF4-FFF2-40B4-BE49-F238E27FC236}">
                <a16:creationId xmlns:a16="http://schemas.microsoft.com/office/drawing/2014/main" id="{A1AA7E15-199F-4DEE-B165-33B38E51760F}"/>
              </a:ext>
            </a:extLst>
          </p:cNvPr>
          <p:cNvGraphicFramePr/>
          <p:nvPr/>
        </p:nvGraphicFramePr>
        <p:xfrm>
          <a:off xmlns:a="http://schemas.openxmlformats.org/drawingml/2006/main" x="485775" y="2876550"/>
          <a:ext xmlns:a="http://schemas.openxmlformats.org/drawingml/2006/main" cx="6324600" cy="2733675"/>
        </p:xfrm>
        <a:graphic xmlns:a="http://schemas.openxmlformats.org/drawingml/2006/main">
          <a:graphicData uri="http://schemas.openxmlformats.org/drawingml/2006/chart">
            <c:chart xmlns:r="http://schemas.openxmlformats.org/officeDocument/2006/relationships" xmlns:c="http://schemas.openxmlformats.org/drawingml/2006/chart" r:id="R6d075029338a4cdc"/>
          </a:graphicData>
        </a:graphic>
      </p:graphicFrame>
      <p:sp>
        <p:nvSpPr>
          <p:cNvPr id="11" name="">
            <a:extLst xmlns:a="http://schemas.openxmlformats.org/drawingml/2006/main">
              <a:ext uri="{FF2B5EF4-FFF2-40B4-BE49-F238E27FC236}">
                <a16:creationId xmlns:a16="http://schemas.microsoft.com/office/drawing/2014/main" id="{2DE7902F-52CC-4631-A3AC-36C9578FB599}"/>
              </a:ext>
            </a:extLst>
          </p:cNvPr>
          <p:cNvSpPr>
            <a:spLocks xmlns:a="http://schemas.openxmlformats.org/drawingml/2006/main" noGrp="1"/>
          </p:cNvSpPr>
          <p:nvPr/>
        </p:nvSpPr>
        <p:spPr>
          <a:xfrm xmlns:a="http://schemas.openxmlformats.org/drawingml/2006/main">
            <a:off x="609600" y="2524125"/>
            <a:ext cx="619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79"/>
                </a:solidFill>
                <a:latin typeface="Arial"/>
                <a:ea typeface="Arial"/>
                <a:cs typeface="Arial"/>
              </a:defRPr>
            </a:defPPr>
            <a:lvl1pPr>
              <a:buNone/>
              <a:defRPr sz="1500" b="0">
                <a:solidFill>
                  <a:srgbClr val="526779"/>
                </a:solidFill>
                <a:latin typeface="Arial"/>
                <a:ea typeface="Arial"/>
                <a:cs typeface="Arial"/>
              </a:defRPr>
            </a:lvl1pPr>
            <a:lvl2pPr>
              <a:buNone/>
              <a:defRPr sz="1500" b="0">
                <a:solidFill>
                  <a:srgbClr val="526779"/>
                </a:solidFill>
                <a:latin typeface="Arial"/>
                <a:ea typeface="Arial"/>
                <a:cs typeface="Arial"/>
              </a:defRPr>
            </a:lvl2pPr>
            <a:lvl3pPr>
              <a:buNone/>
              <a:defRPr sz="1500" b="0">
                <a:solidFill>
                  <a:srgbClr val="526779"/>
                </a:solidFill>
                <a:latin typeface="Arial"/>
                <a:ea typeface="Arial"/>
                <a:cs typeface="Arial"/>
              </a:defRPr>
            </a:lvl3pPr>
            <a:lvl4pPr>
              <a:buNone/>
              <a:defRPr sz="1500" b="0">
                <a:solidFill>
                  <a:srgbClr val="526779"/>
                </a:solidFill>
                <a:latin typeface="Arial"/>
                <a:ea typeface="Arial"/>
                <a:cs typeface="Arial"/>
              </a:defRPr>
            </a:lvl4pPr>
            <a:lvl5pPr>
              <a:buNone/>
              <a:defRPr sz="1500" b="0">
                <a:solidFill>
                  <a:srgbClr val="526779"/>
                </a:solidFill>
                <a:latin typeface="Arial"/>
                <a:ea typeface="Arial"/>
                <a:cs typeface="Arial"/>
              </a:defRPr>
            </a:lvl5pPr>
            <a:lvl6pPr>
              <a:buNone/>
              <a:defRPr sz="1500" b="0">
                <a:solidFill>
                  <a:srgbClr val="526779"/>
                </a:solidFill>
                <a:latin typeface="Arial"/>
                <a:ea typeface="Arial"/>
                <a:cs typeface="Arial"/>
              </a:defRPr>
            </a:lvl6pPr>
            <a:lvl7pPr>
              <a:buNone/>
              <a:defRPr sz="1500" b="0">
                <a:solidFill>
                  <a:srgbClr val="526779"/>
                </a:solidFill>
                <a:latin typeface="Arial"/>
                <a:ea typeface="Arial"/>
                <a:cs typeface="Arial"/>
              </a:defRPr>
            </a:lvl7pPr>
            <a:lvl8pPr>
              <a:buNone/>
              <a:defRPr sz="1500" b="0">
                <a:solidFill>
                  <a:srgbClr val="526779"/>
                </a:solidFill>
                <a:latin typeface="Arial"/>
                <a:ea typeface="Arial"/>
                <a:cs typeface="Arial"/>
              </a:defRPr>
            </a:lvl8pPr>
            <a:lvl9pPr>
              <a:buNone/>
              <a:defRPr sz="1500" b="0">
                <a:solidFill>
                  <a:srgbClr val="526779"/>
                </a:solidFill>
                <a:latin typeface="Arial"/>
                <a:ea typeface="Arial"/>
                <a:cs typeface="Arial"/>
              </a:defRPr>
            </a:lvl9pPr>
          </a:lstStyle>
          <a:p xmlns:a="http://schemas.openxmlformats.org/drawingml/2006/main">
            <a:pPr>
              <a:buNone/>
              <a:defRPr sz="1500" b="0">
                <a:solidFill>
                  <a:srgbClr val="526779"/>
                </a:solidFill>
                <a:latin typeface="Arial"/>
                <a:ea typeface="Arial"/>
                <a:cs typeface="Arial"/>
              </a:defRPr>
            </a:pPr>
            <a:r>
              <a:rPr sz="1500" b="0">
                <a:solidFill>
                  <a:srgbClr val="526779"/>
                </a:solidFill>
                <a:latin typeface="Arial"/>
                <a:ea typeface="Arial"/>
                <a:cs typeface="Arial"/>
              </a:rPr>
              <a:t>Mean validation accuracy (%) · C = 1</a:t>
            </a:r>
          </a:p>
        </p:txBody>
      </p:sp>
      <p:sp>
        <p:nvSpPr>
          <p:cNvPr id="12" name="">
            <a:extLst xmlns:a="http://schemas.openxmlformats.org/drawingml/2006/main">
              <a:ext uri="{FF2B5EF4-FFF2-40B4-BE49-F238E27FC236}">
                <a16:creationId xmlns:a16="http://schemas.microsoft.com/office/drawing/2014/main" id="{7F12C0CF-318E-437C-A967-617CACA077DC}"/>
              </a:ext>
            </a:extLst>
          </p:cNvPr>
          <p:cNvSpPr>
            <a:spLocks xmlns:a="http://schemas.openxmlformats.org/drawingml/2006/main" noGrp="1"/>
          </p:cNvSpPr>
          <p:nvPr/>
        </p:nvSpPr>
        <p:spPr>
          <a:xfrm xmlns:a="http://schemas.openxmlformats.org/drawingml/2006/main">
            <a:off x="7429500" y="2581275"/>
            <a:ext cx="41814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779"/>
                </a:solidFill>
                <a:latin typeface="Arial"/>
                <a:ea typeface="Arial"/>
                <a:cs typeface="Arial"/>
              </a:defRPr>
            </a:defPPr>
            <a:lvl1pPr>
              <a:buNone/>
              <a:defRPr sz="1650" b="0">
                <a:solidFill>
                  <a:srgbClr val="526779"/>
                </a:solidFill>
                <a:latin typeface="Arial"/>
                <a:ea typeface="Arial"/>
                <a:cs typeface="Arial"/>
              </a:defRPr>
            </a:lvl1pPr>
            <a:lvl2pPr>
              <a:buNone/>
              <a:defRPr sz="1650" b="0">
                <a:solidFill>
                  <a:srgbClr val="526779"/>
                </a:solidFill>
                <a:latin typeface="Arial"/>
                <a:ea typeface="Arial"/>
                <a:cs typeface="Arial"/>
              </a:defRPr>
            </a:lvl2pPr>
            <a:lvl3pPr>
              <a:buNone/>
              <a:defRPr sz="1650" b="0">
                <a:solidFill>
                  <a:srgbClr val="526779"/>
                </a:solidFill>
                <a:latin typeface="Arial"/>
                <a:ea typeface="Arial"/>
                <a:cs typeface="Arial"/>
              </a:defRPr>
            </a:lvl3pPr>
            <a:lvl4pPr>
              <a:buNone/>
              <a:defRPr sz="1650" b="0">
                <a:solidFill>
                  <a:srgbClr val="526779"/>
                </a:solidFill>
                <a:latin typeface="Arial"/>
                <a:ea typeface="Arial"/>
                <a:cs typeface="Arial"/>
              </a:defRPr>
            </a:lvl4pPr>
            <a:lvl5pPr>
              <a:buNone/>
              <a:defRPr sz="1650" b="0">
                <a:solidFill>
                  <a:srgbClr val="526779"/>
                </a:solidFill>
                <a:latin typeface="Arial"/>
                <a:ea typeface="Arial"/>
                <a:cs typeface="Arial"/>
              </a:defRPr>
            </a:lvl5pPr>
            <a:lvl6pPr>
              <a:buNone/>
              <a:defRPr sz="1650" b="0">
                <a:solidFill>
                  <a:srgbClr val="526779"/>
                </a:solidFill>
                <a:latin typeface="Arial"/>
                <a:ea typeface="Arial"/>
                <a:cs typeface="Arial"/>
              </a:defRPr>
            </a:lvl6pPr>
            <a:lvl7pPr>
              <a:buNone/>
              <a:defRPr sz="1650" b="0">
                <a:solidFill>
                  <a:srgbClr val="526779"/>
                </a:solidFill>
                <a:latin typeface="Arial"/>
                <a:ea typeface="Arial"/>
                <a:cs typeface="Arial"/>
              </a:defRPr>
            </a:lvl7pPr>
            <a:lvl8pPr>
              <a:buNone/>
              <a:defRPr sz="1650" b="0">
                <a:solidFill>
                  <a:srgbClr val="526779"/>
                </a:solidFill>
                <a:latin typeface="Arial"/>
                <a:ea typeface="Arial"/>
                <a:cs typeface="Arial"/>
              </a:defRPr>
            </a:lvl8pPr>
            <a:lvl9pPr>
              <a:buNone/>
              <a:defRPr sz="1650" b="0">
                <a:solidFill>
                  <a:srgbClr val="526779"/>
                </a:solidFill>
                <a:latin typeface="Arial"/>
                <a:ea typeface="Arial"/>
                <a:cs typeface="Arial"/>
              </a:defRPr>
            </a:lvl9pPr>
          </a:lstStyle>
          <a:p xmlns:a="http://schemas.openxmlformats.org/drawingml/2006/main">
            <a:pPr>
              <a:buNone/>
              <a:defRPr sz="1650" b="0">
                <a:solidFill>
                  <a:srgbClr val="526779"/>
                </a:solidFill>
                <a:latin typeface="Arial"/>
                <a:ea typeface="Arial"/>
                <a:cs typeface="Arial"/>
              </a:defRPr>
            </a:pPr>
            <a:r>
              <a:rPr sz="1650" b="0">
                <a:solidFill>
                  <a:srgbClr val="526779"/>
                </a:solidFill>
                <a:latin typeface="Arial"/>
                <a:ea typeface="Arial"/>
                <a:cs typeface="Arial"/>
              </a:rPr>
              <a:t>Mean accuracy (%) · n = 400</a:t>
            </a:r>
          </a:p>
        </p:txBody>
      </p:sp>
      <p:graphicFrame>
        <p:nvGraphicFramePr>
          <p:cNvPr id="13" name="">
            <a:extLst xmlns:a="http://schemas.openxmlformats.org/drawingml/2006/main">
              <a:ext uri="{FF2B5EF4-FFF2-40B4-BE49-F238E27FC236}">
                <a16:creationId xmlns:a16="http://schemas.microsoft.com/office/drawing/2014/main" id="{B5CBBC6D-3EB6-489A-8E25-29065DFBB56A}"/>
              </a:ext>
            </a:extLst>
          </p:cNvPr>
          <p:cNvGraphicFramePr/>
          <p:nvPr/>
        </p:nvGraphicFramePr>
        <p:xfrm>
          <a:off xmlns:a="http://schemas.openxmlformats.org/drawingml/2006/main" x="7429500" y="3009900"/>
          <a:ext xmlns:a="http://schemas.openxmlformats.org/drawingml/2006/main" cx="4152900" cy="1581150"/>
        </p:xfrm>
        <a:graphic xmlns:a="http://schemas.openxmlformats.org/drawingml/2006/main">
          <a:graphicData uri="http://schemas.openxmlformats.org/drawingml/2006/table">
            <a:tbl>
              <a:tblPr/>
              <a:tblGrid>
                <a:gridCol w="1181100"/>
                <a:gridCol w="990600"/>
                <a:gridCol w="990600"/>
                <a:gridCol w="990600"/>
              </a:tblGrid>
              <a:tr h="527050">
                <a:tc>
                  <a:txBody>
                    <a:bodyPr/>
                    <a:lstStyle/>
                    <a:p>
                      <a:r>
                        <a:rPr sz="1725" b="1">
                          <a:solidFill>
                            <a:srgbClr val="FFFFFF"/>
                          </a:solidFill>
                          <a:latin typeface="Arial"/>
                          <a:ea typeface="Arial"/>
                          <a:cs typeface="Arial"/>
                        </a:rPr>
                        <a:t>C</a:t>
                      </a:r>
                    </a:p>
                  </a:txBody>
                  <a:tcPr marL="123825" marR="95250" marT="114300" marB="95250" anchor="ctr">
                    <a:lnL w="9525">
                      <a:solidFill>
                        <a:srgbClr val="CED8E1"/>
                      </a:solidFill>
                      <a:prstDash val="solid"/>
                    </a:lnL>
                    <a:lnR w="9525">
                      <a:solidFill>
                        <a:srgbClr val="CED8E1"/>
                      </a:solidFill>
                      <a:prstDash val="solid"/>
                    </a:lnR>
                    <a:lnT w="9525">
                      <a:solidFill>
                        <a:srgbClr val="CED8E1"/>
                      </a:solidFill>
                      <a:prstDash val="solid"/>
                    </a:lnT>
                    <a:lnB w="9525">
                      <a:solidFill>
                        <a:srgbClr val="CED8E1"/>
                      </a:solidFill>
                      <a:prstDash val="solid"/>
                    </a:lnB>
                    <a:solidFill>
                      <a:srgbClr val="16324F"/>
                    </a:solidFill>
                  </a:tcPr>
                </a:tc>
                <a:tc>
                  <a:txBody>
                    <a:bodyPr/>
                    <a:lstStyle/>
                    <a:p>
                      <a:r>
                        <a:rPr sz="1725" b="1">
                          <a:solidFill>
                            <a:srgbClr val="FFFFFF"/>
                          </a:solidFill>
                          <a:latin typeface="Arial"/>
                          <a:ea typeface="Arial"/>
                          <a:cs typeface="Arial"/>
                        </a:rPr>
                        <a:t>0.1</a:t>
                      </a:r>
                    </a:p>
                  </a:txBody>
                  <a:tcPr marL="123825" marR="95250" marT="114300" marB="95250" anchor="ctr">
                    <a:lnR w="9525">
                      <a:solidFill>
                        <a:srgbClr val="CED8E1"/>
                      </a:solidFill>
                      <a:prstDash val="solid"/>
                    </a:lnR>
                    <a:lnT w="9525">
                      <a:solidFill>
                        <a:srgbClr val="CED8E1"/>
                      </a:solidFill>
                      <a:prstDash val="solid"/>
                    </a:lnT>
                    <a:lnB w="9525">
                      <a:solidFill>
                        <a:srgbClr val="CED8E1"/>
                      </a:solidFill>
                      <a:prstDash val="solid"/>
                    </a:lnB>
                    <a:solidFill>
                      <a:srgbClr val="16324F"/>
                    </a:solidFill>
                  </a:tcPr>
                </a:tc>
                <a:tc>
                  <a:txBody>
                    <a:bodyPr/>
                    <a:lstStyle/>
                    <a:p>
                      <a:r>
                        <a:rPr sz="1725" b="1">
                          <a:solidFill>
                            <a:srgbClr val="FFFFFF"/>
                          </a:solidFill>
                          <a:latin typeface="Arial"/>
                          <a:ea typeface="Arial"/>
                          <a:cs typeface="Arial"/>
                        </a:rPr>
                        <a:t>1</a:t>
                      </a:r>
                    </a:p>
                  </a:txBody>
                  <a:tcPr marL="123825" marR="95250" marT="114300" marB="95250" anchor="ctr">
                    <a:lnR w="9525">
                      <a:solidFill>
                        <a:srgbClr val="CED8E1"/>
                      </a:solidFill>
                      <a:prstDash val="solid"/>
                    </a:lnR>
                    <a:lnT w="9525">
                      <a:solidFill>
                        <a:srgbClr val="CED8E1"/>
                      </a:solidFill>
                      <a:prstDash val="solid"/>
                    </a:lnT>
                    <a:lnB w="9525">
                      <a:solidFill>
                        <a:srgbClr val="CED8E1"/>
                      </a:solidFill>
                      <a:prstDash val="solid"/>
                    </a:lnB>
                    <a:solidFill>
                      <a:srgbClr val="16324F"/>
                    </a:solidFill>
                  </a:tcPr>
                </a:tc>
                <a:tc>
                  <a:txBody>
                    <a:bodyPr/>
                    <a:lstStyle/>
                    <a:p>
                      <a:r>
                        <a:rPr sz="1725" b="1">
                          <a:solidFill>
                            <a:srgbClr val="FFFFFF"/>
                          </a:solidFill>
                          <a:latin typeface="Arial"/>
                          <a:ea typeface="Arial"/>
                          <a:cs typeface="Arial"/>
                        </a:rPr>
                        <a:t>10</a:t>
                      </a:r>
                    </a:p>
                  </a:txBody>
                  <a:tcPr marL="123825" marR="95250" marT="114300" marB="95250" anchor="ctr">
                    <a:lnR w="9525">
                      <a:solidFill>
                        <a:srgbClr val="CED8E1"/>
                      </a:solidFill>
                      <a:prstDash val="solid"/>
                    </a:lnR>
                    <a:lnT w="9525">
                      <a:solidFill>
                        <a:srgbClr val="CED8E1"/>
                      </a:solidFill>
                      <a:prstDash val="solid"/>
                    </a:lnT>
                    <a:lnB w="9525">
                      <a:solidFill>
                        <a:srgbClr val="CED8E1"/>
                      </a:solidFill>
                      <a:prstDash val="solid"/>
                    </a:lnB>
                    <a:solidFill>
                      <a:srgbClr val="16324F"/>
                    </a:solidFill>
                  </a:tcPr>
                </a:tc>
              </a:tr>
              <a:tr h="527050">
                <a:tc>
                  <a:txBody>
                    <a:bodyPr/>
                    <a:lstStyle/>
                    <a:p>
                      <a:r>
                        <a:rPr sz="1725" b="1">
                          <a:solidFill>
                            <a:srgbClr val="172B3A"/>
                          </a:solidFill>
                          <a:latin typeface="Arial"/>
                          <a:ea typeface="Arial"/>
                          <a:cs typeface="Arial"/>
                        </a:rPr>
                        <a:t>TF-IDF</a:t>
                      </a:r>
                    </a:p>
                  </a:txBody>
                  <a:tcPr marL="123825" marR="95250" marT="114300" marB="95250" anchor="ctr">
                    <a:lnL w="9525">
                      <a:solidFill>
                        <a:srgbClr val="CED8E1"/>
                      </a:solidFill>
                      <a:prstDash val="solid"/>
                    </a:lnL>
                    <a:lnR w="9525">
                      <a:solidFill>
                        <a:srgbClr val="CED8E1"/>
                      </a:solidFill>
                      <a:prstDash val="solid"/>
                    </a:lnR>
                    <a:lnB w="9525">
                      <a:solidFill>
                        <a:srgbClr val="CED8E1"/>
                      </a:solidFill>
                      <a:prstDash val="solid"/>
                    </a:lnB>
                    <a:solidFill>
                      <a:srgbClr val="F2F6FA"/>
                    </a:solidFill>
                  </a:tcPr>
                </a:tc>
                <a:tc>
                  <a:txBody>
                    <a:bodyPr/>
                    <a:lstStyle/>
                    <a:p>
                      <a:r>
                        <a:rPr sz="1725" b="0">
                          <a:solidFill>
                            <a:srgbClr val="172B3A"/>
                          </a:solidFill>
                          <a:latin typeface="Arial"/>
                          <a:ea typeface="Arial"/>
                          <a:cs typeface="Arial"/>
                        </a:rPr>
                        <a:t>76.00</a:t>
                      </a:r>
                    </a:p>
                  </a:txBody>
                  <a:tcPr marL="123825" marR="95250" marT="114300" marB="95250" anchor="ctr">
                    <a:lnR w="9525">
                      <a:solidFill>
                        <a:srgbClr val="CED8E1"/>
                      </a:solidFill>
                      <a:prstDash val="solid"/>
                    </a:lnR>
                    <a:lnB w="9525">
                      <a:solidFill>
                        <a:srgbClr val="CED8E1"/>
                      </a:solidFill>
                      <a:prstDash val="solid"/>
                    </a:lnB>
                    <a:solidFill>
                      <a:srgbClr val="F2F6FA"/>
                    </a:solidFill>
                  </a:tcPr>
                </a:tc>
                <a:tc>
                  <a:txBody>
                    <a:bodyPr/>
                    <a:lstStyle/>
                    <a:p>
                      <a:r>
                        <a:rPr sz="1725" b="0">
                          <a:solidFill>
                            <a:srgbClr val="172B3A"/>
                          </a:solidFill>
                          <a:latin typeface="Arial"/>
                          <a:ea typeface="Arial"/>
                          <a:cs typeface="Arial"/>
                        </a:rPr>
                        <a:t>76.71</a:t>
                      </a:r>
                    </a:p>
                  </a:txBody>
                  <a:tcPr marL="123825" marR="95250" marT="114300" marB="95250" anchor="ctr">
                    <a:lnR w="9525">
                      <a:solidFill>
                        <a:srgbClr val="CED8E1"/>
                      </a:solidFill>
                      <a:prstDash val="solid"/>
                    </a:lnR>
                    <a:lnB w="9525">
                      <a:solidFill>
                        <a:srgbClr val="CED8E1"/>
                      </a:solidFill>
                      <a:prstDash val="solid"/>
                    </a:lnB>
                    <a:solidFill>
                      <a:srgbClr val="F2F6FA"/>
                    </a:solidFill>
                  </a:tcPr>
                </a:tc>
                <a:tc>
                  <a:txBody>
                    <a:bodyPr/>
                    <a:lstStyle/>
                    <a:p>
                      <a:r>
                        <a:rPr sz="1725" b="0">
                          <a:solidFill>
                            <a:srgbClr val="172B3A"/>
                          </a:solidFill>
                          <a:latin typeface="Arial"/>
                          <a:ea typeface="Arial"/>
                          <a:cs typeface="Arial"/>
                        </a:rPr>
                        <a:t>77.46</a:t>
                      </a:r>
                    </a:p>
                  </a:txBody>
                  <a:tcPr marL="123825" marR="95250" marT="114300" marB="95250" anchor="ctr">
                    <a:lnR w="9525">
                      <a:solidFill>
                        <a:srgbClr val="CED8E1"/>
                      </a:solidFill>
                      <a:prstDash val="solid"/>
                    </a:lnR>
                    <a:lnB w="9525">
                      <a:solidFill>
                        <a:srgbClr val="CED8E1"/>
                      </a:solidFill>
                      <a:prstDash val="solid"/>
                    </a:lnB>
                    <a:solidFill>
                      <a:srgbClr val="F2F6FA"/>
                    </a:solidFill>
                  </a:tcPr>
                </a:tc>
              </a:tr>
              <a:tr h="527050">
                <a:tc>
                  <a:txBody>
                    <a:bodyPr/>
                    <a:lstStyle/>
                    <a:p>
                      <a:r>
                        <a:rPr sz="1725" b="1">
                          <a:solidFill>
                            <a:srgbClr val="172B3A"/>
                          </a:solidFill>
                          <a:latin typeface="Arial"/>
                          <a:ea typeface="Arial"/>
                          <a:cs typeface="Arial"/>
                        </a:rPr>
                        <a:t>MiniLM</a:t>
                      </a:r>
                    </a:p>
                  </a:txBody>
                  <a:tcPr marL="123825" marR="95250" marT="114300" marB="95250" anchor="ctr">
                    <a:lnL w="9525">
                      <a:solidFill>
                        <a:srgbClr val="CED8E1"/>
                      </a:solidFill>
                      <a:prstDash val="solid"/>
                    </a:lnL>
                    <a:lnR w="9525">
                      <a:solidFill>
                        <a:srgbClr val="CED8E1"/>
                      </a:solidFill>
                      <a:prstDash val="solid"/>
                    </a:lnR>
                    <a:lnB w="9525">
                      <a:solidFill>
                        <a:srgbClr val="CED8E1"/>
                      </a:solidFill>
                      <a:prstDash val="solid"/>
                    </a:lnB>
                    <a:solidFill>
                      <a:srgbClr val="FFFFFF"/>
                    </a:solidFill>
                  </a:tcPr>
                </a:tc>
                <a:tc>
                  <a:txBody>
                    <a:bodyPr/>
                    <a:lstStyle/>
                    <a:p>
                      <a:r>
                        <a:rPr sz="1725" b="0">
                          <a:solidFill>
                            <a:srgbClr val="172B3A"/>
                          </a:solidFill>
                          <a:latin typeface="Arial"/>
                          <a:ea typeface="Arial"/>
                          <a:cs typeface="Arial"/>
                        </a:rPr>
                        <a:t>84.38</a:t>
                      </a:r>
                    </a:p>
                  </a:txBody>
                  <a:tcPr marL="123825" marR="95250" marT="114300" marB="95250" anchor="ctr">
                    <a:lnR w="9525">
                      <a:solidFill>
                        <a:srgbClr val="CED8E1"/>
                      </a:solidFill>
                      <a:prstDash val="solid"/>
                    </a:lnR>
                    <a:lnB w="9525">
                      <a:solidFill>
                        <a:srgbClr val="CED8E1"/>
                      </a:solidFill>
                      <a:prstDash val="solid"/>
                    </a:lnB>
                    <a:solidFill>
                      <a:srgbClr val="FFFFFF"/>
                    </a:solidFill>
                  </a:tcPr>
                </a:tc>
                <a:tc>
                  <a:txBody>
                    <a:bodyPr/>
                    <a:lstStyle/>
                    <a:p>
                      <a:r>
                        <a:rPr sz="1725" b="0">
                          <a:solidFill>
                            <a:srgbClr val="172B3A"/>
                          </a:solidFill>
                          <a:latin typeface="Arial"/>
                          <a:ea typeface="Arial"/>
                          <a:cs typeface="Arial"/>
                        </a:rPr>
                        <a:t>84.54</a:t>
                      </a:r>
                    </a:p>
                  </a:txBody>
                  <a:tcPr marL="123825" marR="95250" marT="114300" marB="95250" anchor="ctr">
                    <a:lnR w="9525">
                      <a:solidFill>
                        <a:srgbClr val="CED8E1"/>
                      </a:solidFill>
                      <a:prstDash val="solid"/>
                    </a:lnR>
                    <a:lnB w="9525">
                      <a:solidFill>
                        <a:srgbClr val="CED8E1"/>
                      </a:solidFill>
                      <a:prstDash val="solid"/>
                    </a:lnB>
                    <a:solidFill>
                      <a:srgbClr val="FFFFFF"/>
                    </a:solidFill>
                  </a:tcPr>
                </a:tc>
                <a:tc>
                  <a:txBody>
                    <a:bodyPr/>
                    <a:lstStyle/>
                    <a:p>
                      <a:r>
                        <a:rPr sz="1725" b="0">
                          <a:solidFill>
                            <a:srgbClr val="172B3A"/>
                          </a:solidFill>
                          <a:latin typeface="Arial"/>
                          <a:ea typeface="Arial"/>
                          <a:cs typeface="Arial"/>
                        </a:rPr>
                        <a:t>83.75</a:t>
                      </a:r>
                    </a:p>
                  </a:txBody>
                  <a:tcPr marL="123825" marR="95250" marT="114300" marB="95250" anchor="ctr">
                    <a:lnR w="9525">
                      <a:solidFill>
                        <a:srgbClr val="CED8E1"/>
                      </a:solidFill>
                      <a:prstDash val="solid"/>
                    </a:lnR>
                    <a:lnB w="9525">
                      <a:solidFill>
                        <a:srgbClr val="CED8E1"/>
                      </a:solidFill>
                      <a:prstDash val="solid"/>
                    </a:lnB>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F4BF0152-D544-41C5-B2FF-95CBB3499D60}"/>
              </a:ext>
            </a:extLst>
          </p:cNvPr>
          <p:cNvSpPr>
            <a:spLocks xmlns:a="http://schemas.openxmlformats.org/drawingml/2006/main" noGrp="1"/>
          </p:cNvSpPr>
          <p:nvPr/>
        </p:nvSpPr>
        <p:spPr>
          <a:xfrm xmlns:a="http://schemas.openxmlformats.org/drawingml/2006/main">
            <a:off x="7429500" y="4810125"/>
            <a:ext cx="415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324F"/>
                </a:solidFill>
                <a:latin typeface="Arial"/>
                <a:ea typeface="Arial"/>
                <a:cs typeface="Arial"/>
              </a:defRPr>
            </a:defPPr>
            <a:lvl1pPr>
              <a:buNone/>
              <a:defRPr sz="1875" b="1">
                <a:solidFill>
                  <a:srgbClr val="16324F"/>
                </a:solidFill>
                <a:latin typeface="Arial"/>
                <a:ea typeface="Arial"/>
                <a:cs typeface="Arial"/>
              </a:defRPr>
            </a:lvl1pPr>
            <a:lvl2pPr>
              <a:buNone/>
              <a:defRPr sz="1875" b="1">
                <a:solidFill>
                  <a:srgbClr val="16324F"/>
                </a:solidFill>
                <a:latin typeface="Arial"/>
                <a:ea typeface="Arial"/>
                <a:cs typeface="Arial"/>
              </a:defRPr>
            </a:lvl2pPr>
            <a:lvl3pPr>
              <a:buNone/>
              <a:defRPr sz="1875" b="1">
                <a:solidFill>
                  <a:srgbClr val="16324F"/>
                </a:solidFill>
                <a:latin typeface="Arial"/>
                <a:ea typeface="Arial"/>
                <a:cs typeface="Arial"/>
              </a:defRPr>
            </a:lvl3pPr>
            <a:lvl4pPr>
              <a:buNone/>
              <a:defRPr sz="1875" b="1">
                <a:solidFill>
                  <a:srgbClr val="16324F"/>
                </a:solidFill>
                <a:latin typeface="Arial"/>
                <a:ea typeface="Arial"/>
                <a:cs typeface="Arial"/>
              </a:defRPr>
            </a:lvl4pPr>
            <a:lvl5pPr>
              <a:buNone/>
              <a:defRPr sz="1875" b="1">
                <a:solidFill>
                  <a:srgbClr val="16324F"/>
                </a:solidFill>
                <a:latin typeface="Arial"/>
                <a:ea typeface="Arial"/>
                <a:cs typeface="Arial"/>
              </a:defRPr>
            </a:lvl5pPr>
            <a:lvl6pPr>
              <a:buNone/>
              <a:defRPr sz="1875" b="1">
                <a:solidFill>
                  <a:srgbClr val="16324F"/>
                </a:solidFill>
                <a:latin typeface="Arial"/>
                <a:ea typeface="Arial"/>
                <a:cs typeface="Arial"/>
              </a:defRPr>
            </a:lvl6pPr>
            <a:lvl7pPr>
              <a:buNone/>
              <a:defRPr sz="1875" b="1">
                <a:solidFill>
                  <a:srgbClr val="16324F"/>
                </a:solidFill>
                <a:latin typeface="Arial"/>
                <a:ea typeface="Arial"/>
                <a:cs typeface="Arial"/>
              </a:defRPr>
            </a:lvl7pPr>
            <a:lvl8pPr>
              <a:buNone/>
              <a:defRPr sz="1875" b="1">
                <a:solidFill>
                  <a:srgbClr val="16324F"/>
                </a:solidFill>
                <a:latin typeface="Arial"/>
                <a:ea typeface="Arial"/>
                <a:cs typeface="Arial"/>
              </a:defRPr>
            </a:lvl8pPr>
            <a:lvl9pPr>
              <a:buNone/>
              <a:defRPr sz="1875" b="1">
                <a:solidFill>
                  <a:srgbClr val="16324F"/>
                </a:solidFill>
                <a:latin typeface="Arial"/>
                <a:ea typeface="Arial"/>
                <a:cs typeface="Arial"/>
              </a:defRPr>
            </a:lvl9pPr>
          </a:lstStyle>
          <a:p xmlns:a="http://schemas.openxmlformats.org/drawingml/2006/main">
            <a:pPr>
              <a:buNone/>
              <a:defRPr sz="1875" b="1">
                <a:solidFill>
                  <a:srgbClr val="16324F"/>
                </a:solidFill>
                <a:latin typeface="Arial"/>
                <a:ea typeface="Arial"/>
                <a:cs typeface="Arial"/>
              </a:defRPr>
            </a:pPr>
            <a:r>
              <a:rPr sz="1875" b="1">
                <a:solidFill>
                  <a:srgbClr val="16324F"/>
                </a:solidFill>
                <a:latin typeface="Arial"/>
                <a:ea typeface="Arial"/>
                <a:cs typeface="Arial"/>
              </a:rPr>
              <a:t>C = 1 → 10:</a:t>
            </a:r>
          </a:p>
        </p:txBody>
      </p:sp>
      <p:sp>
        <p:nvSpPr>
          <p:cNvPr id="15" name="">
            <a:extLst xmlns:a="http://schemas.openxmlformats.org/drawingml/2006/main">
              <a:ext uri="{FF2B5EF4-FFF2-40B4-BE49-F238E27FC236}">
                <a16:creationId xmlns:a16="http://schemas.microsoft.com/office/drawing/2014/main" id="{F631E0AA-E0C3-49AF-BB76-E9238DBE30D4}"/>
              </a:ext>
            </a:extLst>
          </p:cNvPr>
          <p:cNvSpPr>
            <a:spLocks xmlns:a="http://schemas.openxmlformats.org/drawingml/2006/main" noGrp="1"/>
          </p:cNvSpPr>
          <p:nvPr/>
        </p:nvSpPr>
        <p:spPr>
          <a:xfrm xmlns:a="http://schemas.openxmlformats.org/drawingml/2006/main">
            <a:off x="7429500" y="5191125"/>
            <a:ext cx="419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2B3A"/>
                </a:solidFill>
                <a:latin typeface="Arial"/>
                <a:ea typeface="Arial"/>
                <a:cs typeface="Arial"/>
              </a:defRPr>
            </a:defPPr>
            <a:lvl1pPr>
              <a:buNone/>
              <a:defRPr sz="1725" b="0">
                <a:solidFill>
                  <a:srgbClr val="172B3A"/>
                </a:solidFill>
                <a:latin typeface="Arial"/>
                <a:ea typeface="Arial"/>
                <a:cs typeface="Arial"/>
              </a:defRPr>
            </a:lvl1pPr>
            <a:lvl2pPr>
              <a:buNone/>
              <a:defRPr sz="1725" b="0">
                <a:solidFill>
                  <a:srgbClr val="172B3A"/>
                </a:solidFill>
                <a:latin typeface="Arial"/>
                <a:ea typeface="Arial"/>
                <a:cs typeface="Arial"/>
              </a:defRPr>
            </a:lvl2pPr>
            <a:lvl3pPr>
              <a:buNone/>
              <a:defRPr sz="1725" b="0">
                <a:solidFill>
                  <a:srgbClr val="172B3A"/>
                </a:solidFill>
                <a:latin typeface="Arial"/>
                <a:ea typeface="Arial"/>
                <a:cs typeface="Arial"/>
              </a:defRPr>
            </a:lvl3pPr>
            <a:lvl4pPr>
              <a:buNone/>
              <a:defRPr sz="1725" b="0">
                <a:solidFill>
                  <a:srgbClr val="172B3A"/>
                </a:solidFill>
                <a:latin typeface="Arial"/>
                <a:ea typeface="Arial"/>
                <a:cs typeface="Arial"/>
              </a:defRPr>
            </a:lvl4pPr>
            <a:lvl5pPr>
              <a:buNone/>
              <a:defRPr sz="1725" b="0">
                <a:solidFill>
                  <a:srgbClr val="172B3A"/>
                </a:solidFill>
                <a:latin typeface="Arial"/>
                <a:ea typeface="Arial"/>
                <a:cs typeface="Arial"/>
              </a:defRPr>
            </a:lvl5pPr>
            <a:lvl6pPr>
              <a:buNone/>
              <a:defRPr sz="1725" b="0">
                <a:solidFill>
                  <a:srgbClr val="172B3A"/>
                </a:solidFill>
                <a:latin typeface="Arial"/>
                <a:ea typeface="Arial"/>
                <a:cs typeface="Arial"/>
              </a:defRPr>
            </a:lvl6pPr>
            <a:lvl7pPr>
              <a:buNone/>
              <a:defRPr sz="1725" b="0">
                <a:solidFill>
                  <a:srgbClr val="172B3A"/>
                </a:solidFill>
                <a:latin typeface="Arial"/>
                <a:ea typeface="Arial"/>
                <a:cs typeface="Arial"/>
              </a:defRPr>
            </a:lvl7pPr>
            <a:lvl8pPr>
              <a:buNone/>
              <a:defRPr sz="1725" b="0">
                <a:solidFill>
                  <a:srgbClr val="172B3A"/>
                </a:solidFill>
                <a:latin typeface="Arial"/>
                <a:ea typeface="Arial"/>
                <a:cs typeface="Arial"/>
              </a:defRPr>
            </a:lvl8pPr>
            <a:lvl9pPr>
              <a:buNone/>
              <a:defRPr sz="1725" b="0">
                <a:solidFill>
                  <a:srgbClr val="172B3A"/>
                </a:solidFill>
                <a:latin typeface="Arial"/>
                <a:ea typeface="Arial"/>
                <a:cs typeface="Arial"/>
              </a:defRPr>
            </a:lvl9pPr>
          </a:lstStyle>
          <a:p xmlns:a="http://schemas.openxmlformats.org/drawingml/2006/main">
            <a:pPr>
              <a:buNone/>
              <a:defRPr sz="1725" b="0">
                <a:solidFill>
                  <a:srgbClr val="172B3A"/>
                </a:solidFill>
                <a:latin typeface="Arial"/>
                <a:ea typeface="Arial"/>
                <a:cs typeface="Arial"/>
              </a:defRPr>
            </a:pPr>
            <a:r>
              <a:rPr sz="1725" b="0">
                <a:solidFill>
                  <a:srgbClr val="172B3A"/>
                </a:solidFill>
                <a:latin typeface="Arial"/>
                <a:ea typeface="Arial"/>
                <a:cs typeface="Arial"/>
              </a:rPr>
              <a:t>TF-IDF: +0.75 percentage points</a:t>
            </a:r>
          </a:p>
          <a:p xmlns:a="http://schemas.openxmlformats.org/drawingml/2006/main">
            <a:pPr>
              <a:buNone/>
              <a:defRPr sz="1725" b="0">
                <a:solidFill>
                  <a:srgbClr val="172B3A"/>
                </a:solidFill>
                <a:latin typeface="Arial"/>
                <a:ea typeface="Arial"/>
                <a:cs typeface="Arial"/>
              </a:defRPr>
            </a:pPr>
            <a:r>
              <a:rPr sz="1725" b="0">
                <a:solidFill>
                  <a:srgbClr val="172B3A"/>
                </a:solidFill>
                <a:latin typeface="Arial"/>
                <a:ea typeface="Arial"/>
                <a:cs typeface="Arial"/>
              </a:rPr>
              <a:t>MiniLM: −0.79 percentage points</a:t>
            </a:r>
          </a:p>
        </p:txBody>
      </p:sp>
      <p:sp>
        <p:nvSpPr>
          <p:cNvPr id="16" name="">
            <a:extLst xmlns:a="http://schemas.openxmlformats.org/drawingml/2006/main">
              <a:ext uri="{FF2B5EF4-FFF2-40B4-BE49-F238E27FC236}">
                <a16:creationId xmlns:a16="http://schemas.microsoft.com/office/drawing/2014/main" id="{FE0852A2-7681-4855-A5CF-5232A92D6F74}"/>
              </a:ext>
            </a:extLst>
          </p:cNvPr>
          <p:cNvSpPr>
            <a:spLocks xmlns:a="http://schemas.openxmlformats.org/drawingml/2006/main" noGrp="1"/>
          </p:cNvSpPr>
          <p:nvPr/>
        </p:nvSpPr>
        <p:spPr>
          <a:xfrm xmlns:a="http://schemas.openxmlformats.org/drawingml/2006/main">
            <a:off x="609600" y="57245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9"/>
                </a:solidFill>
                <a:latin typeface="Arial"/>
                <a:ea typeface="Arial"/>
                <a:cs typeface="Arial"/>
              </a:defRPr>
            </a:defPPr>
            <a:lvl1pPr>
              <a:buNone/>
              <a:defRPr sz="1350" b="0">
                <a:solidFill>
                  <a:srgbClr val="526779"/>
                </a:solidFill>
                <a:latin typeface="Arial"/>
                <a:ea typeface="Arial"/>
                <a:cs typeface="Arial"/>
              </a:defRPr>
            </a:lvl1pPr>
            <a:lvl2pPr>
              <a:buNone/>
              <a:defRPr sz="1350" b="0">
                <a:solidFill>
                  <a:srgbClr val="526779"/>
                </a:solidFill>
                <a:latin typeface="Arial"/>
                <a:ea typeface="Arial"/>
                <a:cs typeface="Arial"/>
              </a:defRPr>
            </a:lvl2pPr>
            <a:lvl3pPr>
              <a:buNone/>
              <a:defRPr sz="1350" b="0">
                <a:solidFill>
                  <a:srgbClr val="526779"/>
                </a:solidFill>
                <a:latin typeface="Arial"/>
                <a:ea typeface="Arial"/>
                <a:cs typeface="Arial"/>
              </a:defRPr>
            </a:lvl3pPr>
            <a:lvl4pPr>
              <a:buNone/>
              <a:defRPr sz="1350" b="0">
                <a:solidFill>
                  <a:srgbClr val="526779"/>
                </a:solidFill>
                <a:latin typeface="Arial"/>
                <a:ea typeface="Arial"/>
                <a:cs typeface="Arial"/>
              </a:defRPr>
            </a:lvl4pPr>
            <a:lvl5pPr>
              <a:buNone/>
              <a:defRPr sz="1350" b="0">
                <a:solidFill>
                  <a:srgbClr val="526779"/>
                </a:solidFill>
                <a:latin typeface="Arial"/>
                <a:ea typeface="Arial"/>
                <a:cs typeface="Arial"/>
              </a:defRPr>
            </a:lvl5pPr>
            <a:lvl6pPr>
              <a:buNone/>
              <a:defRPr sz="1350" b="0">
                <a:solidFill>
                  <a:srgbClr val="526779"/>
                </a:solidFill>
                <a:latin typeface="Arial"/>
                <a:ea typeface="Arial"/>
                <a:cs typeface="Arial"/>
              </a:defRPr>
            </a:lvl6pPr>
            <a:lvl7pPr>
              <a:buNone/>
              <a:defRPr sz="1350" b="0">
                <a:solidFill>
                  <a:srgbClr val="526779"/>
                </a:solidFill>
                <a:latin typeface="Arial"/>
                <a:ea typeface="Arial"/>
                <a:cs typeface="Arial"/>
              </a:defRPr>
            </a:lvl7pPr>
            <a:lvl8pPr>
              <a:buNone/>
              <a:defRPr sz="1350" b="0">
                <a:solidFill>
                  <a:srgbClr val="526779"/>
                </a:solidFill>
                <a:latin typeface="Arial"/>
                <a:ea typeface="Arial"/>
                <a:cs typeface="Arial"/>
              </a:defRPr>
            </a:lvl8pPr>
            <a:lvl9pPr>
              <a:buNone/>
              <a:defRPr sz="1350" b="0">
                <a:solidFill>
                  <a:srgbClr val="526779"/>
                </a:solidFill>
                <a:latin typeface="Arial"/>
                <a:ea typeface="Arial"/>
                <a:cs typeface="Arial"/>
              </a:defRPr>
            </a:lvl9pPr>
          </a:lstStyle>
          <a:p xmlns:a="http://schemas.openxmlformats.org/drawingml/2006/main">
            <a:pPr>
              <a:buNone/>
              <a:defRPr sz="1350" b="0">
                <a:solidFill>
                  <a:srgbClr val="526779"/>
                </a:solidFill>
                <a:latin typeface="Arial"/>
                <a:ea typeface="Arial"/>
                <a:cs typeface="Arial"/>
              </a:defRPr>
            </a:pPr>
            <a:r>
              <a:rPr sz="1350" b="0">
                <a:solidFill>
                  <a:srgbClr val="526779"/>
                </a:solidFill>
                <a:latin typeface="Arial"/>
                <a:ea typeface="Arial"/>
                <a:cs typeface="Arial"/>
              </a:rPr>
              <a:t>Three-seed means on the same 800 validation articles.</a:t>
            </a:r>
          </a:p>
          <a:p xmlns:a="http://schemas.openxmlformats.org/drawingml/2006/main">
            <a:pPr>
              <a:buNone/>
              <a:defRPr sz="1350" b="0">
                <a:solidFill>
                  <a:srgbClr val="526779"/>
                </a:solidFill>
                <a:latin typeface="Arial"/>
                <a:ea typeface="Arial"/>
                <a:cs typeface="Arial"/>
              </a:defRPr>
            </a:pPr>
            <a:r>
              <a:rPr sz="1350" b="0">
                <a:solidFill>
                  <a:srgbClr val="526779"/>
                </a:solidFill>
                <a:latin typeface="Arial"/>
                <a:ea typeface="Arial"/>
                <a:cs typeface="Arial"/>
              </a:rPr>
              <a:t>SD at n = 100 / 400: TF-IDF 2.50 / 0.51 pp; MiniLM 2.18 / 0.47 pp.</a:t>
            </a:r>
          </a:p>
        </p:txBody>
      </p:sp>
      <p:sp>
        <p:nvSpPr>
          <p:cNvPr id="18" name="">
            <a:extLst xmlns:a="http://schemas.openxmlformats.org/drawingml/2006/main">
              <a:ext uri="{FF2B5EF4-FFF2-40B4-BE49-F238E27FC236}">
                <a16:creationId xmlns:a16="http://schemas.microsoft.com/office/drawing/2014/main" id="{2A0236CF-7762-4EC1-96D9-BA6409E97B8C}"/>
              </a:ext>
            </a:extLst>
          </p:cNvPr>
          <p:cNvSpPr>
            <a:spLocks xmlns:a="http://schemas.openxmlformats.org/drawingml/2006/main" noGrp="1"/>
          </p:cNvSpPr>
          <p:nvPr/>
        </p:nvSpPr>
        <p:spPr>
          <a:xfrm xmlns:a="http://schemas.openxmlformats.org/drawingml/2006/main">
            <a:off x="7429500" y="5915025"/>
            <a:ext cx="415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9"/>
                </a:solidFill>
                <a:latin typeface="Arial"/>
                <a:ea typeface="Arial"/>
                <a:cs typeface="Arial"/>
              </a:defRPr>
            </a:defPPr>
            <a:lvl1pPr>
              <a:defRPr sz="1350" b="0">
                <a:solidFill>
                  <a:srgbClr val="526779"/>
                </a:solidFill>
                <a:latin typeface="Arial"/>
                <a:ea typeface="Arial"/>
                <a:cs typeface="Arial"/>
              </a:defRPr>
            </a:lvl1pPr>
            <a:lvl2pPr>
              <a:defRPr sz="1350" b="0">
                <a:solidFill>
                  <a:srgbClr val="526779"/>
                </a:solidFill>
                <a:latin typeface="Arial"/>
                <a:ea typeface="Arial"/>
                <a:cs typeface="Arial"/>
              </a:defRPr>
            </a:lvl2pPr>
            <a:lvl3pPr>
              <a:defRPr sz="1350" b="0">
                <a:solidFill>
                  <a:srgbClr val="526779"/>
                </a:solidFill>
                <a:latin typeface="Arial"/>
                <a:ea typeface="Arial"/>
                <a:cs typeface="Arial"/>
              </a:defRPr>
            </a:lvl3pPr>
            <a:lvl4pPr>
              <a:defRPr sz="1350" b="0">
                <a:solidFill>
                  <a:srgbClr val="526779"/>
                </a:solidFill>
                <a:latin typeface="Arial"/>
                <a:ea typeface="Arial"/>
                <a:cs typeface="Arial"/>
              </a:defRPr>
            </a:lvl4pPr>
            <a:lvl5pPr>
              <a:defRPr sz="1350" b="0">
                <a:solidFill>
                  <a:srgbClr val="526779"/>
                </a:solidFill>
                <a:latin typeface="Arial"/>
                <a:ea typeface="Arial"/>
                <a:cs typeface="Arial"/>
              </a:defRPr>
            </a:lvl5pPr>
            <a:lvl6pPr>
              <a:defRPr sz="1350" b="0">
                <a:solidFill>
                  <a:srgbClr val="526779"/>
                </a:solidFill>
                <a:latin typeface="Arial"/>
                <a:ea typeface="Arial"/>
                <a:cs typeface="Arial"/>
              </a:defRPr>
            </a:lvl6pPr>
            <a:lvl7pPr>
              <a:defRPr sz="1350" b="0">
                <a:solidFill>
                  <a:srgbClr val="526779"/>
                </a:solidFill>
                <a:latin typeface="Arial"/>
                <a:ea typeface="Arial"/>
                <a:cs typeface="Arial"/>
              </a:defRPr>
            </a:lvl7pPr>
            <a:lvl8pPr>
              <a:defRPr sz="1350" b="0">
                <a:solidFill>
                  <a:srgbClr val="526779"/>
                </a:solidFill>
                <a:latin typeface="Arial"/>
                <a:ea typeface="Arial"/>
                <a:cs typeface="Arial"/>
              </a:defRPr>
            </a:lvl8pPr>
            <a:lvl9pPr>
              <a:defRPr sz="1350" b="0">
                <a:solidFill>
                  <a:srgbClr val="526779"/>
                </a:solidFill>
                <a:latin typeface="Arial"/>
                <a:ea typeface="Arial"/>
                <a:cs typeface="Arial"/>
              </a:defRPr>
            </a:lvl9pPr>
          </a:lstStyle>
          <a:p xmlns:a="http://schemas.openxmlformats.org/drawingml/2006/main">
            <a:pPr>
              <a:defRPr sz="1350" b="0">
                <a:solidFill>
                  <a:srgbClr val="526779"/>
                </a:solidFill>
                <a:latin typeface="Arial"/>
                <a:ea typeface="Arial"/>
                <a:cs typeface="Arial"/>
              </a:defRPr>
            </a:pPr>
            <a:r>
              <a:rPr sz="1350" b="0">
                <a:solidFill>
                  <a:srgbClr val="526779"/>
                </a:solidFill>
                <a:latin typeface="Arial"/>
                <a:ea typeface="Arial"/>
                <a:cs typeface="Arial"/>
              </a:rPr>
              <a:t>Exploratory; not statistically conclusive.</a:t>
            </a:r>
          </a:p>
        </p:txBody>
      </p:sp>
    </p:spTree>
    <p:extLst>
      <p:ext uri="{BB962C8B-B14F-4D97-AF65-F5344CB8AC3E}">
        <p14:creationId xmlns:p14="http://schemas.microsoft.com/office/powerpoint/2010/main" val="15141557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58ACFB2-0ED4-4B73-A9CC-9054B390EEC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632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FE87DF-9412-45DE-AFD5-03092D48B33C}"/>
              </a:ext>
            </a:extLst>
          </p:cNvPr>
          <p:cNvSpPr>
            <a:spLocks xmlns:a="http://schemas.openxmlformats.org/drawingml/2006/main" noGrp="1"/>
          </p:cNvSpPr>
          <p:nvPr/>
        </p:nvSpPr>
        <p:spPr>
          <a:xfrm xmlns:a="http://schemas.openxmlformats.org/drawingml/2006/main">
            <a:off x="609600" y="30480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526779"/>
                </a:solidFill>
                <a:latin typeface="Arial"/>
                <a:ea typeface="Arial"/>
                <a:cs typeface="Arial"/>
              </a:defRPr>
            </a:defPPr>
            <a:lvl1pPr>
              <a:buNone/>
              <a:defRPr sz="1350" b="1">
                <a:solidFill>
                  <a:srgbClr val="526779"/>
                </a:solidFill>
                <a:latin typeface="Arial"/>
                <a:ea typeface="Arial"/>
                <a:cs typeface="Arial"/>
              </a:defRPr>
            </a:lvl1pPr>
            <a:lvl2pPr>
              <a:buNone/>
              <a:defRPr sz="1350" b="1">
                <a:solidFill>
                  <a:srgbClr val="526779"/>
                </a:solidFill>
                <a:latin typeface="Arial"/>
                <a:ea typeface="Arial"/>
                <a:cs typeface="Arial"/>
              </a:defRPr>
            </a:lvl2pPr>
            <a:lvl3pPr>
              <a:buNone/>
              <a:defRPr sz="1350" b="1">
                <a:solidFill>
                  <a:srgbClr val="526779"/>
                </a:solidFill>
                <a:latin typeface="Arial"/>
                <a:ea typeface="Arial"/>
                <a:cs typeface="Arial"/>
              </a:defRPr>
            </a:lvl3pPr>
            <a:lvl4pPr>
              <a:buNone/>
              <a:defRPr sz="1350" b="1">
                <a:solidFill>
                  <a:srgbClr val="526779"/>
                </a:solidFill>
                <a:latin typeface="Arial"/>
                <a:ea typeface="Arial"/>
                <a:cs typeface="Arial"/>
              </a:defRPr>
            </a:lvl4pPr>
            <a:lvl5pPr>
              <a:buNone/>
              <a:defRPr sz="1350" b="1">
                <a:solidFill>
                  <a:srgbClr val="526779"/>
                </a:solidFill>
                <a:latin typeface="Arial"/>
                <a:ea typeface="Arial"/>
                <a:cs typeface="Arial"/>
              </a:defRPr>
            </a:lvl5pPr>
            <a:lvl6pPr>
              <a:buNone/>
              <a:defRPr sz="1350" b="1">
                <a:solidFill>
                  <a:srgbClr val="526779"/>
                </a:solidFill>
                <a:latin typeface="Arial"/>
                <a:ea typeface="Arial"/>
                <a:cs typeface="Arial"/>
              </a:defRPr>
            </a:lvl6pPr>
            <a:lvl7pPr>
              <a:buNone/>
              <a:defRPr sz="1350" b="1">
                <a:solidFill>
                  <a:srgbClr val="526779"/>
                </a:solidFill>
                <a:latin typeface="Arial"/>
                <a:ea typeface="Arial"/>
                <a:cs typeface="Arial"/>
              </a:defRPr>
            </a:lvl7pPr>
            <a:lvl8pPr>
              <a:buNone/>
              <a:defRPr sz="1350" b="1">
                <a:solidFill>
                  <a:srgbClr val="526779"/>
                </a:solidFill>
                <a:latin typeface="Arial"/>
                <a:ea typeface="Arial"/>
                <a:cs typeface="Arial"/>
              </a:defRPr>
            </a:lvl8pPr>
            <a:lvl9pPr>
              <a:buNone/>
              <a:defRPr sz="1350" b="1">
                <a:solidFill>
                  <a:srgbClr val="526779"/>
                </a:solidFill>
                <a:latin typeface="Arial"/>
                <a:ea typeface="Arial"/>
                <a:cs typeface="Arial"/>
              </a:defRPr>
            </a:lvl9pPr>
          </a:lstStyle>
          <a:p xmlns:a="http://schemas.openxmlformats.org/drawingml/2006/main">
            <a:pPr>
              <a:buNone/>
              <a:defRPr sz="1350" b="1">
                <a:solidFill>
                  <a:srgbClr val="526779"/>
                </a:solidFill>
                <a:latin typeface="Arial"/>
                <a:ea typeface="Arial"/>
                <a:cs typeface="Arial"/>
              </a:defRPr>
            </a:pPr>
            <a:r>
              <a:rPr sz="1350" b="1">
                <a:solidFill>
                  <a:srgbClr val="526779"/>
                </a:solidFill>
                <a:latin typeface="Arial"/>
                <a:ea typeface="Arial"/>
                <a:cs typeface="Arial"/>
              </a:rPr>
              <a:t>NEWSREPLAB  /  ICSI436 PROJECT P</a:t>
            </a:r>
          </a:p>
        </p:txBody>
      </p:sp>
      <p:sp>
        <p:nvSpPr>
          <p:cNvPr id="3" name="">
            <a:extLst xmlns:a="http://schemas.openxmlformats.org/drawingml/2006/main">
              <a:ext uri="{FF2B5EF4-FFF2-40B4-BE49-F238E27FC236}">
                <a16:creationId xmlns:a16="http://schemas.microsoft.com/office/drawing/2014/main" id="{381B8D22-0488-41D4-88DA-9F1C99EEDCAB}"/>
              </a:ext>
            </a:extLst>
          </p:cNvPr>
          <p:cNvSpPr>
            <a:spLocks xmlns:a="http://schemas.openxmlformats.org/drawingml/2006/main" noGrp="1"/>
          </p:cNvSpPr>
          <p:nvPr/>
        </p:nvSpPr>
        <p:spPr>
          <a:xfrm xmlns:a="http://schemas.openxmlformats.org/drawingml/2006/main">
            <a:off x="609600" y="76200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324F"/>
                </a:solidFill>
                <a:latin typeface="Arial"/>
                <a:ea typeface="Arial"/>
                <a:cs typeface="Arial"/>
              </a:defRPr>
            </a:defPPr>
            <a:lvl1pPr>
              <a:buNone/>
              <a:defRPr sz="3150" b="1">
                <a:solidFill>
                  <a:srgbClr val="16324F"/>
                </a:solidFill>
                <a:latin typeface="Arial"/>
                <a:ea typeface="Arial"/>
                <a:cs typeface="Arial"/>
              </a:defRPr>
            </a:lvl1pPr>
            <a:lvl2pPr>
              <a:buNone/>
              <a:defRPr sz="3150" b="1">
                <a:solidFill>
                  <a:srgbClr val="16324F"/>
                </a:solidFill>
                <a:latin typeface="Arial"/>
                <a:ea typeface="Arial"/>
                <a:cs typeface="Arial"/>
              </a:defRPr>
            </a:lvl2pPr>
            <a:lvl3pPr>
              <a:buNone/>
              <a:defRPr sz="3150" b="1">
                <a:solidFill>
                  <a:srgbClr val="16324F"/>
                </a:solidFill>
                <a:latin typeface="Arial"/>
                <a:ea typeface="Arial"/>
                <a:cs typeface="Arial"/>
              </a:defRPr>
            </a:lvl3pPr>
            <a:lvl4pPr>
              <a:buNone/>
              <a:defRPr sz="3150" b="1">
                <a:solidFill>
                  <a:srgbClr val="16324F"/>
                </a:solidFill>
                <a:latin typeface="Arial"/>
                <a:ea typeface="Arial"/>
                <a:cs typeface="Arial"/>
              </a:defRPr>
            </a:lvl4pPr>
            <a:lvl5pPr>
              <a:buNone/>
              <a:defRPr sz="3150" b="1">
                <a:solidFill>
                  <a:srgbClr val="16324F"/>
                </a:solidFill>
                <a:latin typeface="Arial"/>
                <a:ea typeface="Arial"/>
                <a:cs typeface="Arial"/>
              </a:defRPr>
            </a:lvl5pPr>
            <a:lvl6pPr>
              <a:buNone/>
              <a:defRPr sz="3150" b="1">
                <a:solidFill>
                  <a:srgbClr val="16324F"/>
                </a:solidFill>
                <a:latin typeface="Arial"/>
                <a:ea typeface="Arial"/>
                <a:cs typeface="Arial"/>
              </a:defRPr>
            </a:lvl6pPr>
            <a:lvl7pPr>
              <a:buNone/>
              <a:defRPr sz="3150" b="1">
                <a:solidFill>
                  <a:srgbClr val="16324F"/>
                </a:solidFill>
                <a:latin typeface="Arial"/>
                <a:ea typeface="Arial"/>
                <a:cs typeface="Arial"/>
              </a:defRPr>
            </a:lvl7pPr>
            <a:lvl8pPr>
              <a:buNone/>
              <a:defRPr sz="3150" b="1">
                <a:solidFill>
                  <a:srgbClr val="16324F"/>
                </a:solidFill>
                <a:latin typeface="Arial"/>
                <a:ea typeface="Arial"/>
                <a:cs typeface="Arial"/>
              </a:defRPr>
            </a:lvl8pPr>
            <a:lvl9pPr>
              <a:buNone/>
              <a:defRPr sz="3150" b="1">
                <a:solidFill>
                  <a:srgbClr val="16324F"/>
                </a:solidFill>
                <a:latin typeface="Arial"/>
                <a:ea typeface="Arial"/>
                <a:cs typeface="Arial"/>
              </a:defRPr>
            </a:lvl9pPr>
          </a:lstStyle>
          <a:p xmlns:a="http://schemas.openxmlformats.org/drawingml/2006/main">
            <a:pPr>
              <a:buNone/>
              <a:defRPr sz="3150" b="1">
                <a:solidFill>
                  <a:srgbClr val="16324F"/>
                </a:solidFill>
                <a:latin typeface="Arial"/>
                <a:ea typeface="Arial"/>
                <a:cs typeface="Arial"/>
              </a:defRPr>
            </a:pPr>
            <a:r>
              <a:rPr sz="3150" b="1">
                <a:solidFill>
                  <a:srgbClr val="16324F"/>
                </a:solidFill>
                <a:latin typeface="Arial"/>
                <a:ea typeface="Arial"/>
                <a:cs typeface="Arial"/>
              </a:rPr>
              <a:t>Challenges and Future Work</a:t>
            </a:r>
          </a:p>
        </p:txBody>
      </p:sp>
      <p:sp>
        <p:nvSpPr>
          <p:cNvPr id="4" name="">
            <a:extLst xmlns:a="http://schemas.openxmlformats.org/drawingml/2006/main">
              <a:ext uri="{FF2B5EF4-FFF2-40B4-BE49-F238E27FC236}">
                <a16:creationId xmlns:a16="http://schemas.microsoft.com/office/drawing/2014/main" id="{EA4AD5D7-8391-47B4-8961-00EF6BB1E05E}"/>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CED8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6180563-8463-433B-849E-A4FBC58BD4B3}"/>
              </a:ext>
            </a:extLst>
          </p:cNvPr>
          <p:cNvSpPr>
            <a:spLocks xmlns:a="http://schemas.openxmlformats.org/drawingml/2006/main" noGrp="1"/>
          </p:cNvSpPr>
          <p:nvPr/>
        </p:nvSpPr>
        <p:spPr>
          <a:xfrm xmlns:a="http://schemas.openxmlformats.org/drawingml/2006/main">
            <a:off x="609600" y="6467475"/>
            <a:ext cx="990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9"/>
                </a:solidFill>
                <a:latin typeface="Arial"/>
                <a:ea typeface="Arial"/>
                <a:cs typeface="Arial"/>
              </a:defRPr>
            </a:defPPr>
            <a:lvl1pPr>
              <a:buNone/>
              <a:defRPr sz="1275" b="0">
                <a:solidFill>
                  <a:srgbClr val="526779"/>
                </a:solidFill>
                <a:latin typeface="Arial"/>
                <a:ea typeface="Arial"/>
                <a:cs typeface="Arial"/>
              </a:defRPr>
            </a:lvl1pPr>
            <a:lvl2pPr>
              <a:buNone/>
              <a:defRPr sz="1275" b="0">
                <a:solidFill>
                  <a:srgbClr val="526779"/>
                </a:solidFill>
                <a:latin typeface="Arial"/>
                <a:ea typeface="Arial"/>
                <a:cs typeface="Arial"/>
              </a:defRPr>
            </a:lvl2pPr>
            <a:lvl3pPr>
              <a:buNone/>
              <a:defRPr sz="1275" b="0">
                <a:solidFill>
                  <a:srgbClr val="526779"/>
                </a:solidFill>
                <a:latin typeface="Arial"/>
                <a:ea typeface="Arial"/>
                <a:cs typeface="Arial"/>
              </a:defRPr>
            </a:lvl3pPr>
            <a:lvl4pPr>
              <a:buNone/>
              <a:defRPr sz="1275" b="0">
                <a:solidFill>
                  <a:srgbClr val="526779"/>
                </a:solidFill>
                <a:latin typeface="Arial"/>
                <a:ea typeface="Arial"/>
                <a:cs typeface="Arial"/>
              </a:defRPr>
            </a:lvl4pPr>
            <a:lvl5pPr>
              <a:buNone/>
              <a:defRPr sz="1275" b="0">
                <a:solidFill>
                  <a:srgbClr val="526779"/>
                </a:solidFill>
                <a:latin typeface="Arial"/>
                <a:ea typeface="Arial"/>
                <a:cs typeface="Arial"/>
              </a:defRPr>
            </a:lvl5pPr>
            <a:lvl6pPr>
              <a:buNone/>
              <a:defRPr sz="1275" b="0">
                <a:solidFill>
                  <a:srgbClr val="526779"/>
                </a:solidFill>
                <a:latin typeface="Arial"/>
                <a:ea typeface="Arial"/>
                <a:cs typeface="Arial"/>
              </a:defRPr>
            </a:lvl6pPr>
            <a:lvl7pPr>
              <a:buNone/>
              <a:defRPr sz="1275" b="0">
                <a:solidFill>
                  <a:srgbClr val="526779"/>
                </a:solidFill>
                <a:latin typeface="Arial"/>
                <a:ea typeface="Arial"/>
                <a:cs typeface="Arial"/>
              </a:defRPr>
            </a:lvl7pPr>
            <a:lvl8pPr>
              <a:buNone/>
              <a:defRPr sz="1275" b="0">
                <a:solidFill>
                  <a:srgbClr val="526779"/>
                </a:solidFill>
                <a:latin typeface="Arial"/>
                <a:ea typeface="Arial"/>
                <a:cs typeface="Arial"/>
              </a:defRPr>
            </a:lvl8pPr>
            <a:lvl9pPr>
              <a:buNone/>
              <a:defRPr sz="1275" b="0">
                <a:solidFill>
                  <a:srgbClr val="526779"/>
                </a:solidFill>
                <a:latin typeface="Arial"/>
                <a:ea typeface="Arial"/>
                <a:cs typeface="Arial"/>
              </a:defRPr>
            </a:lvl9pPr>
          </a:lstStyle>
          <a:p xmlns:a="http://schemas.openxmlformats.org/drawingml/2006/main">
            <a:pPr>
              <a:buNone/>
              <a:defRPr sz="1275" b="0">
                <a:solidFill>
                  <a:srgbClr val="526779"/>
                </a:solidFill>
                <a:latin typeface="Arial"/>
                <a:ea typeface="Arial"/>
                <a:cs typeface="Arial"/>
              </a:defRPr>
            </a:pPr>
            <a:r>
              <a:rPr sz="1275" b="0">
                <a:solidFill>
                  <a:srgbClr val="526779"/>
                </a:solidFill>
                <a:latin typeface="Arial"/>
                <a:ea typeface="Arial"/>
                <a:cs typeface="Arial"/>
              </a:rPr>
              <a:t>Midterm progress  •  Validation results only</a:t>
            </a:r>
          </a:p>
        </p:txBody>
      </p:sp>
      <p:sp>
        <p:nvSpPr>
          <p:cNvPr id="6" name="">
            <a:extLst xmlns:a="http://schemas.openxmlformats.org/drawingml/2006/main">
              <a:ext uri="{FF2B5EF4-FFF2-40B4-BE49-F238E27FC236}">
                <a16:creationId xmlns:a16="http://schemas.microsoft.com/office/drawing/2014/main" id="{41C55248-4120-4F5C-AB9C-8D9142E16DBC}"/>
              </a:ext>
            </a:extLst>
          </p:cNvPr>
          <p:cNvSpPr>
            <a:spLocks xmlns:a="http://schemas.openxmlformats.org/drawingml/2006/main" noGrp="1"/>
          </p:cNvSpPr>
          <p:nvPr/>
        </p:nvSpPr>
        <p:spPr>
          <a:xfrm xmlns:a="http://schemas.openxmlformats.org/drawingml/2006/main">
            <a:off x="10858500" y="6467475"/>
            <a:ext cx="723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779"/>
                </a:solidFill>
                <a:latin typeface="Arial"/>
                <a:ea typeface="Arial"/>
                <a:cs typeface="Arial"/>
              </a:defRPr>
            </a:defPPr>
            <a:lvl1pPr>
              <a:buNone/>
              <a:defRPr sz="1275" b="0">
                <a:solidFill>
                  <a:srgbClr val="526779"/>
                </a:solidFill>
                <a:latin typeface="Arial"/>
                <a:ea typeface="Arial"/>
                <a:cs typeface="Arial"/>
              </a:defRPr>
            </a:lvl1pPr>
            <a:lvl2pPr>
              <a:buNone/>
              <a:defRPr sz="1275" b="0">
                <a:solidFill>
                  <a:srgbClr val="526779"/>
                </a:solidFill>
                <a:latin typeface="Arial"/>
                <a:ea typeface="Arial"/>
                <a:cs typeface="Arial"/>
              </a:defRPr>
            </a:lvl2pPr>
            <a:lvl3pPr>
              <a:buNone/>
              <a:defRPr sz="1275" b="0">
                <a:solidFill>
                  <a:srgbClr val="526779"/>
                </a:solidFill>
                <a:latin typeface="Arial"/>
                <a:ea typeface="Arial"/>
                <a:cs typeface="Arial"/>
              </a:defRPr>
            </a:lvl3pPr>
            <a:lvl4pPr>
              <a:buNone/>
              <a:defRPr sz="1275" b="0">
                <a:solidFill>
                  <a:srgbClr val="526779"/>
                </a:solidFill>
                <a:latin typeface="Arial"/>
                <a:ea typeface="Arial"/>
                <a:cs typeface="Arial"/>
              </a:defRPr>
            </a:lvl4pPr>
            <a:lvl5pPr>
              <a:buNone/>
              <a:defRPr sz="1275" b="0">
                <a:solidFill>
                  <a:srgbClr val="526779"/>
                </a:solidFill>
                <a:latin typeface="Arial"/>
                <a:ea typeface="Arial"/>
                <a:cs typeface="Arial"/>
              </a:defRPr>
            </a:lvl5pPr>
            <a:lvl6pPr>
              <a:buNone/>
              <a:defRPr sz="1275" b="0">
                <a:solidFill>
                  <a:srgbClr val="526779"/>
                </a:solidFill>
                <a:latin typeface="Arial"/>
                <a:ea typeface="Arial"/>
                <a:cs typeface="Arial"/>
              </a:defRPr>
            </a:lvl6pPr>
            <a:lvl7pPr>
              <a:buNone/>
              <a:defRPr sz="1275" b="0">
                <a:solidFill>
                  <a:srgbClr val="526779"/>
                </a:solidFill>
                <a:latin typeface="Arial"/>
                <a:ea typeface="Arial"/>
                <a:cs typeface="Arial"/>
              </a:defRPr>
            </a:lvl7pPr>
            <a:lvl8pPr>
              <a:buNone/>
              <a:defRPr sz="1275" b="0">
                <a:solidFill>
                  <a:srgbClr val="526779"/>
                </a:solidFill>
                <a:latin typeface="Arial"/>
                <a:ea typeface="Arial"/>
                <a:cs typeface="Arial"/>
              </a:defRPr>
            </a:lvl8pPr>
            <a:lvl9pPr>
              <a:buNone/>
              <a:defRPr sz="1275" b="0">
                <a:solidFill>
                  <a:srgbClr val="526779"/>
                </a:solidFill>
                <a:latin typeface="Arial"/>
                <a:ea typeface="Arial"/>
                <a:cs typeface="Arial"/>
              </a:defRPr>
            </a:lvl9pPr>
          </a:lstStyle>
          <a:p xmlns:a="http://schemas.openxmlformats.org/drawingml/2006/main">
            <a:pPr>
              <a:buNone/>
              <a:defRPr sz="1275" b="0">
                <a:solidFill>
                  <a:srgbClr val="526779"/>
                </a:solidFill>
                <a:latin typeface="Arial"/>
                <a:ea typeface="Arial"/>
                <a:cs typeface="Arial"/>
              </a:defRPr>
            </a:pPr>
            <a:r>
              <a:rPr sz="1275" b="0">
                <a:solidFill>
                  <a:srgbClr val="526779"/>
                </a:solidFill>
                <a:latin typeface="Arial"/>
                <a:ea typeface="Arial"/>
                <a:cs typeface="Arial"/>
              </a:rPr>
              <a:t>5 / 5</a:t>
            </a:r>
          </a:p>
        </p:txBody>
      </p:sp>
      <p:sp>
        <p:nvSpPr>
          <p:cNvPr id="7" name="">
            <a:extLst xmlns:a="http://schemas.openxmlformats.org/drawingml/2006/main">
              <a:ext uri="{FF2B5EF4-FFF2-40B4-BE49-F238E27FC236}">
                <a16:creationId xmlns:a16="http://schemas.microsoft.com/office/drawing/2014/main" id="{D7C210F5-BB5B-4B95-99F9-8516EAE884E6}"/>
              </a:ext>
            </a:extLst>
          </p:cNvPr>
          <p:cNvSpPr>
            <a:spLocks xmlns:a="http://schemas.openxmlformats.org/drawingml/2006/main" noGrp="1"/>
          </p:cNvSpPr>
          <p:nvPr/>
        </p:nvSpPr>
        <p:spPr>
          <a:xfrm xmlns:a="http://schemas.openxmlformats.org/drawingml/2006/main">
            <a:off x="609600" y="1695450"/>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324F"/>
                </a:solidFill>
                <a:latin typeface="Arial"/>
                <a:ea typeface="Arial"/>
                <a:cs typeface="Arial"/>
              </a:defRPr>
            </a:defPPr>
            <a:lvl1pPr>
              <a:buNone/>
              <a:defRPr sz="2175" b="1">
                <a:solidFill>
                  <a:srgbClr val="16324F"/>
                </a:solidFill>
                <a:latin typeface="Arial"/>
                <a:ea typeface="Arial"/>
                <a:cs typeface="Arial"/>
              </a:defRPr>
            </a:lvl1pPr>
            <a:lvl2pPr>
              <a:buNone/>
              <a:defRPr sz="2175" b="1">
                <a:solidFill>
                  <a:srgbClr val="16324F"/>
                </a:solidFill>
                <a:latin typeface="Arial"/>
                <a:ea typeface="Arial"/>
                <a:cs typeface="Arial"/>
              </a:defRPr>
            </a:lvl2pPr>
            <a:lvl3pPr>
              <a:buNone/>
              <a:defRPr sz="2175" b="1">
                <a:solidFill>
                  <a:srgbClr val="16324F"/>
                </a:solidFill>
                <a:latin typeface="Arial"/>
                <a:ea typeface="Arial"/>
                <a:cs typeface="Arial"/>
              </a:defRPr>
            </a:lvl3pPr>
            <a:lvl4pPr>
              <a:buNone/>
              <a:defRPr sz="2175" b="1">
                <a:solidFill>
                  <a:srgbClr val="16324F"/>
                </a:solidFill>
                <a:latin typeface="Arial"/>
                <a:ea typeface="Arial"/>
                <a:cs typeface="Arial"/>
              </a:defRPr>
            </a:lvl4pPr>
            <a:lvl5pPr>
              <a:buNone/>
              <a:defRPr sz="2175" b="1">
                <a:solidFill>
                  <a:srgbClr val="16324F"/>
                </a:solidFill>
                <a:latin typeface="Arial"/>
                <a:ea typeface="Arial"/>
                <a:cs typeface="Arial"/>
              </a:defRPr>
            </a:lvl5pPr>
            <a:lvl6pPr>
              <a:buNone/>
              <a:defRPr sz="2175" b="1">
                <a:solidFill>
                  <a:srgbClr val="16324F"/>
                </a:solidFill>
                <a:latin typeface="Arial"/>
                <a:ea typeface="Arial"/>
                <a:cs typeface="Arial"/>
              </a:defRPr>
            </a:lvl6pPr>
            <a:lvl7pPr>
              <a:buNone/>
              <a:defRPr sz="2175" b="1">
                <a:solidFill>
                  <a:srgbClr val="16324F"/>
                </a:solidFill>
                <a:latin typeface="Arial"/>
                <a:ea typeface="Arial"/>
                <a:cs typeface="Arial"/>
              </a:defRPr>
            </a:lvl7pPr>
            <a:lvl8pPr>
              <a:buNone/>
              <a:defRPr sz="2175" b="1">
                <a:solidFill>
                  <a:srgbClr val="16324F"/>
                </a:solidFill>
                <a:latin typeface="Arial"/>
                <a:ea typeface="Arial"/>
                <a:cs typeface="Arial"/>
              </a:defRPr>
            </a:lvl8pPr>
            <a:lvl9pPr>
              <a:buNone/>
              <a:defRPr sz="2175" b="1">
                <a:solidFill>
                  <a:srgbClr val="16324F"/>
                </a:solidFill>
                <a:latin typeface="Arial"/>
                <a:ea typeface="Arial"/>
                <a:cs typeface="Arial"/>
              </a:defRPr>
            </a:lvl9pPr>
          </a:lstStyle>
          <a:p xmlns:a="http://schemas.openxmlformats.org/drawingml/2006/main">
            <a:pPr>
              <a:buNone/>
              <a:defRPr sz="2175" b="1">
                <a:solidFill>
                  <a:srgbClr val="16324F"/>
                </a:solidFill>
                <a:latin typeface="Arial"/>
                <a:ea typeface="Arial"/>
                <a:cs typeface="Arial"/>
              </a:defRPr>
            </a:pPr>
            <a:r>
              <a:rPr sz="2175" b="1">
                <a:solidFill>
                  <a:srgbClr val="16324F"/>
                </a:solidFill>
                <a:latin typeface="Arial"/>
                <a:ea typeface="Arial"/>
                <a:cs typeface="Arial"/>
              </a:rPr>
              <a:t>What remains uncertain</a:t>
            </a:r>
          </a:p>
        </p:txBody>
      </p:sp>
      <p:sp>
        <p:nvSpPr>
          <p:cNvPr id="8" name="">
            <a:extLst xmlns:a="http://schemas.openxmlformats.org/drawingml/2006/main">
              <a:ext uri="{FF2B5EF4-FFF2-40B4-BE49-F238E27FC236}">
                <a16:creationId xmlns:a16="http://schemas.microsoft.com/office/drawing/2014/main" id="{DE19E432-7174-477E-9AC6-09E98D1B8DD2}"/>
              </a:ext>
            </a:extLst>
          </p:cNvPr>
          <p:cNvSpPr>
            <a:spLocks xmlns:a="http://schemas.openxmlformats.org/drawingml/2006/main" noGrp="1"/>
          </p:cNvSpPr>
          <p:nvPr/>
        </p:nvSpPr>
        <p:spPr>
          <a:xfrm xmlns:a="http://schemas.openxmlformats.org/drawingml/2006/main">
            <a:off x="609600" y="2324100"/>
            <a:ext cx="4295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B3A"/>
                </a:solidFill>
                <a:latin typeface="Arial"/>
                <a:ea typeface="Arial"/>
                <a:cs typeface="Arial"/>
              </a:defRPr>
            </a:defPPr>
            <a:lvl1pPr>
              <a:buNone/>
              <a:defRPr sz="1950" b="0">
                <a:solidFill>
                  <a:srgbClr val="172B3A"/>
                </a:solidFill>
                <a:latin typeface="Arial"/>
                <a:ea typeface="Arial"/>
                <a:cs typeface="Arial"/>
              </a:defRPr>
            </a:lvl1pPr>
            <a:lvl2pPr>
              <a:buNone/>
              <a:defRPr sz="1950" b="0">
                <a:solidFill>
                  <a:srgbClr val="172B3A"/>
                </a:solidFill>
                <a:latin typeface="Arial"/>
                <a:ea typeface="Arial"/>
                <a:cs typeface="Arial"/>
              </a:defRPr>
            </a:lvl2pPr>
            <a:lvl3pPr>
              <a:buNone/>
              <a:defRPr sz="1950" b="0">
                <a:solidFill>
                  <a:srgbClr val="172B3A"/>
                </a:solidFill>
                <a:latin typeface="Arial"/>
                <a:ea typeface="Arial"/>
                <a:cs typeface="Arial"/>
              </a:defRPr>
            </a:lvl3pPr>
            <a:lvl4pPr>
              <a:buNone/>
              <a:defRPr sz="1950" b="0">
                <a:solidFill>
                  <a:srgbClr val="172B3A"/>
                </a:solidFill>
                <a:latin typeface="Arial"/>
                <a:ea typeface="Arial"/>
                <a:cs typeface="Arial"/>
              </a:defRPr>
            </a:lvl4pPr>
            <a:lvl5pPr>
              <a:buNone/>
              <a:defRPr sz="1950" b="0">
                <a:solidFill>
                  <a:srgbClr val="172B3A"/>
                </a:solidFill>
                <a:latin typeface="Arial"/>
                <a:ea typeface="Arial"/>
                <a:cs typeface="Arial"/>
              </a:defRPr>
            </a:lvl5pPr>
            <a:lvl6pPr>
              <a:buNone/>
              <a:defRPr sz="1950" b="0">
                <a:solidFill>
                  <a:srgbClr val="172B3A"/>
                </a:solidFill>
                <a:latin typeface="Arial"/>
                <a:ea typeface="Arial"/>
                <a:cs typeface="Arial"/>
              </a:defRPr>
            </a:lvl6pPr>
            <a:lvl7pPr>
              <a:buNone/>
              <a:defRPr sz="1950" b="0">
                <a:solidFill>
                  <a:srgbClr val="172B3A"/>
                </a:solidFill>
                <a:latin typeface="Arial"/>
                <a:ea typeface="Arial"/>
                <a:cs typeface="Arial"/>
              </a:defRPr>
            </a:lvl7pPr>
            <a:lvl8pPr>
              <a:buNone/>
              <a:defRPr sz="1950" b="0">
                <a:solidFill>
                  <a:srgbClr val="172B3A"/>
                </a:solidFill>
                <a:latin typeface="Arial"/>
                <a:ea typeface="Arial"/>
                <a:cs typeface="Arial"/>
              </a:defRPr>
            </a:lvl8pPr>
            <a:lvl9pPr>
              <a:buNone/>
              <a:defRPr sz="1950" b="0">
                <a:solidFill>
                  <a:srgbClr val="172B3A"/>
                </a:solidFill>
                <a:latin typeface="Arial"/>
                <a:ea typeface="Arial"/>
                <a:cs typeface="Arial"/>
              </a:defRPr>
            </a:lvl9pPr>
          </a:lstStyle>
          <a:p xmlns:a="http://schemas.openxmlformats.org/drawingml/2006/main">
            <a:pPr>
              <a:buNone/>
              <a:defRPr sz="1950" b="0">
                <a:solidFill>
                  <a:srgbClr val="172B3A"/>
                </a:solidFill>
                <a:latin typeface="Arial"/>
                <a:ea typeface="Arial"/>
                <a:cs typeface="Arial"/>
              </a:defRPr>
            </a:pPr>
            <a:r>
              <a:rPr sz="1950" b="0">
                <a:solidFill>
                  <a:srgbClr val="172B3A"/>
                </a:solidFill>
                <a:latin typeface="Arial"/>
                <a:ea typeface="Arial"/>
                <a:cs typeface="Arial"/>
              </a:rPr>
              <a:t>Three training seeds; one fixed</a:t>
            </a:r>
          </a:p>
          <a:p xmlns:a="http://schemas.openxmlformats.org/drawingml/2006/main">
            <a:pPr>
              <a:buNone/>
              <a:defRPr sz="1950" b="0">
                <a:solidFill>
                  <a:srgbClr val="172B3A"/>
                </a:solidFill>
                <a:latin typeface="Arial"/>
                <a:ea typeface="Arial"/>
                <a:cs typeface="Arial"/>
              </a:defRPr>
            </a:pPr>
            <a:r>
              <a:rPr sz="1950" b="0">
                <a:solidFill>
                  <a:srgbClr val="172B3A"/>
                </a:solidFill>
                <a:latin typeface="Arial"/>
                <a:ea typeface="Arial"/>
                <a:cs typeface="Arial"/>
              </a:rPr>
              <a:t>validation set; two small budgets.</a:t>
            </a:r>
          </a:p>
        </p:txBody>
      </p:sp>
      <p:sp>
        <p:nvSpPr>
          <p:cNvPr id="9" name="">
            <a:extLst xmlns:a="http://schemas.openxmlformats.org/drawingml/2006/main">
              <a:ext uri="{FF2B5EF4-FFF2-40B4-BE49-F238E27FC236}">
                <a16:creationId xmlns:a16="http://schemas.microsoft.com/office/drawing/2014/main" id="{0FC0161C-D2A1-4CE3-BC14-8DD415120B2A}"/>
              </a:ext>
            </a:extLst>
          </p:cNvPr>
          <p:cNvSpPr>
            <a:spLocks xmlns:a="http://schemas.openxmlformats.org/drawingml/2006/main" noGrp="1"/>
          </p:cNvSpPr>
          <p:nvPr/>
        </p:nvSpPr>
        <p:spPr>
          <a:xfrm xmlns:a="http://schemas.openxmlformats.org/drawingml/2006/main">
            <a:off x="609600" y="3381375"/>
            <a:ext cx="4381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B3A"/>
                </a:solidFill>
                <a:latin typeface="Arial"/>
                <a:ea typeface="Arial"/>
                <a:cs typeface="Arial"/>
              </a:defRPr>
            </a:defPPr>
            <a:lvl1pPr>
              <a:buNone/>
              <a:defRPr sz="1875" b="0">
                <a:solidFill>
                  <a:srgbClr val="172B3A"/>
                </a:solidFill>
                <a:latin typeface="Arial"/>
                <a:ea typeface="Arial"/>
                <a:cs typeface="Arial"/>
              </a:defRPr>
            </a:lvl1pPr>
            <a:lvl2pPr>
              <a:buNone/>
              <a:defRPr sz="1875" b="0">
                <a:solidFill>
                  <a:srgbClr val="172B3A"/>
                </a:solidFill>
                <a:latin typeface="Arial"/>
                <a:ea typeface="Arial"/>
                <a:cs typeface="Arial"/>
              </a:defRPr>
            </a:lvl2pPr>
            <a:lvl3pPr>
              <a:buNone/>
              <a:defRPr sz="1875" b="0">
                <a:solidFill>
                  <a:srgbClr val="172B3A"/>
                </a:solidFill>
                <a:latin typeface="Arial"/>
                <a:ea typeface="Arial"/>
                <a:cs typeface="Arial"/>
              </a:defRPr>
            </a:lvl3pPr>
            <a:lvl4pPr>
              <a:buNone/>
              <a:defRPr sz="1875" b="0">
                <a:solidFill>
                  <a:srgbClr val="172B3A"/>
                </a:solidFill>
                <a:latin typeface="Arial"/>
                <a:ea typeface="Arial"/>
                <a:cs typeface="Arial"/>
              </a:defRPr>
            </a:lvl4pPr>
            <a:lvl5pPr>
              <a:buNone/>
              <a:defRPr sz="1875" b="0">
                <a:solidFill>
                  <a:srgbClr val="172B3A"/>
                </a:solidFill>
                <a:latin typeface="Arial"/>
                <a:ea typeface="Arial"/>
                <a:cs typeface="Arial"/>
              </a:defRPr>
            </a:lvl5pPr>
            <a:lvl6pPr>
              <a:buNone/>
              <a:defRPr sz="1875" b="0">
                <a:solidFill>
                  <a:srgbClr val="172B3A"/>
                </a:solidFill>
                <a:latin typeface="Arial"/>
                <a:ea typeface="Arial"/>
                <a:cs typeface="Arial"/>
              </a:defRPr>
            </a:lvl6pPr>
            <a:lvl7pPr>
              <a:buNone/>
              <a:defRPr sz="1875" b="0">
                <a:solidFill>
                  <a:srgbClr val="172B3A"/>
                </a:solidFill>
                <a:latin typeface="Arial"/>
                <a:ea typeface="Arial"/>
                <a:cs typeface="Arial"/>
              </a:defRPr>
            </a:lvl7pPr>
            <a:lvl8pPr>
              <a:buNone/>
              <a:defRPr sz="1875" b="0">
                <a:solidFill>
                  <a:srgbClr val="172B3A"/>
                </a:solidFill>
                <a:latin typeface="Arial"/>
                <a:ea typeface="Arial"/>
                <a:cs typeface="Arial"/>
              </a:defRPr>
            </a:lvl8pPr>
            <a:lvl9pPr>
              <a:buNone/>
              <a:defRPr sz="1875" b="0">
                <a:solidFill>
                  <a:srgbClr val="172B3A"/>
                </a:solidFill>
                <a:latin typeface="Arial"/>
                <a:ea typeface="Arial"/>
                <a:cs typeface="Arial"/>
              </a:defRPr>
            </a:lvl9pPr>
          </a:lstStyle>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Pretraining brings external information.</a:t>
            </a:r>
          </a:p>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The comparison is task-label efficiency.</a:t>
            </a:r>
          </a:p>
        </p:txBody>
      </p:sp>
      <p:sp>
        <p:nvSpPr>
          <p:cNvPr id="10" name="">
            <a:extLst xmlns:a="http://schemas.openxmlformats.org/drawingml/2006/main">
              <a:ext uri="{FF2B5EF4-FFF2-40B4-BE49-F238E27FC236}">
                <a16:creationId xmlns:a16="http://schemas.microsoft.com/office/drawing/2014/main" id="{4EA5426D-C59D-458D-8AB6-B23A3FC532F7}"/>
              </a:ext>
            </a:extLst>
          </p:cNvPr>
          <p:cNvSpPr>
            <a:spLocks xmlns:a="http://schemas.openxmlformats.org/drawingml/2006/main" noGrp="1"/>
          </p:cNvSpPr>
          <p:nvPr/>
        </p:nvSpPr>
        <p:spPr>
          <a:xfrm xmlns:a="http://schemas.openxmlformats.org/drawingml/2006/main">
            <a:off x="609600" y="4476750"/>
            <a:ext cx="4333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B3A"/>
                </a:solidFill>
                <a:latin typeface="Arial"/>
                <a:ea typeface="Arial"/>
                <a:cs typeface="Arial"/>
              </a:defRPr>
            </a:defPPr>
            <a:lvl1pPr>
              <a:buNone/>
              <a:defRPr sz="1875" b="0">
                <a:solidFill>
                  <a:srgbClr val="172B3A"/>
                </a:solidFill>
                <a:latin typeface="Arial"/>
                <a:ea typeface="Arial"/>
                <a:cs typeface="Arial"/>
              </a:defRPr>
            </a:lvl1pPr>
            <a:lvl2pPr>
              <a:buNone/>
              <a:defRPr sz="1875" b="0">
                <a:solidFill>
                  <a:srgbClr val="172B3A"/>
                </a:solidFill>
                <a:latin typeface="Arial"/>
                <a:ea typeface="Arial"/>
                <a:cs typeface="Arial"/>
              </a:defRPr>
            </a:lvl2pPr>
            <a:lvl3pPr>
              <a:buNone/>
              <a:defRPr sz="1875" b="0">
                <a:solidFill>
                  <a:srgbClr val="172B3A"/>
                </a:solidFill>
                <a:latin typeface="Arial"/>
                <a:ea typeface="Arial"/>
                <a:cs typeface="Arial"/>
              </a:defRPr>
            </a:lvl3pPr>
            <a:lvl4pPr>
              <a:buNone/>
              <a:defRPr sz="1875" b="0">
                <a:solidFill>
                  <a:srgbClr val="172B3A"/>
                </a:solidFill>
                <a:latin typeface="Arial"/>
                <a:ea typeface="Arial"/>
                <a:cs typeface="Arial"/>
              </a:defRPr>
            </a:lvl4pPr>
            <a:lvl5pPr>
              <a:buNone/>
              <a:defRPr sz="1875" b="0">
                <a:solidFill>
                  <a:srgbClr val="172B3A"/>
                </a:solidFill>
                <a:latin typeface="Arial"/>
                <a:ea typeface="Arial"/>
                <a:cs typeface="Arial"/>
              </a:defRPr>
            </a:lvl5pPr>
            <a:lvl6pPr>
              <a:buNone/>
              <a:defRPr sz="1875" b="0">
                <a:solidFill>
                  <a:srgbClr val="172B3A"/>
                </a:solidFill>
                <a:latin typeface="Arial"/>
                <a:ea typeface="Arial"/>
                <a:cs typeface="Arial"/>
              </a:defRPr>
            </a:lvl6pPr>
            <a:lvl7pPr>
              <a:buNone/>
              <a:defRPr sz="1875" b="0">
                <a:solidFill>
                  <a:srgbClr val="172B3A"/>
                </a:solidFill>
                <a:latin typeface="Arial"/>
                <a:ea typeface="Arial"/>
                <a:cs typeface="Arial"/>
              </a:defRPr>
            </a:lvl7pPr>
            <a:lvl8pPr>
              <a:buNone/>
              <a:defRPr sz="1875" b="0">
                <a:solidFill>
                  <a:srgbClr val="172B3A"/>
                </a:solidFill>
                <a:latin typeface="Arial"/>
                <a:ea typeface="Arial"/>
                <a:cs typeface="Arial"/>
              </a:defRPr>
            </a:lvl8pPr>
            <a:lvl9pPr>
              <a:buNone/>
              <a:defRPr sz="1875" b="0">
                <a:solidFill>
                  <a:srgbClr val="172B3A"/>
                </a:solidFill>
                <a:latin typeface="Arial"/>
                <a:ea typeface="Arial"/>
                <a:cs typeface="Arial"/>
              </a:defRPr>
            </a:lvl9pPr>
          </a:lstStyle>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Regularization is not fully optimized.</a:t>
            </a:r>
          </a:p>
          <a:p xmlns:a="http://schemas.openxmlformats.org/drawingml/2006/main">
            <a:pPr>
              <a:buNone/>
              <a:defRPr sz="1875" b="0">
                <a:solidFill>
                  <a:srgbClr val="172B3A"/>
                </a:solidFill>
                <a:latin typeface="Arial"/>
                <a:ea typeface="Arial"/>
                <a:cs typeface="Arial"/>
              </a:defRPr>
            </a:pPr>
            <a:r>
              <a:rPr sz="1875" b="0">
                <a:solidFill>
                  <a:srgbClr val="172B3A"/>
                </a:solidFill>
                <a:latin typeface="Arial"/>
                <a:ea typeface="Arial"/>
                <a:cs typeface="Arial"/>
              </a:rPr>
              <a:t>Computational costs need control.</a:t>
            </a:r>
          </a:p>
        </p:txBody>
      </p:sp>
      <p:sp>
        <p:nvSpPr>
          <p:cNvPr id="11" name="">
            <a:extLst xmlns:a="http://schemas.openxmlformats.org/drawingml/2006/main">
              <a:ext uri="{FF2B5EF4-FFF2-40B4-BE49-F238E27FC236}">
                <a16:creationId xmlns:a16="http://schemas.microsoft.com/office/drawing/2014/main" id="{11E0B97C-CBBE-49D0-AB15-1927B63406AB}"/>
              </a:ext>
            </a:extLst>
          </p:cNvPr>
          <p:cNvSpPr>
            <a:spLocks xmlns:a="http://schemas.openxmlformats.org/drawingml/2006/main" noGrp="1"/>
          </p:cNvSpPr>
          <p:nvPr/>
        </p:nvSpPr>
        <p:spPr>
          <a:xfrm xmlns:a="http://schemas.openxmlformats.org/drawingml/2006/main">
            <a:off x="5267325" y="1733550"/>
            <a:ext cx="19050" cy="4200525"/>
          </a:xfrm>
          <a:prstGeom xmlns:a="http://schemas.openxmlformats.org/drawingml/2006/main" prst="rect">
            <a:avLst/>
          </a:prstGeom>
          <a:solidFill xmlns:a="http://schemas.openxmlformats.org/drawingml/2006/main">
            <a:srgbClr val="CED8E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6BA16FA-8558-4152-AA1A-2F38752FC934}"/>
              </a:ext>
            </a:extLst>
          </p:cNvPr>
          <p:cNvSpPr>
            <a:spLocks xmlns:a="http://schemas.openxmlformats.org/drawingml/2006/main" noGrp="1"/>
          </p:cNvSpPr>
          <p:nvPr/>
        </p:nvSpPr>
        <p:spPr>
          <a:xfrm xmlns:a="http://schemas.openxmlformats.org/drawingml/2006/main">
            <a:off x="5772150" y="169545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324F"/>
                </a:solidFill>
                <a:latin typeface="Arial"/>
                <a:ea typeface="Arial"/>
                <a:cs typeface="Arial"/>
              </a:defRPr>
            </a:defPPr>
            <a:lvl1pPr>
              <a:buNone/>
              <a:defRPr sz="2175" b="1">
                <a:solidFill>
                  <a:srgbClr val="16324F"/>
                </a:solidFill>
                <a:latin typeface="Arial"/>
                <a:ea typeface="Arial"/>
                <a:cs typeface="Arial"/>
              </a:defRPr>
            </a:lvl1pPr>
            <a:lvl2pPr>
              <a:buNone/>
              <a:defRPr sz="2175" b="1">
                <a:solidFill>
                  <a:srgbClr val="16324F"/>
                </a:solidFill>
                <a:latin typeface="Arial"/>
                <a:ea typeface="Arial"/>
                <a:cs typeface="Arial"/>
              </a:defRPr>
            </a:lvl2pPr>
            <a:lvl3pPr>
              <a:buNone/>
              <a:defRPr sz="2175" b="1">
                <a:solidFill>
                  <a:srgbClr val="16324F"/>
                </a:solidFill>
                <a:latin typeface="Arial"/>
                <a:ea typeface="Arial"/>
                <a:cs typeface="Arial"/>
              </a:defRPr>
            </a:lvl3pPr>
            <a:lvl4pPr>
              <a:buNone/>
              <a:defRPr sz="2175" b="1">
                <a:solidFill>
                  <a:srgbClr val="16324F"/>
                </a:solidFill>
                <a:latin typeface="Arial"/>
                <a:ea typeface="Arial"/>
                <a:cs typeface="Arial"/>
              </a:defRPr>
            </a:lvl4pPr>
            <a:lvl5pPr>
              <a:buNone/>
              <a:defRPr sz="2175" b="1">
                <a:solidFill>
                  <a:srgbClr val="16324F"/>
                </a:solidFill>
                <a:latin typeface="Arial"/>
                <a:ea typeface="Arial"/>
                <a:cs typeface="Arial"/>
              </a:defRPr>
            </a:lvl5pPr>
            <a:lvl6pPr>
              <a:buNone/>
              <a:defRPr sz="2175" b="1">
                <a:solidFill>
                  <a:srgbClr val="16324F"/>
                </a:solidFill>
                <a:latin typeface="Arial"/>
                <a:ea typeface="Arial"/>
                <a:cs typeface="Arial"/>
              </a:defRPr>
            </a:lvl6pPr>
            <a:lvl7pPr>
              <a:buNone/>
              <a:defRPr sz="2175" b="1">
                <a:solidFill>
                  <a:srgbClr val="16324F"/>
                </a:solidFill>
                <a:latin typeface="Arial"/>
                <a:ea typeface="Arial"/>
                <a:cs typeface="Arial"/>
              </a:defRPr>
            </a:lvl7pPr>
            <a:lvl8pPr>
              <a:buNone/>
              <a:defRPr sz="2175" b="1">
                <a:solidFill>
                  <a:srgbClr val="16324F"/>
                </a:solidFill>
                <a:latin typeface="Arial"/>
                <a:ea typeface="Arial"/>
                <a:cs typeface="Arial"/>
              </a:defRPr>
            </a:lvl8pPr>
            <a:lvl9pPr>
              <a:buNone/>
              <a:defRPr sz="2175" b="1">
                <a:solidFill>
                  <a:srgbClr val="16324F"/>
                </a:solidFill>
                <a:latin typeface="Arial"/>
                <a:ea typeface="Arial"/>
                <a:cs typeface="Arial"/>
              </a:defRPr>
            </a:lvl9pPr>
          </a:lstStyle>
          <a:p xmlns:a="http://schemas.openxmlformats.org/drawingml/2006/main">
            <a:pPr>
              <a:buNone/>
              <a:defRPr sz="2175" b="1">
                <a:solidFill>
                  <a:srgbClr val="16324F"/>
                </a:solidFill>
                <a:latin typeface="Arial"/>
                <a:ea typeface="Arial"/>
                <a:cs typeface="Arial"/>
              </a:defRPr>
            </a:pPr>
            <a:r>
              <a:rPr sz="2175" b="1">
                <a:solidFill>
                  <a:srgbClr val="16324F"/>
                </a:solidFill>
                <a:latin typeface="Arial"/>
                <a:ea typeface="Arial"/>
                <a:cs typeface="Arial"/>
              </a:rPr>
              <a:t>Next experiments</a:t>
            </a:r>
          </a:p>
        </p:txBody>
      </p:sp>
      <p:sp>
        <p:nvSpPr>
          <p:cNvPr id="13" name="">
            <a:extLst xmlns:a="http://schemas.openxmlformats.org/drawingml/2006/main">
              <a:ext uri="{FF2B5EF4-FFF2-40B4-BE49-F238E27FC236}">
                <a16:creationId xmlns:a16="http://schemas.microsoft.com/office/drawing/2014/main" id="{5595218B-FA69-4A29-899F-D4516C6E128D}"/>
              </a:ext>
            </a:extLst>
          </p:cNvPr>
          <p:cNvSpPr>
            <a:spLocks xmlns:a="http://schemas.openxmlformats.org/drawingml/2006/main" noGrp="1"/>
          </p:cNvSpPr>
          <p:nvPr/>
        </p:nvSpPr>
        <p:spPr>
          <a:xfrm xmlns:a="http://schemas.openxmlformats.org/drawingml/2006/main">
            <a:off x="5772150" y="2305050"/>
            <a:ext cx="409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563A6"/>
                </a:solidFill>
                <a:latin typeface="Arial"/>
                <a:ea typeface="Arial"/>
                <a:cs typeface="Arial"/>
              </a:defRPr>
            </a:defPPr>
            <a:lvl1pPr>
              <a:buNone/>
              <a:defRPr sz="1800" b="1">
                <a:solidFill>
                  <a:srgbClr val="2563A6"/>
                </a:solidFill>
                <a:latin typeface="Arial"/>
                <a:ea typeface="Arial"/>
                <a:cs typeface="Arial"/>
              </a:defRPr>
            </a:lvl1pPr>
            <a:lvl2pPr>
              <a:buNone/>
              <a:defRPr sz="1800" b="1">
                <a:solidFill>
                  <a:srgbClr val="2563A6"/>
                </a:solidFill>
                <a:latin typeface="Arial"/>
                <a:ea typeface="Arial"/>
                <a:cs typeface="Arial"/>
              </a:defRPr>
            </a:lvl2pPr>
            <a:lvl3pPr>
              <a:buNone/>
              <a:defRPr sz="1800" b="1">
                <a:solidFill>
                  <a:srgbClr val="2563A6"/>
                </a:solidFill>
                <a:latin typeface="Arial"/>
                <a:ea typeface="Arial"/>
                <a:cs typeface="Arial"/>
              </a:defRPr>
            </a:lvl3pPr>
            <a:lvl4pPr>
              <a:buNone/>
              <a:defRPr sz="1800" b="1">
                <a:solidFill>
                  <a:srgbClr val="2563A6"/>
                </a:solidFill>
                <a:latin typeface="Arial"/>
                <a:ea typeface="Arial"/>
                <a:cs typeface="Arial"/>
              </a:defRPr>
            </a:lvl4pPr>
            <a:lvl5pPr>
              <a:buNone/>
              <a:defRPr sz="1800" b="1">
                <a:solidFill>
                  <a:srgbClr val="2563A6"/>
                </a:solidFill>
                <a:latin typeface="Arial"/>
                <a:ea typeface="Arial"/>
                <a:cs typeface="Arial"/>
              </a:defRPr>
            </a:lvl5pPr>
            <a:lvl6pPr>
              <a:buNone/>
              <a:defRPr sz="1800" b="1">
                <a:solidFill>
                  <a:srgbClr val="2563A6"/>
                </a:solidFill>
                <a:latin typeface="Arial"/>
                <a:ea typeface="Arial"/>
                <a:cs typeface="Arial"/>
              </a:defRPr>
            </a:lvl6pPr>
            <a:lvl7pPr>
              <a:buNone/>
              <a:defRPr sz="1800" b="1">
                <a:solidFill>
                  <a:srgbClr val="2563A6"/>
                </a:solidFill>
                <a:latin typeface="Arial"/>
                <a:ea typeface="Arial"/>
                <a:cs typeface="Arial"/>
              </a:defRPr>
            </a:lvl7pPr>
            <a:lvl8pPr>
              <a:buNone/>
              <a:defRPr sz="1800" b="1">
                <a:solidFill>
                  <a:srgbClr val="2563A6"/>
                </a:solidFill>
                <a:latin typeface="Arial"/>
                <a:ea typeface="Arial"/>
                <a:cs typeface="Arial"/>
              </a:defRPr>
            </a:lvl8pPr>
            <a:lvl9pPr>
              <a:buNone/>
              <a:defRPr sz="1800" b="1">
                <a:solidFill>
                  <a:srgbClr val="2563A6"/>
                </a:solidFill>
                <a:latin typeface="Arial"/>
                <a:ea typeface="Arial"/>
                <a:cs typeface="Arial"/>
              </a:defRPr>
            </a:lvl9pPr>
          </a:lstStyle>
          <a:p xmlns:a="http://schemas.openxmlformats.org/drawingml/2006/main">
            <a:pPr>
              <a:buNone/>
              <a:defRPr sz="1800" b="1">
                <a:solidFill>
                  <a:srgbClr val="2563A6"/>
                </a:solidFill>
                <a:latin typeface="Arial"/>
                <a:ea typeface="Arial"/>
                <a:cs typeface="Arial"/>
              </a:defRPr>
            </a:pPr>
            <a:r>
              <a:rPr sz="1800" b="1">
                <a:solidFill>
                  <a:srgbClr val="2563A6"/>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EECC1E53-94C4-4739-9D9B-B9A4C0B6E08D}"/>
              </a:ext>
            </a:extLst>
          </p:cNvPr>
          <p:cNvSpPr>
            <a:spLocks xmlns:a="http://schemas.openxmlformats.org/drawingml/2006/main" noGrp="1"/>
          </p:cNvSpPr>
          <p:nvPr/>
        </p:nvSpPr>
        <p:spPr>
          <a:xfrm xmlns:a="http://schemas.openxmlformats.org/drawingml/2006/main">
            <a:off x="6305550" y="2305050"/>
            <a:ext cx="5276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B3A"/>
                </a:solidFill>
                <a:latin typeface="Arial"/>
                <a:ea typeface="Arial"/>
                <a:cs typeface="Arial"/>
              </a:defRPr>
            </a:defPPr>
            <a:lvl1pPr>
              <a:buNone/>
              <a:defRPr sz="1800" b="0">
                <a:solidFill>
                  <a:srgbClr val="172B3A"/>
                </a:solidFill>
                <a:latin typeface="Arial"/>
                <a:ea typeface="Arial"/>
                <a:cs typeface="Arial"/>
              </a:defRPr>
            </a:lvl1pPr>
            <a:lvl2pPr>
              <a:buNone/>
              <a:defRPr sz="1800" b="0">
                <a:solidFill>
                  <a:srgbClr val="172B3A"/>
                </a:solidFill>
                <a:latin typeface="Arial"/>
                <a:ea typeface="Arial"/>
                <a:cs typeface="Arial"/>
              </a:defRPr>
            </a:lvl2pPr>
            <a:lvl3pPr>
              <a:buNone/>
              <a:defRPr sz="1800" b="0">
                <a:solidFill>
                  <a:srgbClr val="172B3A"/>
                </a:solidFill>
                <a:latin typeface="Arial"/>
                <a:ea typeface="Arial"/>
                <a:cs typeface="Arial"/>
              </a:defRPr>
            </a:lvl3pPr>
            <a:lvl4pPr>
              <a:buNone/>
              <a:defRPr sz="1800" b="0">
                <a:solidFill>
                  <a:srgbClr val="172B3A"/>
                </a:solidFill>
                <a:latin typeface="Arial"/>
                <a:ea typeface="Arial"/>
                <a:cs typeface="Arial"/>
              </a:defRPr>
            </a:lvl4pPr>
            <a:lvl5pPr>
              <a:buNone/>
              <a:defRPr sz="1800" b="0">
                <a:solidFill>
                  <a:srgbClr val="172B3A"/>
                </a:solidFill>
                <a:latin typeface="Arial"/>
                <a:ea typeface="Arial"/>
                <a:cs typeface="Arial"/>
              </a:defRPr>
            </a:lvl5pPr>
            <a:lvl6pPr>
              <a:buNone/>
              <a:defRPr sz="1800" b="0">
                <a:solidFill>
                  <a:srgbClr val="172B3A"/>
                </a:solidFill>
                <a:latin typeface="Arial"/>
                <a:ea typeface="Arial"/>
                <a:cs typeface="Arial"/>
              </a:defRPr>
            </a:lvl6pPr>
            <a:lvl7pPr>
              <a:buNone/>
              <a:defRPr sz="1800" b="0">
                <a:solidFill>
                  <a:srgbClr val="172B3A"/>
                </a:solidFill>
                <a:latin typeface="Arial"/>
                <a:ea typeface="Arial"/>
                <a:cs typeface="Arial"/>
              </a:defRPr>
            </a:lvl7pPr>
            <a:lvl8pPr>
              <a:buNone/>
              <a:defRPr sz="1800" b="0">
                <a:solidFill>
                  <a:srgbClr val="172B3A"/>
                </a:solidFill>
                <a:latin typeface="Arial"/>
                <a:ea typeface="Arial"/>
                <a:cs typeface="Arial"/>
              </a:defRPr>
            </a:lvl8pPr>
            <a:lvl9pPr>
              <a:buNone/>
              <a:defRPr sz="1800" b="0">
                <a:solidFill>
                  <a:srgbClr val="172B3A"/>
                </a:solidFill>
                <a:latin typeface="Arial"/>
                <a:ea typeface="Arial"/>
                <a:cs typeface="Arial"/>
              </a:defRPr>
            </a:lvl9pPr>
          </a:lstStyle>
          <a:p xmlns:a="http://schemas.openxmlformats.org/drawingml/2006/main">
            <a:pPr>
              <a:buNone/>
              <a:defRPr sz="1800" b="0">
                <a:solidFill>
                  <a:srgbClr val="172B3A"/>
                </a:solidFill>
                <a:latin typeface="Arial"/>
                <a:ea typeface="Arial"/>
                <a:cs typeface="Arial"/>
              </a:defRPr>
            </a:pPr>
            <a:r>
              <a:rPr sz="1800" b="0">
                <a:solidFill>
                  <a:srgbClr val="172B3A"/>
                </a:solidFill>
                <a:latin typeface="Arial"/>
                <a:ea typeface="Arial"/>
                <a:cs typeface="Arial"/>
              </a:rPr>
              <a:t>Expand labeled training budgets.</a:t>
            </a:r>
          </a:p>
        </p:txBody>
      </p:sp>
      <p:sp>
        <p:nvSpPr>
          <p:cNvPr id="15" name="">
            <a:extLst xmlns:a="http://schemas.openxmlformats.org/drawingml/2006/main">
              <a:ext uri="{FF2B5EF4-FFF2-40B4-BE49-F238E27FC236}">
                <a16:creationId xmlns:a16="http://schemas.microsoft.com/office/drawing/2014/main" id="{709DA16C-F5E4-4B4F-B277-901345CE0713}"/>
              </a:ext>
            </a:extLst>
          </p:cNvPr>
          <p:cNvSpPr>
            <a:spLocks xmlns:a="http://schemas.openxmlformats.org/drawingml/2006/main" noGrp="1"/>
          </p:cNvSpPr>
          <p:nvPr/>
        </p:nvSpPr>
        <p:spPr>
          <a:xfrm xmlns:a="http://schemas.openxmlformats.org/drawingml/2006/main">
            <a:off x="5772150" y="2809875"/>
            <a:ext cx="409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563A6"/>
                </a:solidFill>
                <a:latin typeface="Arial"/>
                <a:ea typeface="Arial"/>
                <a:cs typeface="Arial"/>
              </a:defRPr>
            </a:defPPr>
            <a:lvl1pPr>
              <a:buNone/>
              <a:defRPr sz="1800" b="1">
                <a:solidFill>
                  <a:srgbClr val="2563A6"/>
                </a:solidFill>
                <a:latin typeface="Arial"/>
                <a:ea typeface="Arial"/>
                <a:cs typeface="Arial"/>
              </a:defRPr>
            </a:lvl1pPr>
            <a:lvl2pPr>
              <a:buNone/>
              <a:defRPr sz="1800" b="1">
                <a:solidFill>
                  <a:srgbClr val="2563A6"/>
                </a:solidFill>
                <a:latin typeface="Arial"/>
                <a:ea typeface="Arial"/>
                <a:cs typeface="Arial"/>
              </a:defRPr>
            </a:lvl2pPr>
            <a:lvl3pPr>
              <a:buNone/>
              <a:defRPr sz="1800" b="1">
                <a:solidFill>
                  <a:srgbClr val="2563A6"/>
                </a:solidFill>
                <a:latin typeface="Arial"/>
                <a:ea typeface="Arial"/>
                <a:cs typeface="Arial"/>
              </a:defRPr>
            </a:lvl3pPr>
            <a:lvl4pPr>
              <a:buNone/>
              <a:defRPr sz="1800" b="1">
                <a:solidFill>
                  <a:srgbClr val="2563A6"/>
                </a:solidFill>
                <a:latin typeface="Arial"/>
                <a:ea typeface="Arial"/>
                <a:cs typeface="Arial"/>
              </a:defRPr>
            </a:lvl4pPr>
            <a:lvl5pPr>
              <a:buNone/>
              <a:defRPr sz="1800" b="1">
                <a:solidFill>
                  <a:srgbClr val="2563A6"/>
                </a:solidFill>
                <a:latin typeface="Arial"/>
                <a:ea typeface="Arial"/>
                <a:cs typeface="Arial"/>
              </a:defRPr>
            </a:lvl5pPr>
            <a:lvl6pPr>
              <a:buNone/>
              <a:defRPr sz="1800" b="1">
                <a:solidFill>
                  <a:srgbClr val="2563A6"/>
                </a:solidFill>
                <a:latin typeface="Arial"/>
                <a:ea typeface="Arial"/>
                <a:cs typeface="Arial"/>
              </a:defRPr>
            </a:lvl6pPr>
            <a:lvl7pPr>
              <a:buNone/>
              <a:defRPr sz="1800" b="1">
                <a:solidFill>
                  <a:srgbClr val="2563A6"/>
                </a:solidFill>
                <a:latin typeface="Arial"/>
                <a:ea typeface="Arial"/>
                <a:cs typeface="Arial"/>
              </a:defRPr>
            </a:lvl7pPr>
            <a:lvl8pPr>
              <a:buNone/>
              <a:defRPr sz="1800" b="1">
                <a:solidFill>
                  <a:srgbClr val="2563A6"/>
                </a:solidFill>
                <a:latin typeface="Arial"/>
                <a:ea typeface="Arial"/>
                <a:cs typeface="Arial"/>
              </a:defRPr>
            </a:lvl8pPr>
            <a:lvl9pPr>
              <a:buNone/>
              <a:defRPr sz="1800" b="1">
                <a:solidFill>
                  <a:srgbClr val="2563A6"/>
                </a:solidFill>
                <a:latin typeface="Arial"/>
                <a:ea typeface="Arial"/>
                <a:cs typeface="Arial"/>
              </a:defRPr>
            </a:lvl9pPr>
          </a:lstStyle>
          <a:p xmlns:a="http://schemas.openxmlformats.org/drawingml/2006/main">
            <a:pPr>
              <a:buNone/>
              <a:defRPr sz="1800" b="1">
                <a:solidFill>
                  <a:srgbClr val="2563A6"/>
                </a:solidFill>
                <a:latin typeface="Arial"/>
                <a:ea typeface="Arial"/>
                <a:cs typeface="Arial"/>
              </a:defRPr>
            </a:pPr>
            <a:r>
              <a:rPr sz="1800" b="1">
                <a:solidFill>
                  <a:srgbClr val="2563A6"/>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0E4118AE-F8A1-4139-9CD0-56B2A7DE719A}"/>
              </a:ext>
            </a:extLst>
          </p:cNvPr>
          <p:cNvSpPr>
            <a:spLocks xmlns:a="http://schemas.openxmlformats.org/drawingml/2006/main" noGrp="1"/>
          </p:cNvSpPr>
          <p:nvPr/>
        </p:nvSpPr>
        <p:spPr>
          <a:xfrm xmlns:a="http://schemas.openxmlformats.org/drawingml/2006/main">
            <a:off x="6305550" y="2809875"/>
            <a:ext cx="5276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B3A"/>
                </a:solidFill>
                <a:latin typeface="Arial"/>
                <a:ea typeface="Arial"/>
                <a:cs typeface="Arial"/>
              </a:defRPr>
            </a:defPPr>
            <a:lvl1pPr>
              <a:buNone/>
              <a:defRPr sz="1800" b="0">
                <a:solidFill>
                  <a:srgbClr val="172B3A"/>
                </a:solidFill>
                <a:latin typeface="Arial"/>
                <a:ea typeface="Arial"/>
                <a:cs typeface="Arial"/>
              </a:defRPr>
            </a:lvl1pPr>
            <a:lvl2pPr>
              <a:buNone/>
              <a:defRPr sz="1800" b="0">
                <a:solidFill>
                  <a:srgbClr val="172B3A"/>
                </a:solidFill>
                <a:latin typeface="Arial"/>
                <a:ea typeface="Arial"/>
                <a:cs typeface="Arial"/>
              </a:defRPr>
            </a:lvl2pPr>
            <a:lvl3pPr>
              <a:buNone/>
              <a:defRPr sz="1800" b="0">
                <a:solidFill>
                  <a:srgbClr val="172B3A"/>
                </a:solidFill>
                <a:latin typeface="Arial"/>
                <a:ea typeface="Arial"/>
                <a:cs typeface="Arial"/>
              </a:defRPr>
            </a:lvl3pPr>
            <a:lvl4pPr>
              <a:buNone/>
              <a:defRPr sz="1800" b="0">
                <a:solidFill>
                  <a:srgbClr val="172B3A"/>
                </a:solidFill>
                <a:latin typeface="Arial"/>
                <a:ea typeface="Arial"/>
                <a:cs typeface="Arial"/>
              </a:defRPr>
            </a:lvl4pPr>
            <a:lvl5pPr>
              <a:buNone/>
              <a:defRPr sz="1800" b="0">
                <a:solidFill>
                  <a:srgbClr val="172B3A"/>
                </a:solidFill>
                <a:latin typeface="Arial"/>
                <a:ea typeface="Arial"/>
                <a:cs typeface="Arial"/>
              </a:defRPr>
            </a:lvl5pPr>
            <a:lvl6pPr>
              <a:buNone/>
              <a:defRPr sz="1800" b="0">
                <a:solidFill>
                  <a:srgbClr val="172B3A"/>
                </a:solidFill>
                <a:latin typeface="Arial"/>
                <a:ea typeface="Arial"/>
                <a:cs typeface="Arial"/>
              </a:defRPr>
            </a:lvl6pPr>
            <a:lvl7pPr>
              <a:buNone/>
              <a:defRPr sz="1800" b="0">
                <a:solidFill>
                  <a:srgbClr val="172B3A"/>
                </a:solidFill>
                <a:latin typeface="Arial"/>
                <a:ea typeface="Arial"/>
                <a:cs typeface="Arial"/>
              </a:defRPr>
            </a:lvl7pPr>
            <a:lvl8pPr>
              <a:buNone/>
              <a:defRPr sz="1800" b="0">
                <a:solidFill>
                  <a:srgbClr val="172B3A"/>
                </a:solidFill>
                <a:latin typeface="Arial"/>
                <a:ea typeface="Arial"/>
                <a:cs typeface="Arial"/>
              </a:defRPr>
            </a:lvl8pPr>
            <a:lvl9pPr>
              <a:buNone/>
              <a:defRPr sz="1800" b="0">
                <a:solidFill>
                  <a:srgbClr val="172B3A"/>
                </a:solidFill>
                <a:latin typeface="Arial"/>
                <a:ea typeface="Arial"/>
                <a:cs typeface="Arial"/>
              </a:defRPr>
            </a:lvl9pPr>
          </a:lstStyle>
          <a:p xmlns:a="http://schemas.openxmlformats.org/drawingml/2006/main">
            <a:pPr>
              <a:buNone/>
              <a:defRPr sz="1800" b="0">
                <a:solidFill>
                  <a:srgbClr val="172B3A"/>
                </a:solidFill>
                <a:latin typeface="Arial"/>
                <a:ea typeface="Arial"/>
                <a:cs typeface="Arial"/>
              </a:defRPr>
            </a:pPr>
            <a:r>
              <a:rPr sz="1800" b="0">
                <a:solidFill>
                  <a:srgbClr val="172B3A"/>
                </a:solidFill>
                <a:latin typeface="Arial"/>
                <a:ea typeface="Arial"/>
                <a:cs typeface="Arial"/>
              </a:rPr>
              <a:t>Stratified K-fold CV within each budget;</a:t>
            </a:r>
          </a:p>
          <a:p xmlns:a="http://schemas.openxmlformats.org/drawingml/2006/main">
            <a:pPr>
              <a:buNone/>
              <a:defRPr sz="1800" b="0">
                <a:solidFill>
                  <a:srgbClr val="172B3A"/>
                </a:solidFill>
                <a:latin typeface="Arial"/>
                <a:ea typeface="Arial"/>
                <a:cs typeface="Arial"/>
              </a:defRPr>
            </a:pPr>
            <a:r>
              <a:rPr sz="1800" b="0">
                <a:solidFill>
                  <a:srgbClr val="172B3A"/>
                </a:solidFill>
                <a:latin typeface="Arial"/>
                <a:ea typeface="Arial"/>
                <a:cs typeface="Arial"/>
              </a:rPr>
              <a:t>select hyperparameters; fit TF-IDF in folds.</a:t>
            </a:r>
          </a:p>
        </p:txBody>
      </p:sp>
      <p:sp>
        <p:nvSpPr>
          <p:cNvPr id="17" name="">
            <a:extLst xmlns:a="http://schemas.openxmlformats.org/drawingml/2006/main">
              <a:ext uri="{FF2B5EF4-FFF2-40B4-BE49-F238E27FC236}">
                <a16:creationId xmlns:a16="http://schemas.microsoft.com/office/drawing/2014/main" id="{BC524785-A39D-446F-B811-B9E5624FC50A}"/>
              </a:ext>
            </a:extLst>
          </p:cNvPr>
          <p:cNvSpPr>
            <a:spLocks xmlns:a="http://schemas.openxmlformats.org/drawingml/2006/main" noGrp="1"/>
          </p:cNvSpPr>
          <p:nvPr/>
        </p:nvSpPr>
        <p:spPr>
          <a:xfrm xmlns:a="http://schemas.openxmlformats.org/drawingml/2006/main">
            <a:off x="5772150" y="3543300"/>
            <a:ext cx="409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563A6"/>
                </a:solidFill>
                <a:latin typeface="Arial"/>
                <a:ea typeface="Arial"/>
                <a:cs typeface="Arial"/>
              </a:defRPr>
            </a:defPPr>
            <a:lvl1pPr>
              <a:buNone/>
              <a:defRPr sz="1800" b="1">
                <a:solidFill>
                  <a:srgbClr val="2563A6"/>
                </a:solidFill>
                <a:latin typeface="Arial"/>
                <a:ea typeface="Arial"/>
                <a:cs typeface="Arial"/>
              </a:defRPr>
            </a:lvl1pPr>
            <a:lvl2pPr>
              <a:buNone/>
              <a:defRPr sz="1800" b="1">
                <a:solidFill>
                  <a:srgbClr val="2563A6"/>
                </a:solidFill>
                <a:latin typeface="Arial"/>
                <a:ea typeface="Arial"/>
                <a:cs typeface="Arial"/>
              </a:defRPr>
            </a:lvl2pPr>
            <a:lvl3pPr>
              <a:buNone/>
              <a:defRPr sz="1800" b="1">
                <a:solidFill>
                  <a:srgbClr val="2563A6"/>
                </a:solidFill>
                <a:latin typeface="Arial"/>
                <a:ea typeface="Arial"/>
                <a:cs typeface="Arial"/>
              </a:defRPr>
            </a:lvl3pPr>
            <a:lvl4pPr>
              <a:buNone/>
              <a:defRPr sz="1800" b="1">
                <a:solidFill>
                  <a:srgbClr val="2563A6"/>
                </a:solidFill>
                <a:latin typeface="Arial"/>
                <a:ea typeface="Arial"/>
                <a:cs typeface="Arial"/>
              </a:defRPr>
            </a:lvl4pPr>
            <a:lvl5pPr>
              <a:buNone/>
              <a:defRPr sz="1800" b="1">
                <a:solidFill>
                  <a:srgbClr val="2563A6"/>
                </a:solidFill>
                <a:latin typeface="Arial"/>
                <a:ea typeface="Arial"/>
                <a:cs typeface="Arial"/>
              </a:defRPr>
            </a:lvl5pPr>
            <a:lvl6pPr>
              <a:buNone/>
              <a:defRPr sz="1800" b="1">
                <a:solidFill>
                  <a:srgbClr val="2563A6"/>
                </a:solidFill>
                <a:latin typeface="Arial"/>
                <a:ea typeface="Arial"/>
                <a:cs typeface="Arial"/>
              </a:defRPr>
            </a:lvl6pPr>
            <a:lvl7pPr>
              <a:buNone/>
              <a:defRPr sz="1800" b="1">
                <a:solidFill>
                  <a:srgbClr val="2563A6"/>
                </a:solidFill>
                <a:latin typeface="Arial"/>
                <a:ea typeface="Arial"/>
                <a:cs typeface="Arial"/>
              </a:defRPr>
            </a:lvl7pPr>
            <a:lvl8pPr>
              <a:buNone/>
              <a:defRPr sz="1800" b="1">
                <a:solidFill>
                  <a:srgbClr val="2563A6"/>
                </a:solidFill>
                <a:latin typeface="Arial"/>
                <a:ea typeface="Arial"/>
                <a:cs typeface="Arial"/>
              </a:defRPr>
            </a:lvl8pPr>
            <a:lvl9pPr>
              <a:buNone/>
              <a:defRPr sz="1800" b="1">
                <a:solidFill>
                  <a:srgbClr val="2563A6"/>
                </a:solidFill>
                <a:latin typeface="Arial"/>
                <a:ea typeface="Arial"/>
                <a:cs typeface="Arial"/>
              </a:defRPr>
            </a:lvl9pPr>
          </a:lstStyle>
          <a:p xmlns:a="http://schemas.openxmlformats.org/drawingml/2006/main">
            <a:pPr>
              <a:buNone/>
              <a:defRPr sz="1800" b="1">
                <a:solidFill>
                  <a:srgbClr val="2563A6"/>
                </a:solidFill>
                <a:latin typeface="Arial"/>
                <a:ea typeface="Arial"/>
                <a:cs typeface="Arial"/>
              </a:defRPr>
            </a:pPr>
            <a:r>
              <a:rPr sz="1800" b="1">
                <a:solidFill>
                  <a:srgbClr val="2563A6"/>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18FDAED9-19A6-43EA-826A-AF03F7B4FED7}"/>
              </a:ext>
            </a:extLst>
          </p:cNvPr>
          <p:cNvSpPr>
            <a:spLocks xmlns:a="http://schemas.openxmlformats.org/drawingml/2006/main" noGrp="1"/>
          </p:cNvSpPr>
          <p:nvPr/>
        </p:nvSpPr>
        <p:spPr>
          <a:xfrm xmlns:a="http://schemas.openxmlformats.org/drawingml/2006/main">
            <a:off x="6305550" y="3543300"/>
            <a:ext cx="5276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B3A"/>
                </a:solidFill>
                <a:latin typeface="Arial"/>
                <a:ea typeface="Arial"/>
                <a:cs typeface="Arial"/>
              </a:defRPr>
            </a:defPPr>
            <a:lvl1pPr>
              <a:buNone/>
              <a:defRPr sz="1800" b="0">
                <a:solidFill>
                  <a:srgbClr val="172B3A"/>
                </a:solidFill>
                <a:latin typeface="Arial"/>
                <a:ea typeface="Arial"/>
                <a:cs typeface="Arial"/>
              </a:defRPr>
            </a:lvl1pPr>
            <a:lvl2pPr>
              <a:buNone/>
              <a:defRPr sz="1800" b="0">
                <a:solidFill>
                  <a:srgbClr val="172B3A"/>
                </a:solidFill>
                <a:latin typeface="Arial"/>
                <a:ea typeface="Arial"/>
                <a:cs typeface="Arial"/>
              </a:defRPr>
            </a:lvl2pPr>
            <a:lvl3pPr>
              <a:buNone/>
              <a:defRPr sz="1800" b="0">
                <a:solidFill>
                  <a:srgbClr val="172B3A"/>
                </a:solidFill>
                <a:latin typeface="Arial"/>
                <a:ea typeface="Arial"/>
                <a:cs typeface="Arial"/>
              </a:defRPr>
            </a:lvl3pPr>
            <a:lvl4pPr>
              <a:buNone/>
              <a:defRPr sz="1800" b="0">
                <a:solidFill>
                  <a:srgbClr val="172B3A"/>
                </a:solidFill>
                <a:latin typeface="Arial"/>
                <a:ea typeface="Arial"/>
                <a:cs typeface="Arial"/>
              </a:defRPr>
            </a:lvl4pPr>
            <a:lvl5pPr>
              <a:buNone/>
              <a:defRPr sz="1800" b="0">
                <a:solidFill>
                  <a:srgbClr val="172B3A"/>
                </a:solidFill>
                <a:latin typeface="Arial"/>
                <a:ea typeface="Arial"/>
                <a:cs typeface="Arial"/>
              </a:defRPr>
            </a:lvl5pPr>
            <a:lvl6pPr>
              <a:buNone/>
              <a:defRPr sz="1800" b="0">
                <a:solidFill>
                  <a:srgbClr val="172B3A"/>
                </a:solidFill>
                <a:latin typeface="Arial"/>
                <a:ea typeface="Arial"/>
                <a:cs typeface="Arial"/>
              </a:defRPr>
            </a:lvl6pPr>
            <a:lvl7pPr>
              <a:buNone/>
              <a:defRPr sz="1800" b="0">
                <a:solidFill>
                  <a:srgbClr val="172B3A"/>
                </a:solidFill>
                <a:latin typeface="Arial"/>
                <a:ea typeface="Arial"/>
                <a:cs typeface="Arial"/>
              </a:defRPr>
            </a:lvl7pPr>
            <a:lvl8pPr>
              <a:buNone/>
              <a:defRPr sz="1800" b="0">
                <a:solidFill>
                  <a:srgbClr val="172B3A"/>
                </a:solidFill>
                <a:latin typeface="Arial"/>
                <a:ea typeface="Arial"/>
                <a:cs typeface="Arial"/>
              </a:defRPr>
            </a:lvl8pPr>
            <a:lvl9pPr>
              <a:buNone/>
              <a:defRPr sz="1800" b="0">
                <a:solidFill>
                  <a:srgbClr val="172B3A"/>
                </a:solidFill>
                <a:latin typeface="Arial"/>
                <a:ea typeface="Arial"/>
                <a:cs typeface="Arial"/>
              </a:defRPr>
            </a:lvl9pPr>
          </a:lstStyle>
          <a:p xmlns:a="http://schemas.openxmlformats.org/drawingml/2006/main">
            <a:pPr>
              <a:buNone/>
              <a:defRPr sz="1800" b="0">
                <a:solidFill>
                  <a:srgbClr val="172B3A"/>
                </a:solidFill>
                <a:latin typeface="Arial"/>
                <a:ea typeface="Arial"/>
                <a:cs typeface="Arial"/>
              </a:defRPr>
            </a:pPr>
            <a:r>
              <a:rPr sz="1800" b="0">
                <a:solidFill>
                  <a:srgbClr val="172B3A"/>
                </a:solidFill>
                <a:latin typeface="Arial"/>
                <a:ea typeface="Arial"/>
                <a:cs typeface="Arial"/>
              </a:rPr>
              <a:t>Evaluate representations more systematically.</a:t>
            </a:r>
          </a:p>
        </p:txBody>
      </p:sp>
      <p:sp>
        <p:nvSpPr>
          <p:cNvPr id="19" name="">
            <a:extLst xmlns:a="http://schemas.openxmlformats.org/drawingml/2006/main">
              <a:ext uri="{FF2B5EF4-FFF2-40B4-BE49-F238E27FC236}">
                <a16:creationId xmlns:a16="http://schemas.microsoft.com/office/drawing/2014/main" id="{2D23A9E8-B5EE-40F8-924A-D2810CE1542C}"/>
              </a:ext>
            </a:extLst>
          </p:cNvPr>
          <p:cNvSpPr>
            <a:spLocks xmlns:a="http://schemas.openxmlformats.org/drawingml/2006/main" noGrp="1"/>
          </p:cNvSpPr>
          <p:nvPr/>
        </p:nvSpPr>
        <p:spPr>
          <a:xfrm xmlns:a="http://schemas.openxmlformats.org/drawingml/2006/main">
            <a:off x="5772150" y="4048125"/>
            <a:ext cx="409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563A6"/>
                </a:solidFill>
                <a:latin typeface="Arial"/>
                <a:ea typeface="Arial"/>
                <a:cs typeface="Arial"/>
              </a:defRPr>
            </a:defPPr>
            <a:lvl1pPr>
              <a:buNone/>
              <a:defRPr sz="1800" b="1">
                <a:solidFill>
                  <a:srgbClr val="2563A6"/>
                </a:solidFill>
                <a:latin typeface="Arial"/>
                <a:ea typeface="Arial"/>
                <a:cs typeface="Arial"/>
              </a:defRPr>
            </a:lvl1pPr>
            <a:lvl2pPr>
              <a:buNone/>
              <a:defRPr sz="1800" b="1">
                <a:solidFill>
                  <a:srgbClr val="2563A6"/>
                </a:solidFill>
                <a:latin typeface="Arial"/>
                <a:ea typeface="Arial"/>
                <a:cs typeface="Arial"/>
              </a:defRPr>
            </a:lvl2pPr>
            <a:lvl3pPr>
              <a:buNone/>
              <a:defRPr sz="1800" b="1">
                <a:solidFill>
                  <a:srgbClr val="2563A6"/>
                </a:solidFill>
                <a:latin typeface="Arial"/>
                <a:ea typeface="Arial"/>
                <a:cs typeface="Arial"/>
              </a:defRPr>
            </a:lvl3pPr>
            <a:lvl4pPr>
              <a:buNone/>
              <a:defRPr sz="1800" b="1">
                <a:solidFill>
                  <a:srgbClr val="2563A6"/>
                </a:solidFill>
                <a:latin typeface="Arial"/>
                <a:ea typeface="Arial"/>
                <a:cs typeface="Arial"/>
              </a:defRPr>
            </a:lvl4pPr>
            <a:lvl5pPr>
              <a:buNone/>
              <a:defRPr sz="1800" b="1">
                <a:solidFill>
                  <a:srgbClr val="2563A6"/>
                </a:solidFill>
                <a:latin typeface="Arial"/>
                <a:ea typeface="Arial"/>
                <a:cs typeface="Arial"/>
              </a:defRPr>
            </a:lvl5pPr>
            <a:lvl6pPr>
              <a:buNone/>
              <a:defRPr sz="1800" b="1">
                <a:solidFill>
                  <a:srgbClr val="2563A6"/>
                </a:solidFill>
                <a:latin typeface="Arial"/>
                <a:ea typeface="Arial"/>
                <a:cs typeface="Arial"/>
              </a:defRPr>
            </a:lvl6pPr>
            <a:lvl7pPr>
              <a:buNone/>
              <a:defRPr sz="1800" b="1">
                <a:solidFill>
                  <a:srgbClr val="2563A6"/>
                </a:solidFill>
                <a:latin typeface="Arial"/>
                <a:ea typeface="Arial"/>
                <a:cs typeface="Arial"/>
              </a:defRPr>
            </a:lvl7pPr>
            <a:lvl8pPr>
              <a:buNone/>
              <a:defRPr sz="1800" b="1">
                <a:solidFill>
                  <a:srgbClr val="2563A6"/>
                </a:solidFill>
                <a:latin typeface="Arial"/>
                <a:ea typeface="Arial"/>
                <a:cs typeface="Arial"/>
              </a:defRPr>
            </a:lvl8pPr>
            <a:lvl9pPr>
              <a:buNone/>
              <a:defRPr sz="1800" b="1">
                <a:solidFill>
                  <a:srgbClr val="2563A6"/>
                </a:solidFill>
                <a:latin typeface="Arial"/>
                <a:ea typeface="Arial"/>
                <a:cs typeface="Arial"/>
              </a:defRPr>
            </a:lvl9pPr>
          </a:lstStyle>
          <a:p xmlns:a="http://schemas.openxmlformats.org/drawingml/2006/main">
            <a:pPr>
              <a:buNone/>
              <a:defRPr sz="1800" b="1">
                <a:solidFill>
                  <a:srgbClr val="2563A6"/>
                </a:solidFill>
                <a:latin typeface="Arial"/>
                <a:ea typeface="Arial"/>
                <a:cs typeface="Arial"/>
              </a:defRPr>
            </a:pPr>
            <a:r>
              <a:rPr sz="1800" b="1">
                <a:solidFill>
                  <a:srgbClr val="2563A6"/>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58D2F42C-5CEC-4E31-A4B5-76C0FF20599A}"/>
              </a:ext>
            </a:extLst>
          </p:cNvPr>
          <p:cNvSpPr>
            <a:spLocks xmlns:a="http://schemas.openxmlformats.org/drawingml/2006/main" noGrp="1"/>
          </p:cNvSpPr>
          <p:nvPr/>
        </p:nvSpPr>
        <p:spPr>
          <a:xfrm xmlns:a="http://schemas.openxmlformats.org/drawingml/2006/main">
            <a:off x="6305550" y="4048125"/>
            <a:ext cx="5276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B3A"/>
                </a:solidFill>
                <a:latin typeface="Arial"/>
                <a:ea typeface="Arial"/>
                <a:cs typeface="Arial"/>
              </a:defRPr>
            </a:defPPr>
            <a:lvl1pPr>
              <a:buNone/>
              <a:defRPr sz="1800" b="0">
                <a:solidFill>
                  <a:srgbClr val="172B3A"/>
                </a:solidFill>
                <a:latin typeface="Arial"/>
                <a:ea typeface="Arial"/>
                <a:cs typeface="Arial"/>
              </a:defRPr>
            </a:lvl1pPr>
            <a:lvl2pPr>
              <a:buNone/>
              <a:defRPr sz="1800" b="0">
                <a:solidFill>
                  <a:srgbClr val="172B3A"/>
                </a:solidFill>
                <a:latin typeface="Arial"/>
                <a:ea typeface="Arial"/>
                <a:cs typeface="Arial"/>
              </a:defRPr>
            </a:lvl2pPr>
            <a:lvl3pPr>
              <a:buNone/>
              <a:defRPr sz="1800" b="0">
                <a:solidFill>
                  <a:srgbClr val="172B3A"/>
                </a:solidFill>
                <a:latin typeface="Arial"/>
                <a:ea typeface="Arial"/>
                <a:cs typeface="Arial"/>
              </a:defRPr>
            </a:lvl3pPr>
            <a:lvl4pPr>
              <a:buNone/>
              <a:defRPr sz="1800" b="0">
                <a:solidFill>
                  <a:srgbClr val="172B3A"/>
                </a:solidFill>
                <a:latin typeface="Arial"/>
                <a:ea typeface="Arial"/>
                <a:cs typeface="Arial"/>
              </a:defRPr>
            </a:lvl4pPr>
            <a:lvl5pPr>
              <a:buNone/>
              <a:defRPr sz="1800" b="0">
                <a:solidFill>
                  <a:srgbClr val="172B3A"/>
                </a:solidFill>
                <a:latin typeface="Arial"/>
                <a:ea typeface="Arial"/>
                <a:cs typeface="Arial"/>
              </a:defRPr>
            </a:lvl5pPr>
            <a:lvl6pPr>
              <a:buNone/>
              <a:defRPr sz="1800" b="0">
                <a:solidFill>
                  <a:srgbClr val="172B3A"/>
                </a:solidFill>
                <a:latin typeface="Arial"/>
                <a:ea typeface="Arial"/>
                <a:cs typeface="Arial"/>
              </a:defRPr>
            </a:lvl6pPr>
            <a:lvl7pPr>
              <a:buNone/>
              <a:defRPr sz="1800" b="0">
                <a:solidFill>
                  <a:srgbClr val="172B3A"/>
                </a:solidFill>
                <a:latin typeface="Arial"/>
                <a:ea typeface="Arial"/>
                <a:cs typeface="Arial"/>
              </a:defRPr>
            </a:lvl7pPr>
            <a:lvl8pPr>
              <a:buNone/>
              <a:defRPr sz="1800" b="0">
                <a:solidFill>
                  <a:srgbClr val="172B3A"/>
                </a:solidFill>
                <a:latin typeface="Arial"/>
                <a:ea typeface="Arial"/>
                <a:cs typeface="Arial"/>
              </a:defRPr>
            </a:lvl8pPr>
            <a:lvl9pPr>
              <a:buNone/>
              <a:defRPr sz="1800" b="0">
                <a:solidFill>
                  <a:srgbClr val="172B3A"/>
                </a:solidFill>
                <a:latin typeface="Arial"/>
                <a:ea typeface="Arial"/>
                <a:cs typeface="Arial"/>
              </a:defRPr>
            </a:lvl9pPr>
          </a:lstStyle>
          <a:p xmlns:a="http://schemas.openxmlformats.org/drawingml/2006/main">
            <a:pPr>
              <a:buNone/>
              <a:defRPr sz="1800" b="0">
                <a:solidFill>
                  <a:srgbClr val="172B3A"/>
                </a:solidFill>
                <a:latin typeface="Arial"/>
                <a:ea typeface="Arial"/>
                <a:cs typeface="Arial"/>
              </a:defRPr>
            </a:pPr>
            <a:r>
              <a:rPr sz="1800" b="0">
                <a:solidFill>
                  <a:srgbClr val="172B3A"/>
                </a:solidFill>
                <a:latin typeface="Arial"/>
                <a:ea typeface="Arial"/>
                <a:cs typeface="Arial"/>
              </a:rPr>
              <a:t>Analyze errors: Business versus Sci/Tech.</a:t>
            </a:r>
          </a:p>
        </p:txBody>
      </p:sp>
      <p:sp>
        <p:nvSpPr>
          <p:cNvPr id="21" name="">
            <a:extLst xmlns:a="http://schemas.openxmlformats.org/drawingml/2006/main">
              <a:ext uri="{FF2B5EF4-FFF2-40B4-BE49-F238E27FC236}">
                <a16:creationId xmlns:a16="http://schemas.microsoft.com/office/drawing/2014/main" id="{184425FA-02CA-4DF8-B648-955CBAB51EC7}"/>
              </a:ext>
            </a:extLst>
          </p:cNvPr>
          <p:cNvSpPr>
            <a:spLocks xmlns:a="http://schemas.openxmlformats.org/drawingml/2006/main" noGrp="1"/>
          </p:cNvSpPr>
          <p:nvPr/>
        </p:nvSpPr>
        <p:spPr>
          <a:xfrm xmlns:a="http://schemas.openxmlformats.org/drawingml/2006/main">
            <a:off x="5772150" y="4552950"/>
            <a:ext cx="409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563A6"/>
                </a:solidFill>
                <a:latin typeface="Arial"/>
                <a:ea typeface="Arial"/>
                <a:cs typeface="Arial"/>
              </a:defRPr>
            </a:defPPr>
            <a:lvl1pPr>
              <a:buNone/>
              <a:defRPr sz="1800" b="1">
                <a:solidFill>
                  <a:srgbClr val="2563A6"/>
                </a:solidFill>
                <a:latin typeface="Arial"/>
                <a:ea typeface="Arial"/>
                <a:cs typeface="Arial"/>
              </a:defRPr>
            </a:lvl1pPr>
            <a:lvl2pPr>
              <a:buNone/>
              <a:defRPr sz="1800" b="1">
                <a:solidFill>
                  <a:srgbClr val="2563A6"/>
                </a:solidFill>
                <a:latin typeface="Arial"/>
                <a:ea typeface="Arial"/>
                <a:cs typeface="Arial"/>
              </a:defRPr>
            </a:lvl2pPr>
            <a:lvl3pPr>
              <a:buNone/>
              <a:defRPr sz="1800" b="1">
                <a:solidFill>
                  <a:srgbClr val="2563A6"/>
                </a:solidFill>
                <a:latin typeface="Arial"/>
                <a:ea typeface="Arial"/>
                <a:cs typeface="Arial"/>
              </a:defRPr>
            </a:lvl3pPr>
            <a:lvl4pPr>
              <a:buNone/>
              <a:defRPr sz="1800" b="1">
                <a:solidFill>
                  <a:srgbClr val="2563A6"/>
                </a:solidFill>
                <a:latin typeface="Arial"/>
                <a:ea typeface="Arial"/>
                <a:cs typeface="Arial"/>
              </a:defRPr>
            </a:lvl4pPr>
            <a:lvl5pPr>
              <a:buNone/>
              <a:defRPr sz="1800" b="1">
                <a:solidFill>
                  <a:srgbClr val="2563A6"/>
                </a:solidFill>
                <a:latin typeface="Arial"/>
                <a:ea typeface="Arial"/>
                <a:cs typeface="Arial"/>
              </a:defRPr>
            </a:lvl5pPr>
            <a:lvl6pPr>
              <a:buNone/>
              <a:defRPr sz="1800" b="1">
                <a:solidFill>
                  <a:srgbClr val="2563A6"/>
                </a:solidFill>
                <a:latin typeface="Arial"/>
                <a:ea typeface="Arial"/>
                <a:cs typeface="Arial"/>
              </a:defRPr>
            </a:lvl6pPr>
            <a:lvl7pPr>
              <a:buNone/>
              <a:defRPr sz="1800" b="1">
                <a:solidFill>
                  <a:srgbClr val="2563A6"/>
                </a:solidFill>
                <a:latin typeface="Arial"/>
                <a:ea typeface="Arial"/>
                <a:cs typeface="Arial"/>
              </a:defRPr>
            </a:lvl7pPr>
            <a:lvl8pPr>
              <a:buNone/>
              <a:defRPr sz="1800" b="1">
                <a:solidFill>
                  <a:srgbClr val="2563A6"/>
                </a:solidFill>
                <a:latin typeface="Arial"/>
                <a:ea typeface="Arial"/>
                <a:cs typeface="Arial"/>
              </a:defRPr>
            </a:lvl8pPr>
            <a:lvl9pPr>
              <a:buNone/>
              <a:defRPr sz="1800" b="1">
                <a:solidFill>
                  <a:srgbClr val="2563A6"/>
                </a:solidFill>
                <a:latin typeface="Arial"/>
                <a:ea typeface="Arial"/>
                <a:cs typeface="Arial"/>
              </a:defRPr>
            </a:lvl9pPr>
          </a:lstStyle>
          <a:p xmlns:a="http://schemas.openxmlformats.org/drawingml/2006/main">
            <a:pPr>
              <a:buNone/>
              <a:defRPr sz="1800" b="1">
                <a:solidFill>
                  <a:srgbClr val="2563A6"/>
                </a:solidFill>
                <a:latin typeface="Arial"/>
                <a:ea typeface="Arial"/>
                <a:cs typeface="Arial"/>
              </a:defRPr>
            </a:pPr>
            <a:r>
              <a:rPr sz="1800" b="1">
                <a:solidFill>
                  <a:srgbClr val="2563A6"/>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9EA699CB-05FD-4EE1-8EF2-F9F8C376B8EF}"/>
              </a:ext>
            </a:extLst>
          </p:cNvPr>
          <p:cNvSpPr>
            <a:spLocks xmlns:a="http://schemas.openxmlformats.org/drawingml/2006/main" noGrp="1"/>
          </p:cNvSpPr>
          <p:nvPr/>
        </p:nvSpPr>
        <p:spPr>
          <a:xfrm xmlns:a="http://schemas.openxmlformats.org/drawingml/2006/main">
            <a:off x="6305550" y="4552950"/>
            <a:ext cx="5276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B3A"/>
                </a:solidFill>
                <a:latin typeface="Arial"/>
                <a:ea typeface="Arial"/>
                <a:cs typeface="Arial"/>
              </a:defRPr>
            </a:defPPr>
            <a:lvl1pPr>
              <a:buNone/>
              <a:defRPr sz="1800" b="0">
                <a:solidFill>
                  <a:srgbClr val="172B3A"/>
                </a:solidFill>
                <a:latin typeface="Arial"/>
                <a:ea typeface="Arial"/>
                <a:cs typeface="Arial"/>
              </a:defRPr>
            </a:lvl1pPr>
            <a:lvl2pPr>
              <a:buNone/>
              <a:defRPr sz="1800" b="0">
                <a:solidFill>
                  <a:srgbClr val="172B3A"/>
                </a:solidFill>
                <a:latin typeface="Arial"/>
                <a:ea typeface="Arial"/>
                <a:cs typeface="Arial"/>
              </a:defRPr>
            </a:lvl2pPr>
            <a:lvl3pPr>
              <a:buNone/>
              <a:defRPr sz="1800" b="0">
                <a:solidFill>
                  <a:srgbClr val="172B3A"/>
                </a:solidFill>
                <a:latin typeface="Arial"/>
                <a:ea typeface="Arial"/>
                <a:cs typeface="Arial"/>
              </a:defRPr>
            </a:lvl3pPr>
            <a:lvl4pPr>
              <a:buNone/>
              <a:defRPr sz="1800" b="0">
                <a:solidFill>
                  <a:srgbClr val="172B3A"/>
                </a:solidFill>
                <a:latin typeface="Arial"/>
                <a:ea typeface="Arial"/>
                <a:cs typeface="Arial"/>
              </a:defRPr>
            </a:lvl4pPr>
            <a:lvl5pPr>
              <a:buNone/>
              <a:defRPr sz="1800" b="0">
                <a:solidFill>
                  <a:srgbClr val="172B3A"/>
                </a:solidFill>
                <a:latin typeface="Arial"/>
                <a:ea typeface="Arial"/>
                <a:cs typeface="Arial"/>
              </a:defRPr>
            </a:lvl5pPr>
            <a:lvl6pPr>
              <a:buNone/>
              <a:defRPr sz="1800" b="0">
                <a:solidFill>
                  <a:srgbClr val="172B3A"/>
                </a:solidFill>
                <a:latin typeface="Arial"/>
                <a:ea typeface="Arial"/>
                <a:cs typeface="Arial"/>
              </a:defRPr>
            </a:lvl6pPr>
            <a:lvl7pPr>
              <a:buNone/>
              <a:defRPr sz="1800" b="0">
                <a:solidFill>
                  <a:srgbClr val="172B3A"/>
                </a:solidFill>
                <a:latin typeface="Arial"/>
                <a:ea typeface="Arial"/>
                <a:cs typeface="Arial"/>
              </a:defRPr>
            </a:lvl7pPr>
            <a:lvl8pPr>
              <a:buNone/>
              <a:defRPr sz="1800" b="0">
                <a:solidFill>
                  <a:srgbClr val="172B3A"/>
                </a:solidFill>
                <a:latin typeface="Arial"/>
                <a:ea typeface="Arial"/>
                <a:cs typeface="Arial"/>
              </a:defRPr>
            </a:lvl8pPr>
            <a:lvl9pPr>
              <a:buNone/>
              <a:defRPr sz="1800" b="0">
                <a:solidFill>
                  <a:srgbClr val="172B3A"/>
                </a:solidFill>
                <a:latin typeface="Arial"/>
                <a:ea typeface="Arial"/>
                <a:cs typeface="Arial"/>
              </a:defRPr>
            </a:lvl9pPr>
          </a:lstStyle>
          <a:p xmlns:a="http://schemas.openxmlformats.org/drawingml/2006/main">
            <a:pPr>
              <a:buNone/>
              <a:defRPr sz="1800" b="0">
                <a:solidFill>
                  <a:srgbClr val="172B3A"/>
                </a:solidFill>
                <a:latin typeface="Arial"/>
                <a:ea typeface="Arial"/>
                <a:cs typeface="Arial"/>
              </a:defRPr>
            </a:pPr>
            <a:r>
              <a:rPr sz="1800" b="0">
                <a:solidFill>
                  <a:srgbClr val="172B3A"/>
                </a:solidFill>
                <a:latin typeface="Arial"/>
                <a:ea typeface="Arial"/>
                <a:cs typeface="Arial"/>
              </a:rPr>
              <a:t>Control extraction, cache, and training costs.</a:t>
            </a:r>
          </a:p>
        </p:txBody>
      </p:sp>
      <p:sp>
        <p:nvSpPr>
          <p:cNvPr id="23" name="">
            <a:extLst xmlns:a="http://schemas.openxmlformats.org/drawingml/2006/main">
              <a:ext uri="{FF2B5EF4-FFF2-40B4-BE49-F238E27FC236}">
                <a16:creationId xmlns:a16="http://schemas.microsoft.com/office/drawing/2014/main" id="{C10F180B-9CDC-4BF4-BD75-12CD80BD60A2}"/>
              </a:ext>
            </a:extLst>
          </p:cNvPr>
          <p:cNvSpPr>
            <a:spLocks xmlns:a="http://schemas.openxmlformats.org/drawingml/2006/main" noGrp="1"/>
          </p:cNvSpPr>
          <p:nvPr/>
        </p:nvSpPr>
        <p:spPr>
          <a:xfrm xmlns:a="http://schemas.openxmlformats.org/drawingml/2006/main">
            <a:off x="5772150" y="5057775"/>
            <a:ext cx="409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563A6"/>
                </a:solidFill>
                <a:latin typeface="Arial"/>
                <a:ea typeface="Arial"/>
                <a:cs typeface="Arial"/>
              </a:defRPr>
            </a:defPPr>
            <a:lvl1pPr>
              <a:buNone/>
              <a:defRPr sz="1800" b="1">
                <a:solidFill>
                  <a:srgbClr val="2563A6"/>
                </a:solidFill>
                <a:latin typeface="Arial"/>
                <a:ea typeface="Arial"/>
                <a:cs typeface="Arial"/>
              </a:defRPr>
            </a:lvl1pPr>
            <a:lvl2pPr>
              <a:buNone/>
              <a:defRPr sz="1800" b="1">
                <a:solidFill>
                  <a:srgbClr val="2563A6"/>
                </a:solidFill>
                <a:latin typeface="Arial"/>
                <a:ea typeface="Arial"/>
                <a:cs typeface="Arial"/>
              </a:defRPr>
            </a:lvl2pPr>
            <a:lvl3pPr>
              <a:buNone/>
              <a:defRPr sz="1800" b="1">
                <a:solidFill>
                  <a:srgbClr val="2563A6"/>
                </a:solidFill>
                <a:latin typeface="Arial"/>
                <a:ea typeface="Arial"/>
                <a:cs typeface="Arial"/>
              </a:defRPr>
            </a:lvl3pPr>
            <a:lvl4pPr>
              <a:buNone/>
              <a:defRPr sz="1800" b="1">
                <a:solidFill>
                  <a:srgbClr val="2563A6"/>
                </a:solidFill>
                <a:latin typeface="Arial"/>
                <a:ea typeface="Arial"/>
                <a:cs typeface="Arial"/>
              </a:defRPr>
            </a:lvl4pPr>
            <a:lvl5pPr>
              <a:buNone/>
              <a:defRPr sz="1800" b="1">
                <a:solidFill>
                  <a:srgbClr val="2563A6"/>
                </a:solidFill>
                <a:latin typeface="Arial"/>
                <a:ea typeface="Arial"/>
                <a:cs typeface="Arial"/>
              </a:defRPr>
            </a:lvl5pPr>
            <a:lvl6pPr>
              <a:buNone/>
              <a:defRPr sz="1800" b="1">
                <a:solidFill>
                  <a:srgbClr val="2563A6"/>
                </a:solidFill>
                <a:latin typeface="Arial"/>
                <a:ea typeface="Arial"/>
                <a:cs typeface="Arial"/>
              </a:defRPr>
            </a:lvl6pPr>
            <a:lvl7pPr>
              <a:buNone/>
              <a:defRPr sz="1800" b="1">
                <a:solidFill>
                  <a:srgbClr val="2563A6"/>
                </a:solidFill>
                <a:latin typeface="Arial"/>
                <a:ea typeface="Arial"/>
                <a:cs typeface="Arial"/>
              </a:defRPr>
            </a:lvl7pPr>
            <a:lvl8pPr>
              <a:buNone/>
              <a:defRPr sz="1800" b="1">
                <a:solidFill>
                  <a:srgbClr val="2563A6"/>
                </a:solidFill>
                <a:latin typeface="Arial"/>
                <a:ea typeface="Arial"/>
                <a:cs typeface="Arial"/>
              </a:defRPr>
            </a:lvl8pPr>
            <a:lvl9pPr>
              <a:buNone/>
              <a:defRPr sz="1800" b="1">
                <a:solidFill>
                  <a:srgbClr val="2563A6"/>
                </a:solidFill>
                <a:latin typeface="Arial"/>
                <a:ea typeface="Arial"/>
                <a:cs typeface="Arial"/>
              </a:defRPr>
            </a:lvl9pPr>
          </a:lstStyle>
          <a:p xmlns:a="http://schemas.openxmlformats.org/drawingml/2006/main">
            <a:pPr>
              <a:buNone/>
              <a:defRPr sz="1800" b="1">
                <a:solidFill>
                  <a:srgbClr val="2563A6"/>
                </a:solidFill>
                <a:latin typeface="Arial"/>
                <a:ea typeface="Arial"/>
                <a:cs typeface="Arial"/>
              </a:defRPr>
            </a:pPr>
            <a:r>
              <a:rPr sz="1800" b="1">
                <a:solidFill>
                  <a:srgbClr val="2563A6"/>
                </a:solidFill>
                <a:latin typeface="Arial"/>
                <a:ea typeface="Arial"/>
                <a:cs typeface="Arial"/>
              </a:rPr>
              <a:t>06</a:t>
            </a:r>
          </a:p>
        </p:txBody>
      </p:sp>
      <p:sp>
        <p:nvSpPr>
          <p:cNvPr id="24" name="">
            <a:extLst xmlns:a="http://schemas.openxmlformats.org/drawingml/2006/main">
              <a:ext uri="{FF2B5EF4-FFF2-40B4-BE49-F238E27FC236}">
                <a16:creationId xmlns:a16="http://schemas.microsoft.com/office/drawing/2014/main" id="{4E4B9965-7B39-4A57-BA14-DEA76A8B4CFF}"/>
              </a:ext>
            </a:extLst>
          </p:cNvPr>
          <p:cNvSpPr>
            <a:spLocks xmlns:a="http://schemas.openxmlformats.org/drawingml/2006/main" noGrp="1"/>
          </p:cNvSpPr>
          <p:nvPr/>
        </p:nvSpPr>
        <p:spPr>
          <a:xfrm xmlns:a="http://schemas.openxmlformats.org/drawingml/2006/main">
            <a:off x="6305550" y="5057775"/>
            <a:ext cx="5276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B3A"/>
                </a:solidFill>
                <a:latin typeface="Arial"/>
                <a:ea typeface="Arial"/>
                <a:cs typeface="Arial"/>
              </a:defRPr>
            </a:defPPr>
            <a:lvl1pPr>
              <a:buNone/>
              <a:defRPr sz="1800" b="0">
                <a:solidFill>
                  <a:srgbClr val="172B3A"/>
                </a:solidFill>
                <a:latin typeface="Arial"/>
                <a:ea typeface="Arial"/>
                <a:cs typeface="Arial"/>
              </a:defRPr>
            </a:lvl1pPr>
            <a:lvl2pPr>
              <a:buNone/>
              <a:defRPr sz="1800" b="0">
                <a:solidFill>
                  <a:srgbClr val="172B3A"/>
                </a:solidFill>
                <a:latin typeface="Arial"/>
                <a:ea typeface="Arial"/>
                <a:cs typeface="Arial"/>
              </a:defRPr>
            </a:lvl2pPr>
            <a:lvl3pPr>
              <a:buNone/>
              <a:defRPr sz="1800" b="0">
                <a:solidFill>
                  <a:srgbClr val="172B3A"/>
                </a:solidFill>
                <a:latin typeface="Arial"/>
                <a:ea typeface="Arial"/>
                <a:cs typeface="Arial"/>
              </a:defRPr>
            </a:lvl3pPr>
            <a:lvl4pPr>
              <a:buNone/>
              <a:defRPr sz="1800" b="0">
                <a:solidFill>
                  <a:srgbClr val="172B3A"/>
                </a:solidFill>
                <a:latin typeface="Arial"/>
                <a:ea typeface="Arial"/>
                <a:cs typeface="Arial"/>
              </a:defRPr>
            </a:lvl4pPr>
            <a:lvl5pPr>
              <a:buNone/>
              <a:defRPr sz="1800" b="0">
                <a:solidFill>
                  <a:srgbClr val="172B3A"/>
                </a:solidFill>
                <a:latin typeface="Arial"/>
                <a:ea typeface="Arial"/>
                <a:cs typeface="Arial"/>
              </a:defRPr>
            </a:lvl5pPr>
            <a:lvl6pPr>
              <a:buNone/>
              <a:defRPr sz="1800" b="0">
                <a:solidFill>
                  <a:srgbClr val="172B3A"/>
                </a:solidFill>
                <a:latin typeface="Arial"/>
                <a:ea typeface="Arial"/>
                <a:cs typeface="Arial"/>
              </a:defRPr>
            </a:lvl6pPr>
            <a:lvl7pPr>
              <a:buNone/>
              <a:defRPr sz="1800" b="0">
                <a:solidFill>
                  <a:srgbClr val="172B3A"/>
                </a:solidFill>
                <a:latin typeface="Arial"/>
                <a:ea typeface="Arial"/>
                <a:cs typeface="Arial"/>
              </a:defRPr>
            </a:lvl7pPr>
            <a:lvl8pPr>
              <a:buNone/>
              <a:defRPr sz="1800" b="0">
                <a:solidFill>
                  <a:srgbClr val="172B3A"/>
                </a:solidFill>
                <a:latin typeface="Arial"/>
                <a:ea typeface="Arial"/>
                <a:cs typeface="Arial"/>
              </a:defRPr>
            </a:lvl8pPr>
            <a:lvl9pPr>
              <a:buNone/>
              <a:defRPr sz="1800" b="0">
                <a:solidFill>
                  <a:srgbClr val="172B3A"/>
                </a:solidFill>
                <a:latin typeface="Arial"/>
                <a:ea typeface="Arial"/>
                <a:cs typeface="Arial"/>
              </a:defRPr>
            </a:lvl9pPr>
          </a:lstStyle>
          <a:p xmlns:a="http://schemas.openxmlformats.org/drawingml/2006/main">
            <a:pPr>
              <a:buNone/>
              <a:defRPr sz="1800" b="0">
                <a:solidFill>
                  <a:srgbClr val="172B3A"/>
                </a:solidFill>
                <a:latin typeface="Arial"/>
                <a:ea typeface="Arial"/>
                <a:cs typeface="Arial"/>
              </a:defRPr>
            </a:pPr>
            <a:r>
              <a:rPr sz="1800" b="0">
                <a:solidFill>
                  <a:srgbClr val="172B3A"/>
                </a:solidFill>
                <a:latin typeface="Arial"/>
                <a:ea typeface="Arial"/>
                <a:cs typeface="Arial"/>
              </a:rPr>
              <a:t>Fix protocol, then evaluate on the untouched</a:t>
            </a:r>
          </a:p>
          <a:p xmlns:a="http://schemas.openxmlformats.org/drawingml/2006/main">
            <a:pPr>
              <a:buNone/>
              <a:defRPr sz="1800" b="0">
                <a:solidFill>
                  <a:srgbClr val="172B3A"/>
                </a:solidFill>
                <a:latin typeface="Arial"/>
                <a:ea typeface="Arial"/>
                <a:cs typeface="Arial"/>
              </a:defRPr>
            </a:pPr>
            <a:r>
              <a:rPr sz="1800" b="0">
                <a:solidFill>
                  <a:srgbClr val="172B3A"/>
                </a:solidFill>
                <a:latin typeface="Arial"/>
                <a:ea typeface="Arial"/>
                <a:cs typeface="Arial"/>
              </a:rPr>
              <a:t>official test set.</a:t>
            </a:r>
          </a:p>
        </p:txBody>
      </p:sp>
    </p:spTree>
    <p:extLst>
      <p:ext uri="{BB962C8B-B14F-4D97-AF65-F5344CB8AC3E}">
        <p14:creationId xmlns:p14="http://schemas.microsoft.com/office/powerpoint/2010/main" val="18620505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2026-10-20T01:34:17.9720000Z</dcterms:created>
  <dcterms:modified xsi:type="dcterms:W3CDTF">2026-10-20T01:34:17.9720000Z</dcterms:modified>
</coreProperties>
</file>